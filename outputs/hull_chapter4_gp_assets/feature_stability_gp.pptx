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1F4D"/>
                </a:solidFill>
              </a:rPr>
              <a:t>GP: Top-10 Important Feature -- Stability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B1F4D"/>
                </a:solidFill>
              </a:rPr>
              <a:t>Hull-only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731520" cy="868680"/>
          </a:xfrm>
          <a:prstGeom prst="rect">
            <a:avLst/>
          </a:prstGeom>
          <a:solidFill>
            <a:srgbClr val="1E3C8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1. crime rolling mean 6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4.85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325880"/>
            <a:ext cx="731520" cy="868680"/>
          </a:xfrm>
          <a:prstGeom prst="rect">
            <a:avLst/>
          </a:prstGeom>
          <a:solidFill>
            <a:srgbClr val="3C569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2. crime lag 1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0.52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325880"/>
            <a:ext cx="731520" cy="868680"/>
          </a:xfrm>
          <a:prstGeom prst="rect">
            <a:avLst/>
          </a:prstGeom>
          <a:solidFill>
            <a:srgbClr val="5A1E8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3. unemployed pct age16plus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0.39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325880"/>
            <a:ext cx="731520" cy="868680"/>
          </a:xfrm>
          <a:prstGeom prst="rect">
            <a:avLst/>
          </a:prstGeom>
          <a:solidFill>
            <a:srgbClr val="5B71A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4. crime rolling mean 3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0.37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325880"/>
            <a:ext cx="731520" cy="868680"/>
          </a:xfrm>
          <a:prstGeom prst="rect">
            <a:avLst/>
          </a:prstGeom>
          <a:solidFill>
            <a:srgbClr val="C81E5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5. transit stop count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0.37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731520" cy="868680"/>
          </a:xfrm>
          <a:prstGeom prst="rect">
            <a:avLst/>
          </a:prstGeom>
          <a:solidFill>
            <a:srgbClr val="7A8CB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6. crime lag 2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0.31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2286000"/>
            <a:ext cx="731520" cy="868680"/>
          </a:xfrm>
          <a:prstGeom prst="rect">
            <a:avLst/>
          </a:prstGeom>
          <a:solidFill>
            <a:srgbClr val="B499C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7. long term sick disabled pct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0.27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2286000"/>
            <a:ext cx="731520" cy="868680"/>
          </a:xfrm>
          <a:prstGeom prst="rect">
            <a:avLst/>
          </a:prstGeom>
          <a:solidFill>
            <a:srgbClr val="99A7C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8. crime lag 3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0.23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286000"/>
            <a:ext cx="731520" cy="868680"/>
          </a:xfrm>
          <a:prstGeom prst="rect">
            <a:avLst/>
          </a:prstGeom>
          <a:solidFill>
            <a:srgbClr val="3C824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9. no qualifications pct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0.17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286000"/>
            <a:ext cx="731520" cy="868680"/>
          </a:xfrm>
          <a:prstGeom prst="rect">
            <a:avLst/>
          </a:prstGeom>
          <a:solidFill>
            <a:srgbClr val="A7C6A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10. older adult 65 plus pct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0.14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82296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B1F4D"/>
                </a:solidFill>
              </a:rPr>
              <a:t>West addition · E01013112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325880"/>
            <a:ext cx="731520" cy="868680"/>
          </a:xfrm>
          <a:prstGeom prst="rect">
            <a:avLst/>
          </a:prstGeom>
          <a:solidFill>
            <a:srgbClr val="1E3C8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1. crime rolling mean 6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4.85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1325880"/>
            <a:ext cx="731520" cy="868680"/>
          </a:xfrm>
          <a:prstGeom prst="rect">
            <a:avLst/>
          </a:prstGeom>
          <a:solidFill>
            <a:srgbClr val="3C569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2. crime lag 1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0.52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325880"/>
            <a:ext cx="731520" cy="868680"/>
          </a:xfrm>
          <a:prstGeom prst="rect">
            <a:avLst/>
          </a:prstGeom>
          <a:solidFill>
            <a:srgbClr val="5A1E8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3. unemployed pct age16plus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0.39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1325880"/>
            <a:ext cx="731520" cy="868680"/>
          </a:xfrm>
          <a:prstGeom prst="rect">
            <a:avLst/>
          </a:prstGeom>
          <a:solidFill>
            <a:srgbClr val="5B71A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4. crime rolling mean 3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0.37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325880"/>
            <a:ext cx="731520" cy="868680"/>
          </a:xfrm>
          <a:prstGeom prst="rect">
            <a:avLst/>
          </a:prstGeom>
          <a:solidFill>
            <a:srgbClr val="C81E5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5. transit stop count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0.36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2286000"/>
            <a:ext cx="731520" cy="868680"/>
          </a:xfrm>
          <a:prstGeom prst="rect">
            <a:avLst/>
          </a:prstGeom>
          <a:solidFill>
            <a:srgbClr val="7A8CB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6. crime lag 2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0.31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286000"/>
            <a:ext cx="731520" cy="868680"/>
          </a:xfrm>
          <a:prstGeom prst="rect">
            <a:avLst/>
          </a:prstGeom>
          <a:solidFill>
            <a:srgbClr val="B499C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7. long term sick disabled pct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0.27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286000"/>
            <a:ext cx="731520" cy="868680"/>
          </a:xfrm>
          <a:prstGeom prst="rect">
            <a:avLst/>
          </a:prstGeom>
          <a:solidFill>
            <a:srgbClr val="99A7C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8. crime lag 3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0.23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286000"/>
            <a:ext cx="731520" cy="868680"/>
          </a:xfrm>
          <a:prstGeom prst="rect">
            <a:avLst/>
          </a:prstGeom>
          <a:solidFill>
            <a:srgbClr val="3C824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9. no qualifications pct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0.17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2286000"/>
            <a:ext cx="731520" cy="868680"/>
          </a:xfrm>
          <a:prstGeom prst="rect">
            <a:avLst/>
          </a:prstGeom>
          <a:solidFill>
            <a:srgbClr val="A7C6A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10. older adult 65 plus pct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0.15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20440"/>
            <a:ext cx="8412480" cy="822960"/>
          </a:xfrm>
          <a:prstGeom prst="rect">
            <a:avLst/>
          </a:prstGeom>
          <a:noFill/>
          <a:ln w="12700">
            <a:solidFill>
              <a:srgbClr val="0B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56616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F4D"/>
                </a:solidFill>
              </a:rPr>
              <a:t>Crime / temporal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6" y="3886200"/>
            <a:ext cx="340705" cy="274320"/>
          </a:xfrm>
          <a:prstGeom prst="rect">
            <a:avLst/>
          </a:prstGeom>
          <a:solidFill>
            <a:srgbClr val="1E3C8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9477" y="3886200"/>
            <a:ext cx="340705" cy="274320"/>
          </a:xfrm>
          <a:prstGeom prst="rect">
            <a:avLst/>
          </a:prstGeom>
          <a:solidFill>
            <a:srgbClr val="3C569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28039" y="3886200"/>
            <a:ext cx="340705" cy="274320"/>
          </a:xfrm>
          <a:prstGeom prst="rect">
            <a:avLst/>
          </a:prstGeom>
          <a:solidFill>
            <a:srgbClr val="5B71A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06600" y="3886200"/>
            <a:ext cx="340705" cy="274320"/>
          </a:xfrm>
          <a:prstGeom prst="rect">
            <a:avLst/>
          </a:prstGeom>
          <a:solidFill>
            <a:srgbClr val="7A8CB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85162" y="3886200"/>
            <a:ext cx="340705" cy="274320"/>
          </a:xfrm>
          <a:prstGeom prst="rect">
            <a:avLst/>
          </a:prstGeom>
          <a:solidFill>
            <a:srgbClr val="99A7C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68879" y="356616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F4D"/>
                </a:solidFill>
              </a:rPr>
              <a:t>Economic / labour &amp; tenure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74035" y="3886200"/>
            <a:ext cx="340705" cy="274320"/>
          </a:xfrm>
          <a:prstGeom prst="rect">
            <a:avLst/>
          </a:prstGeom>
          <a:solidFill>
            <a:srgbClr val="5A1E8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52597" y="3886200"/>
            <a:ext cx="340705" cy="274320"/>
          </a:xfrm>
          <a:prstGeom prst="rect">
            <a:avLst/>
          </a:prstGeom>
          <a:solidFill>
            <a:srgbClr val="703C9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31159" y="3886200"/>
            <a:ext cx="340705" cy="274320"/>
          </a:xfrm>
          <a:prstGeom prst="rect">
            <a:avLst/>
          </a:prstGeom>
          <a:solidFill>
            <a:srgbClr val="875BA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09720" y="3886200"/>
            <a:ext cx="340705" cy="274320"/>
          </a:xfrm>
          <a:prstGeom prst="rect">
            <a:avLst/>
          </a:prstGeom>
          <a:solidFill>
            <a:srgbClr val="9E7AB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88282" y="3886200"/>
            <a:ext cx="340705" cy="274320"/>
          </a:xfrm>
          <a:prstGeom prst="rect">
            <a:avLst/>
          </a:prstGeom>
          <a:solidFill>
            <a:srgbClr val="B499C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56616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F4D"/>
                </a:solidFill>
              </a:rPr>
              <a:t>Social / demographic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77156" y="3886200"/>
            <a:ext cx="340705" cy="274320"/>
          </a:xfrm>
          <a:prstGeom prst="rect">
            <a:avLst/>
          </a:prstGeom>
          <a:solidFill>
            <a:srgbClr val="3C824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55717" y="3886200"/>
            <a:ext cx="340705" cy="274320"/>
          </a:xfrm>
          <a:prstGeom prst="rect">
            <a:avLst/>
          </a:prstGeom>
          <a:solidFill>
            <a:srgbClr val="5693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34279" y="3886200"/>
            <a:ext cx="340705" cy="274320"/>
          </a:xfrm>
          <a:prstGeom prst="rect">
            <a:avLst/>
          </a:prstGeom>
          <a:solidFill>
            <a:srgbClr val="71A47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12840" y="3886200"/>
            <a:ext cx="340705" cy="274320"/>
          </a:xfrm>
          <a:prstGeom prst="rect">
            <a:avLst/>
          </a:prstGeom>
          <a:solidFill>
            <a:srgbClr val="8CB59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1402" y="3886200"/>
            <a:ext cx="340705" cy="274320"/>
          </a:xfrm>
          <a:prstGeom prst="rect">
            <a:avLst/>
          </a:prstGeom>
          <a:solidFill>
            <a:srgbClr val="A7C6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356616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F4D"/>
                </a:solidFill>
              </a:rPr>
              <a:t>Transport / accessibility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80276" y="3886200"/>
            <a:ext cx="340705" cy="274320"/>
          </a:xfrm>
          <a:prstGeom prst="rect">
            <a:avLst/>
          </a:prstGeom>
          <a:solidFill>
            <a:srgbClr val="C81E5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58837" y="3886200"/>
            <a:ext cx="340705" cy="274320"/>
          </a:xfrm>
          <a:prstGeom prst="rect">
            <a:avLst/>
          </a:prstGeom>
          <a:solidFill>
            <a:srgbClr val="CF3C7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537399" y="3886200"/>
            <a:ext cx="340705" cy="274320"/>
          </a:xfrm>
          <a:prstGeom prst="rect">
            <a:avLst/>
          </a:prstGeom>
          <a:solidFill>
            <a:srgbClr val="D75B8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915960" y="3886200"/>
            <a:ext cx="340705" cy="274320"/>
          </a:xfrm>
          <a:prstGeom prst="rect">
            <a:avLst/>
          </a:prstGeom>
          <a:solidFill>
            <a:srgbClr val="DE7A9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94522" y="3886200"/>
            <a:ext cx="340705" cy="274320"/>
          </a:xfrm>
          <a:prstGeom prst="rect">
            <a:avLst/>
          </a:prstGeom>
          <a:solidFill>
            <a:srgbClr val="E699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44805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1F4D"/>
                </a:solidFill>
              </a:rPr>
              <a:t>GeoSMILE Feature branch, N=1,024 masks, seed=42 (30-feature version). Boxes show |SMILE coefficient|; colour = thesis feature category, shade darkens with rank within its own category. The West addition (closest extra LSOA to the reference, E01013112) leaves the top-10 SET AND ORDER completely unchanged (Jaccard = 1.000; |coef| Spearman = 0.998) -- only the fourth-decimal coefficient values shift slightly. Not causal.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