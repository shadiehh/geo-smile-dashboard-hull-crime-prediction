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CatBoost: Feature top-10, Hull-only baseline vs. west addition (E01013112)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5394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Hull-only baseline</a:t>
            </a:r>
          </a:p>
        </p:txBody>
      </p:sp>
      <p:sp>
        <p:nvSpPr>
          <p:cNvPr id="4" name="baseline_rank1_crime_rolling_mean_6"/>
          <p:cNvSpPr/>
          <p:nvPr/>
        </p:nvSpPr>
        <p:spPr>
          <a:xfrm>
            <a:off x="2331323" y="2692511"/>
            <a:ext cx="1463833" cy="1463833"/>
          </a:xfrm>
          <a:prstGeom prst="rect">
            <a:avLst/>
          </a:prstGeom>
          <a:solidFill>
            <a:srgbClr val="9B0814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1. Crime roll mean 6</a:t>
            </a:r>
          </a:p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2.90</a:t>
            </a:r>
          </a:p>
        </p:txBody>
      </p:sp>
      <p:sp>
        <p:nvSpPr>
          <p:cNvPr id="5" name="baseline_rank2_crime_rolling_mean_3"/>
          <p:cNvSpPr/>
          <p:nvPr/>
        </p:nvSpPr>
        <p:spPr>
          <a:xfrm>
            <a:off x="3795156" y="2886291"/>
            <a:ext cx="1067663" cy="1067663"/>
          </a:xfrm>
          <a:prstGeom prst="rect">
            <a:avLst/>
          </a:prstGeom>
          <a:solidFill>
            <a:srgbClr val="D6414D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2. Crime roll mean 3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1.27</a:t>
            </a:r>
          </a:p>
        </p:txBody>
      </p:sp>
      <p:sp>
        <p:nvSpPr>
          <p:cNvPr id="6" name="baseline_rank3_crime_lag_1"/>
          <p:cNvSpPr/>
          <p:nvPr/>
        </p:nvSpPr>
        <p:spPr>
          <a:xfrm>
            <a:off x="3795156" y="1901202"/>
            <a:ext cx="959322" cy="959322"/>
          </a:xfrm>
          <a:prstGeom prst="rect">
            <a:avLst/>
          </a:prstGeom>
          <a:solidFill>
            <a:srgbClr val="D55963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3. Crime lag 1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0.94</a:t>
            </a:r>
          </a:p>
        </p:txBody>
      </p:sp>
      <p:sp>
        <p:nvSpPr>
          <p:cNvPr id="7" name="baseline_rank4_crime_lag_3"/>
          <p:cNvSpPr/>
          <p:nvPr/>
        </p:nvSpPr>
        <p:spPr>
          <a:xfrm>
            <a:off x="2796303" y="1777578"/>
            <a:ext cx="885074" cy="885074"/>
          </a:xfrm>
          <a:prstGeom prst="rect">
            <a:avLst/>
          </a:prstGeom>
          <a:solidFill>
            <a:srgbClr val="D5677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4. Crime lag 3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0.74</a:t>
            </a:r>
          </a:p>
        </p:txBody>
      </p:sp>
      <p:sp>
        <p:nvSpPr>
          <p:cNvPr id="8" name="baseline_rank5_crime_lag_2"/>
          <p:cNvSpPr/>
          <p:nvPr/>
        </p:nvSpPr>
        <p:spPr>
          <a:xfrm>
            <a:off x="1994933" y="1862346"/>
            <a:ext cx="801370" cy="801370"/>
          </a:xfrm>
          <a:prstGeom prst="rect">
            <a:avLst/>
          </a:prstGeom>
          <a:solidFill>
            <a:srgbClr val="D5757D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5. Crime lag 2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0.55</a:t>
            </a:r>
          </a:p>
        </p:txBody>
      </p:sp>
      <p:sp>
        <p:nvSpPr>
          <p:cNvPr id="9" name="baseline_rank6_unemployed_pct_age16plus"/>
          <p:cNvSpPr/>
          <p:nvPr/>
        </p:nvSpPr>
        <p:spPr>
          <a:xfrm>
            <a:off x="1490069" y="2725766"/>
            <a:ext cx="733216" cy="733216"/>
          </a:xfrm>
          <a:prstGeom prst="rect">
            <a:avLst/>
          </a:prstGeom>
          <a:solidFill>
            <a:srgbClr val="9B4D08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6. Unemployment %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0.41</a:t>
            </a:r>
          </a:p>
        </p:txBody>
      </p:sp>
      <p:sp>
        <p:nvSpPr>
          <p:cNvPr id="10" name="baseline_rank7_long_term_sick_disabled_pct"/>
          <p:cNvSpPr/>
          <p:nvPr/>
        </p:nvSpPr>
        <p:spPr>
          <a:xfrm>
            <a:off x="1582251" y="3476407"/>
            <a:ext cx="637503" cy="637503"/>
          </a:xfrm>
          <a:prstGeom prst="rect">
            <a:avLst/>
          </a:prstGeom>
          <a:solidFill>
            <a:srgbClr val="D37523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7. Long-term sick %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0.25</a:t>
            </a:r>
          </a:p>
        </p:txBody>
      </p:sp>
      <p:sp>
        <p:nvSpPr>
          <p:cNvPr id="11" name="baseline_rank8_owner_occupied_pct"/>
          <p:cNvSpPr/>
          <p:nvPr/>
        </p:nvSpPr>
        <p:spPr>
          <a:xfrm>
            <a:off x="2383836" y="4193061"/>
            <a:ext cx="617763" cy="617763"/>
          </a:xfrm>
          <a:prstGeom prst="rect">
            <a:avLst/>
          </a:prstGeom>
          <a:solidFill>
            <a:srgbClr val="D87D2D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8. Owner occupied %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0.22</a:t>
            </a:r>
          </a:p>
        </p:txBody>
      </p:sp>
      <p:sp>
        <p:nvSpPr>
          <p:cNvPr id="12" name="baseline_rank9_social_rented_pct"/>
          <p:cNvSpPr/>
          <p:nvPr/>
        </p:nvSpPr>
        <p:spPr>
          <a:xfrm>
            <a:off x="3001599" y="4192930"/>
            <a:ext cx="557289" cy="557289"/>
          </a:xfrm>
          <a:prstGeom prst="rect">
            <a:avLst/>
          </a:prstGeom>
          <a:solidFill>
            <a:srgbClr val="D59258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12171C"/>
                </a:solidFill>
                <a:latin typeface="Calibri"/>
              </a:rPr>
              <a:t>9. Social rented…</a:t>
            </a:r>
          </a:p>
          <a:p>
            <a:pPr algn="ctr"/>
            <a:r>
              <a:rPr sz="1000" b="1">
                <a:solidFill>
                  <a:srgbClr val="12171C"/>
                </a:solidFill>
                <a:latin typeface="Calibri"/>
              </a:rPr>
              <a:t>0.15</a:t>
            </a:r>
          </a:p>
        </p:txBody>
      </p:sp>
      <p:sp>
        <p:nvSpPr>
          <p:cNvPr id="13" name="baseline_rank10_no_qualifications_pct"/>
          <p:cNvSpPr/>
          <p:nvPr/>
        </p:nvSpPr>
        <p:spPr>
          <a:xfrm>
            <a:off x="3795156" y="3974251"/>
            <a:ext cx="528960" cy="528960"/>
          </a:xfrm>
          <a:prstGeom prst="rect">
            <a:avLst/>
          </a:prstGeom>
          <a:solidFill>
            <a:srgbClr val="08529C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10. No qualificat…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0.12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365760"/>
            <a:ext cx="5394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West addition</a:t>
            </a:r>
          </a:p>
        </p:txBody>
      </p:sp>
      <p:sp>
        <p:nvSpPr>
          <p:cNvPr id="15" name="west_rank1_crime_rolling_mean_6"/>
          <p:cNvSpPr/>
          <p:nvPr/>
        </p:nvSpPr>
        <p:spPr>
          <a:xfrm>
            <a:off x="8042749" y="2734657"/>
            <a:ext cx="1379541" cy="1379541"/>
          </a:xfrm>
          <a:prstGeom prst="rect">
            <a:avLst/>
          </a:prstGeom>
          <a:solidFill>
            <a:srgbClr val="9B0814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1. Crime roll mean 6</a:t>
            </a:r>
          </a:p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2.90</a:t>
            </a:r>
          </a:p>
        </p:txBody>
      </p:sp>
      <p:sp>
        <p:nvSpPr>
          <p:cNvPr id="16" name="west_rank2_crime_rolling_mean_3"/>
          <p:cNvSpPr/>
          <p:nvPr/>
        </p:nvSpPr>
        <p:spPr>
          <a:xfrm>
            <a:off x="9422290" y="2918699"/>
            <a:ext cx="1006378" cy="1006378"/>
          </a:xfrm>
          <a:prstGeom prst="rect">
            <a:avLst/>
          </a:prstGeom>
          <a:solidFill>
            <a:srgbClr val="D6404D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2. Crime roll mean 3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1.27</a:t>
            </a:r>
          </a:p>
        </p:txBody>
      </p:sp>
      <p:sp>
        <p:nvSpPr>
          <p:cNvPr id="17" name="west_rank3_crime_lag_1"/>
          <p:cNvSpPr/>
          <p:nvPr/>
        </p:nvSpPr>
        <p:spPr>
          <a:xfrm>
            <a:off x="9461808" y="1991042"/>
            <a:ext cx="903380" cy="903380"/>
          </a:xfrm>
          <a:prstGeom prst="rect">
            <a:avLst/>
          </a:prstGeom>
          <a:solidFill>
            <a:srgbClr val="D55964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3. Crime lag 1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0.94</a:t>
            </a:r>
          </a:p>
        </p:txBody>
      </p:sp>
      <p:sp>
        <p:nvSpPr>
          <p:cNvPr id="18" name="west_rank4_crime_lag_3"/>
          <p:cNvSpPr/>
          <p:nvPr/>
        </p:nvSpPr>
        <p:spPr>
          <a:xfrm>
            <a:off x="8628789" y="1873512"/>
            <a:ext cx="833019" cy="833019"/>
          </a:xfrm>
          <a:prstGeom prst="rect">
            <a:avLst/>
          </a:prstGeom>
          <a:solidFill>
            <a:srgbClr val="D5677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4. Crime lag 3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0.74</a:t>
            </a:r>
          </a:p>
        </p:txBody>
      </p:sp>
      <p:sp>
        <p:nvSpPr>
          <p:cNvPr id="19" name="west_rank5_crime_lag_2"/>
          <p:cNvSpPr/>
          <p:nvPr/>
        </p:nvSpPr>
        <p:spPr>
          <a:xfrm>
            <a:off x="7874350" y="1953091"/>
            <a:ext cx="754438" cy="754438"/>
          </a:xfrm>
          <a:prstGeom prst="rect">
            <a:avLst/>
          </a:prstGeom>
          <a:solidFill>
            <a:srgbClr val="D5757D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5. Crime lag 2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0.55</a:t>
            </a:r>
          </a:p>
        </p:txBody>
      </p:sp>
      <p:sp>
        <p:nvSpPr>
          <p:cNvPr id="20" name="west_rank6_unemployed_pct_age16plus"/>
          <p:cNvSpPr/>
          <p:nvPr/>
        </p:nvSpPr>
        <p:spPr>
          <a:xfrm>
            <a:off x="7184173" y="2578792"/>
            <a:ext cx="690176" cy="690176"/>
          </a:xfrm>
          <a:prstGeom prst="rect">
            <a:avLst/>
          </a:prstGeom>
          <a:solidFill>
            <a:srgbClr val="9B4D08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6. Unemployment %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0.41</a:t>
            </a:r>
          </a:p>
        </p:txBody>
      </p:sp>
      <p:sp>
        <p:nvSpPr>
          <p:cNvPr id="21" name="west_rank7_long_term_sick_disabled_pct"/>
          <p:cNvSpPr/>
          <p:nvPr/>
        </p:nvSpPr>
        <p:spPr>
          <a:xfrm>
            <a:off x="7363593" y="3582132"/>
            <a:ext cx="601585" cy="601585"/>
          </a:xfrm>
          <a:prstGeom prst="rect">
            <a:avLst/>
          </a:prstGeom>
          <a:solidFill>
            <a:srgbClr val="D37523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7. Long-term sick %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0.25</a:t>
            </a:r>
          </a:p>
        </p:txBody>
      </p:sp>
      <p:sp>
        <p:nvSpPr>
          <p:cNvPr id="22" name="west_rank8_owner_occupied_pct"/>
          <p:cNvSpPr/>
          <p:nvPr/>
        </p:nvSpPr>
        <p:spPr>
          <a:xfrm>
            <a:off x="8101608" y="4155320"/>
            <a:ext cx="582449" cy="582449"/>
          </a:xfrm>
          <a:prstGeom prst="rect">
            <a:avLst/>
          </a:prstGeom>
          <a:solidFill>
            <a:srgbClr val="D87D2D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8. Owner occupie…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0.22</a:t>
            </a:r>
          </a:p>
        </p:txBody>
      </p:sp>
      <p:sp>
        <p:nvSpPr>
          <p:cNvPr id="23" name="west_rank9_social_rented_pct"/>
          <p:cNvSpPr/>
          <p:nvPr/>
        </p:nvSpPr>
        <p:spPr>
          <a:xfrm>
            <a:off x="8800981" y="4153600"/>
            <a:ext cx="526405" cy="526405"/>
          </a:xfrm>
          <a:prstGeom prst="rect">
            <a:avLst/>
          </a:prstGeom>
          <a:solidFill>
            <a:srgbClr val="D59257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12171C"/>
                </a:solidFill>
                <a:latin typeface="Calibri"/>
              </a:rPr>
              <a:t>9. Social rented…</a:t>
            </a:r>
          </a:p>
          <a:p>
            <a:pPr algn="ctr"/>
            <a:r>
              <a:rPr sz="1000" b="1">
                <a:solidFill>
                  <a:srgbClr val="12171C"/>
                </a:solidFill>
                <a:latin typeface="Calibri"/>
              </a:rPr>
              <a:t>0.15</a:t>
            </a:r>
          </a:p>
        </p:txBody>
      </p:sp>
      <p:sp>
        <p:nvSpPr>
          <p:cNvPr id="24" name="west_rank10_no_qualifications_pct"/>
          <p:cNvSpPr/>
          <p:nvPr/>
        </p:nvSpPr>
        <p:spPr>
          <a:xfrm>
            <a:off x="9422290" y="3944210"/>
            <a:ext cx="498671" cy="498671"/>
          </a:xfrm>
          <a:prstGeom prst="rect">
            <a:avLst/>
          </a:prstGeom>
          <a:solidFill>
            <a:srgbClr val="08529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10. No qualificat…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0.12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B0B8C0"/>
                </a:solidFill>
                <a:latin typeface="Calibri"/>
              </a:rPr>
              <a:t>Each rectangle is an editable PowerPoint shape. Size = |SMILE coefficient|, shared scale across both panels. Number is rank; value underneath is the coefficient. Top-10 set and order are identical between panels (Jaccard = 1.000) -- one real LSOA added to the west of the SMILE reference does not change CatBoost's Feature ranking. Not causal.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