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63" r:id="rId11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16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D69B"/>
    <a:srgbClr val="FAC090"/>
    <a:srgbClr val="89A8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2602" y="106"/>
      </p:cViewPr>
      <p:guideLst>
        <p:guide orient="horz" pos="3120"/>
        <p:guide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4" y="3077281"/>
            <a:ext cx="4371975" cy="21233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525" y="5613400"/>
            <a:ext cx="360045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302" y="6365524"/>
            <a:ext cx="4371975" cy="1967442"/>
          </a:xfrm>
        </p:spPr>
        <p:txBody>
          <a:bodyPr anchor="t"/>
          <a:lstStyle>
            <a:lvl1pPr algn="l">
              <a:defRPr sz="711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6302" y="4198587"/>
            <a:ext cx="4371975" cy="2166937"/>
          </a:xfrm>
        </p:spPr>
        <p:txBody>
          <a:bodyPr anchor="b"/>
          <a:lstStyle>
            <a:lvl1pPr marL="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176" y="2311401"/>
            <a:ext cx="2271713" cy="6537502"/>
          </a:xfrm>
        </p:spPr>
        <p:txBody>
          <a:bodyPr/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14613" y="2311401"/>
            <a:ext cx="2271713" cy="6537502"/>
          </a:xfrm>
        </p:spPr>
        <p:txBody>
          <a:bodyPr/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175" y="2217386"/>
            <a:ext cx="2272606" cy="924101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7175" y="3141486"/>
            <a:ext cx="2272606" cy="5707416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12827" y="2217386"/>
            <a:ext cx="2273498" cy="924101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12827" y="3141486"/>
            <a:ext cx="2273498" cy="5707416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394406"/>
            <a:ext cx="1692176" cy="1678517"/>
          </a:xfrm>
        </p:spPr>
        <p:txBody>
          <a:bodyPr anchor="b"/>
          <a:lstStyle>
            <a:lvl1pPr algn="l">
              <a:defRPr sz="355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0967" y="394406"/>
            <a:ext cx="2875359" cy="8454496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7175" y="2072923"/>
            <a:ext cx="1692176" cy="6775980"/>
          </a:xfrm>
        </p:spPr>
        <p:txBody>
          <a:bodyPr/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162" y="6934200"/>
            <a:ext cx="3086100" cy="818621"/>
          </a:xfrm>
        </p:spPr>
        <p:txBody>
          <a:bodyPr anchor="b"/>
          <a:lstStyle>
            <a:lvl1pPr algn="l">
              <a:defRPr sz="355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8162" y="885120"/>
            <a:ext cx="3086100" cy="5943600"/>
          </a:xfrm>
        </p:spPr>
        <p:txBody>
          <a:bodyPr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162" y="7752821"/>
            <a:ext cx="3086100" cy="1162579"/>
          </a:xfrm>
        </p:spPr>
        <p:txBody>
          <a:bodyPr/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396700"/>
            <a:ext cx="1157288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396700"/>
            <a:ext cx="3386138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7175" y="396699"/>
            <a:ext cx="462915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175" y="2311401"/>
            <a:ext cx="462915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7175" y="9181396"/>
            <a:ext cx="12001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7364" y="9181396"/>
            <a:ext cx="16287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86175" y="9181396"/>
            <a:ext cx="12001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12810" rtl="0" eaLnBrk="1" latinLnBrk="0" hangingPunct="1"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812810" rtl="0" eaLnBrk="1" latinLnBrk="0" hangingPunct="1">
        <a:spcBef>
          <a:spcPct val="20000"/>
        </a:spcBef>
        <a:buFont typeface="Arial"/>
        <a:buChar char="•"/>
        <a:defRPr sz="5689" kern="1200">
          <a:solidFill>
            <a:schemeClr val="tx1"/>
          </a:solidFill>
          <a:latin typeface="+mn-lt"/>
          <a:ea typeface="+mn-ea"/>
          <a:cs typeface="+mn-cs"/>
        </a:defRPr>
      </a:lvl1pPr>
      <a:lvl2pPr marL="1320817" indent="-508006" algn="l" defTabSz="812810" rtl="0" eaLnBrk="1" latinLnBrk="0" hangingPunct="1">
        <a:spcBef>
          <a:spcPct val="20000"/>
        </a:spcBef>
        <a:buFont typeface="Arial"/>
        <a:buChar char="–"/>
        <a:defRPr sz="4978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812810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812810" rtl="0" eaLnBrk="1" latinLnBrk="0" hangingPunct="1">
        <a:spcBef>
          <a:spcPct val="20000"/>
        </a:spcBef>
        <a:buFont typeface="Arial"/>
        <a:buChar char="–"/>
        <a:defRPr sz="3556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812810" rtl="0" eaLnBrk="1" latinLnBrk="0" hangingPunct="1">
        <a:spcBef>
          <a:spcPct val="20000"/>
        </a:spcBef>
        <a:buFont typeface="Arial"/>
        <a:buChar char="»"/>
        <a:defRPr sz="3556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81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81281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81281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81281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81281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81281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81281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81281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81281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920653" y="-899160"/>
            <a:ext cx="20645120" cy="650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Feature attribution stability — schematic |coef| clusters (top-10)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7001932" y="-281432"/>
            <a:ext cx="3314327" cy="455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89" b="1">
                <a:solidFill>
                  <a:srgbClr val="FFFFFF"/>
                </a:solidFill>
                <a:latin typeface="Calibri"/>
              </a:rPr>
              <a:t>Rep 1</a:t>
            </a:r>
          </a:p>
        </p:txBody>
      </p:sp>
      <p:sp>
        <p:nvSpPr>
          <p:cNvPr id="4" name="overview_r1_neutral_older_adult_65_plus_pct"/>
          <p:cNvSpPr/>
          <p:nvPr/>
        </p:nvSpPr>
        <p:spPr>
          <a:xfrm>
            <a:off x="-4093247" y="6004639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overview_r1_neutral_transit_stop_count"/>
          <p:cNvSpPr/>
          <p:nvPr/>
        </p:nvSpPr>
        <p:spPr>
          <a:xfrm>
            <a:off x="-4890372" y="4840276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overview_r1_neutral_green_space_pct"/>
          <p:cNvSpPr/>
          <p:nvPr/>
        </p:nvSpPr>
        <p:spPr>
          <a:xfrm>
            <a:off x="-5310139" y="4792292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overview_r1_neutral_month_cos"/>
          <p:cNvSpPr/>
          <p:nvPr/>
        </p:nvSpPr>
        <p:spPr>
          <a:xfrm>
            <a:off x="-4475732" y="6284754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overview_r1_neutral_economically_inactive_pct"/>
          <p:cNvSpPr/>
          <p:nvPr/>
        </p:nvSpPr>
        <p:spPr>
          <a:xfrm>
            <a:off x="-5093368" y="2848681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overview_r1_neutral_transit_stop_per_km2"/>
          <p:cNvSpPr/>
          <p:nvPr/>
        </p:nvSpPr>
        <p:spPr>
          <a:xfrm>
            <a:off x="-5583451" y="7945787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overview_r1_neutral_retail_per_km2"/>
          <p:cNvSpPr/>
          <p:nvPr/>
        </p:nvSpPr>
        <p:spPr>
          <a:xfrm>
            <a:off x="-4740863" y="3548073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overview_r1_neutral_no_qualifications_pct"/>
          <p:cNvSpPr/>
          <p:nvPr/>
        </p:nvSpPr>
        <p:spPr>
          <a:xfrm>
            <a:off x="-5489581" y="4865143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overview_r1_neutral_crime_lag_3"/>
          <p:cNvSpPr/>
          <p:nvPr/>
        </p:nvSpPr>
        <p:spPr>
          <a:xfrm>
            <a:off x="-6523683" y="5302006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overview_r1_neutral_month_sin"/>
          <p:cNvSpPr/>
          <p:nvPr/>
        </p:nvSpPr>
        <p:spPr>
          <a:xfrm>
            <a:off x="-5239251" y="4611581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overview_r1_neutral_nightlife_count"/>
          <p:cNvSpPr/>
          <p:nvPr/>
        </p:nvSpPr>
        <p:spPr>
          <a:xfrm>
            <a:off x="-4574747" y="3396173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overview_r1_neutral_intersection_per_km2"/>
          <p:cNvSpPr/>
          <p:nvPr/>
        </p:nvSpPr>
        <p:spPr>
          <a:xfrm>
            <a:off x="-5097510" y="3714004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overview_r1_neutral_road_length_km_per_km2"/>
          <p:cNvSpPr/>
          <p:nvPr/>
        </p:nvSpPr>
        <p:spPr>
          <a:xfrm>
            <a:off x="-6011142" y="7061225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overview_r1_neutral_young_adult_15_34_pct"/>
          <p:cNvSpPr/>
          <p:nvPr/>
        </p:nvSpPr>
        <p:spPr>
          <a:xfrm>
            <a:off x="-5273059" y="7862322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overview_r1_neutral_population_density_per_km2"/>
          <p:cNvSpPr/>
          <p:nvPr/>
        </p:nvSpPr>
        <p:spPr>
          <a:xfrm>
            <a:off x="-5805860" y="4186086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overview_r1_neutral_road_length_km"/>
          <p:cNvSpPr/>
          <p:nvPr/>
        </p:nvSpPr>
        <p:spPr>
          <a:xfrm>
            <a:off x="-5801734" y="6427670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overview_r1_neutral_intersection_count"/>
          <p:cNvSpPr/>
          <p:nvPr/>
        </p:nvSpPr>
        <p:spPr>
          <a:xfrm>
            <a:off x="-5876811" y="5285158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overview_r1_neutral_level4_plus_qualification_pct"/>
          <p:cNvSpPr/>
          <p:nvPr/>
        </p:nvSpPr>
        <p:spPr>
          <a:xfrm>
            <a:off x="-4120241" y="4401632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overview_r1_neutral_lsoa_area_km2"/>
          <p:cNvSpPr/>
          <p:nvPr/>
        </p:nvSpPr>
        <p:spPr>
          <a:xfrm>
            <a:off x="-4527949" y="4907479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overview_r1_neutral_retail_count"/>
          <p:cNvSpPr/>
          <p:nvPr/>
        </p:nvSpPr>
        <p:spPr>
          <a:xfrm>
            <a:off x="-4843037" y="6411081"/>
            <a:ext cx="62197" cy="6219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overview_r1_rank1_crime_rolling_mean_6"/>
          <p:cNvSpPr/>
          <p:nvPr/>
        </p:nvSpPr>
        <p:spPr>
          <a:xfrm>
            <a:off x="-5853462" y="4281748"/>
            <a:ext cx="1017383" cy="1017383"/>
          </a:xfrm>
          <a:prstGeom prst="rect">
            <a:avLst/>
          </a:prstGeom>
          <a:solidFill>
            <a:srgbClr val="E41A1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44" b="1" dirty="0">
                <a:solidFill>
                  <a:srgbClr val="FFFFFF"/>
                </a:solidFill>
                <a:latin typeface="Calibri"/>
              </a:rPr>
              <a:t>1. Crime roll mean 6
5.07</a:t>
            </a:r>
          </a:p>
        </p:txBody>
      </p:sp>
      <p:sp>
        <p:nvSpPr>
          <p:cNvPr id="25" name="overview_r1_rank2_crime_rolling_mean_3"/>
          <p:cNvSpPr/>
          <p:nvPr/>
        </p:nvSpPr>
        <p:spPr>
          <a:xfrm>
            <a:off x="-4836079" y="4451874"/>
            <a:ext cx="614201" cy="614201"/>
          </a:xfrm>
          <a:prstGeom prst="rect">
            <a:avLst/>
          </a:prstGeom>
          <a:solidFill>
            <a:srgbClr val="377EB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2. Crime roll mean 3
1.29</a:t>
            </a:r>
          </a:p>
        </p:txBody>
      </p:sp>
      <p:sp>
        <p:nvSpPr>
          <p:cNvPr id="26" name="overview_r1_rank3_unemployed_pct_age16plus"/>
          <p:cNvSpPr/>
          <p:nvPr/>
        </p:nvSpPr>
        <p:spPr>
          <a:xfrm>
            <a:off x="-4836078" y="3099872"/>
            <a:ext cx="435372" cy="435372"/>
          </a:xfrm>
          <a:prstGeom prst="rect">
            <a:avLst/>
          </a:prstGeom>
          <a:solidFill>
            <a:srgbClr val="4DAF4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3. Unemployment %
0.41</a:t>
            </a:r>
          </a:p>
        </p:txBody>
      </p:sp>
      <p:sp>
        <p:nvSpPr>
          <p:cNvPr id="27" name="overview_r1_rank4_long_term_sick_disabled_pct"/>
          <p:cNvSpPr/>
          <p:nvPr/>
        </p:nvSpPr>
        <p:spPr>
          <a:xfrm>
            <a:off x="-5317526" y="2500769"/>
            <a:ext cx="422894" cy="422894"/>
          </a:xfrm>
          <a:prstGeom prst="rect">
            <a:avLst/>
          </a:prstGeom>
          <a:solidFill>
            <a:srgbClr val="984EA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28" name="overview_r1_rank5_owner_occupied_pct"/>
          <p:cNvSpPr/>
          <p:nvPr/>
        </p:nvSpPr>
        <p:spPr>
          <a:xfrm>
            <a:off x="-5876661" y="2675445"/>
            <a:ext cx="383159" cy="383159"/>
          </a:xfrm>
          <a:prstGeom prst="rect">
            <a:avLst/>
          </a:prstGeom>
          <a:solidFill>
            <a:srgbClr val="FF7F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29" name="overview_r1_rank6_social_rented_pct"/>
          <p:cNvSpPr/>
          <p:nvPr/>
        </p:nvSpPr>
        <p:spPr>
          <a:xfrm>
            <a:off x="-6255764" y="3710184"/>
            <a:ext cx="362766" cy="362766"/>
          </a:xfrm>
          <a:prstGeom prst="rect">
            <a:avLst/>
          </a:prstGeom>
          <a:solidFill>
            <a:srgbClr val="A6562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6. Social rented %
0.19</a:t>
            </a:r>
          </a:p>
        </p:txBody>
      </p:sp>
      <p:sp>
        <p:nvSpPr>
          <p:cNvPr id="30" name="overview_r1_rank7_crime_lag_2"/>
          <p:cNvSpPr/>
          <p:nvPr/>
        </p:nvSpPr>
        <p:spPr>
          <a:xfrm>
            <a:off x="-6266550" y="4993108"/>
            <a:ext cx="342788" cy="342788"/>
          </a:xfrm>
          <a:prstGeom prst="rect">
            <a:avLst/>
          </a:prstGeom>
          <a:solidFill>
            <a:srgbClr val="F781B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31" name="overview_r1_rank8_private_rented_pct"/>
          <p:cNvSpPr/>
          <p:nvPr/>
        </p:nvSpPr>
        <p:spPr>
          <a:xfrm>
            <a:off x="-5871913" y="6514448"/>
            <a:ext cx="339084" cy="339084"/>
          </a:xfrm>
          <a:prstGeom prst="rect">
            <a:avLst/>
          </a:prstGeom>
          <a:solidFill>
            <a:srgbClr val="66C2A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32" name="overview_r1_rank9_nightlife_per_km2"/>
          <p:cNvSpPr/>
          <p:nvPr/>
        </p:nvSpPr>
        <p:spPr>
          <a:xfrm>
            <a:off x="-5505170" y="6513653"/>
            <a:ext cx="333008" cy="333008"/>
          </a:xfrm>
          <a:prstGeom prst="rect">
            <a:avLst/>
          </a:prstGeom>
          <a:solidFill>
            <a:srgbClr val="FC8D6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33" name="overview_r1_rank10_crime_lag_1"/>
          <p:cNvSpPr/>
          <p:nvPr/>
        </p:nvSpPr>
        <p:spPr>
          <a:xfrm>
            <a:off x="-4836079" y="5885666"/>
            <a:ext cx="324260" cy="324260"/>
          </a:xfrm>
          <a:prstGeom prst="rect">
            <a:avLst/>
          </a:prstGeom>
          <a:solidFill>
            <a:srgbClr val="8DA0C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10. Crime lag 1
0.11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-3492533" y="-281432"/>
            <a:ext cx="3314327" cy="455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89" b="1">
                <a:solidFill>
                  <a:srgbClr val="FFFFFF"/>
                </a:solidFill>
                <a:latin typeface="Calibri"/>
              </a:rPr>
              <a:t>Rep 2</a:t>
            </a:r>
          </a:p>
        </p:txBody>
      </p:sp>
      <p:sp>
        <p:nvSpPr>
          <p:cNvPr id="35" name="overview_r2_neutral_transit_stop_count"/>
          <p:cNvSpPr/>
          <p:nvPr/>
        </p:nvSpPr>
        <p:spPr>
          <a:xfrm>
            <a:off x="-900627" y="5548727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6" name="overview_r2_neutral_older_adult_65_plus_pct"/>
          <p:cNvSpPr/>
          <p:nvPr/>
        </p:nvSpPr>
        <p:spPr>
          <a:xfrm>
            <a:off x="-1899192" y="5017456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overview_r2_neutral_green_space_pct"/>
          <p:cNvSpPr/>
          <p:nvPr/>
        </p:nvSpPr>
        <p:spPr>
          <a:xfrm>
            <a:off x="-966478" y="4852816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8" name="overview_r2_neutral_economically_inactive_pct"/>
          <p:cNvSpPr/>
          <p:nvPr/>
        </p:nvSpPr>
        <p:spPr>
          <a:xfrm>
            <a:off x="-1931446" y="4798276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9" name="overview_r2_neutral_transit_stop_per_km2"/>
          <p:cNvSpPr/>
          <p:nvPr/>
        </p:nvSpPr>
        <p:spPr>
          <a:xfrm>
            <a:off x="-1919014" y="7083173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0" name="overview_r2_neutral_retail_per_km2"/>
          <p:cNvSpPr/>
          <p:nvPr/>
        </p:nvSpPr>
        <p:spPr>
          <a:xfrm>
            <a:off x="-1557925" y="7320199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overview_r2_neutral_month_cos"/>
          <p:cNvSpPr/>
          <p:nvPr/>
        </p:nvSpPr>
        <p:spPr>
          <a:xfrm>
            <a:off x="-2732531" y="3726188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2" name="overview_r2_neutral_no_qualifications_pct"/>
          <p:cNvSpPr/>
          <p:nvPr/>
        </p:nvSpPr>
        <p:spPr>
          <a:xfrm>
            <a:off x="-1324549" y="6603452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3" name="overview_r2_neutral_crime_lag_3"/>
          <p:cNvSpPr/>
          <p:nvPr/>
        </p:nvSpPr>
        <p:spPr>
          <a:xfrm>
            <a:off x="-2265957" y="8151058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4" name="overview_r2_neutral_nightlife_count"/>
          <p:cNvSpPr/>
          <p:nvPr/>
        </p:nvSpPr>
        <p:spPr>
          <a:xfrm>
            <a:off x="-1596646" y="6128092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5" name="overview_r2_neutral_month_sin"/>
          <p:cNvSpPr/>
          <p:nvPr/>
        </p:nvSpPr>
        <p:spPr>
          <a:xfrm>
            <a:off x="-1756026" y="4712905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6" name="overview_r2_neutral_intersection_per_km2"/>
          <p:cNvSpPr/>
          <p:nvPr/>
        </p:nvSpPr>
        <p:spPr>
          <a:xfrm>
            <a:off x="-2573752" y="4894569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7" name="overview_r2_neutral_road_length_km_per_km2"/>
          <p:cNvSpPr/>
          <p:nvPr/>
        </p:nvSpPr>
        <p:spPr>
          <a:xfrm>
            <a:off x="-1907779" y="3382734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8" name="overview_r2_neutral_young_adult_15_34_pct"/>
          <p:cNvSpPr/>
          <p:nvPr/>
        </p:nvSpPr>
        <p:spPr>
          <a:xfrm>
            <a:off x="-1823564" y="5043564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9" name="overview_r2_neutral_level4_plus_qualification_pct"/>
          <p:cNvSpPr/>
          <p:nvPr/>
        </p:nvSpPr>
        <p:spPr>
          <a:xfrm>
            <a:off x="-2054127" y="4739428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0" name="overview_r2_neutral_intersection_count"/>
          <p:cNvSpPr/>
          <p:nvPr/>
        </p:nvSpPr>
        <p:spPr>
          <a:xfrm>
            <a:off x="-1844510" y="4597431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1" name="overview_r2_neutral_population_density_per_km2"/>
          <p:cNvSpPr/>
          <p:nvPr/>
        </p:nvSpPr>
        <p:spPr>
          <a:xfrm>
            <a:off x="-1041212" y="1796482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2" name="overview_r2_neutral_road_length_km"/>
          <p:cNvSpPr/>
          <p:nvPr/>
        </p:nvSpPr>
        <p:spPr>
          <a:xfrm>
            <a:off x="-2216284" y="2571390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3" name="overview_r2_neutral_lsoa_area_km2"/>
          <p:cNvSpPr/>
          <p:nvPr/>
        </p:nvSpPr>
        <p:spPr>
          <a:xfrm>
            <a:off x="-2028198" y="7064425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4" name="overview_r2_neutral_retail_count"/>
          <p:cNvSpPr/>
          <p:nvPr/>
        </p:nvSpPr>
        <p:spPr>
          <a:xfrm>
            <a:off x="-2383850" y="7527705"/>
            <a:ext cx="64747" cy="6474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5" name="overview_r2_rank1_crime_rolling_mean_6"/>
          <p:cNvSpPr/>
          <p:nvPr/>
        </p:nvSpPr>
        <p:spPr>
          <a:xfrm>
            <a:off x="-2365127" y="4260686"/>
            <a:ext cx="1059511" cy="1059511"/>
          </a:xfrm>
          <a:prstGeom prst="rect">
            <a:avLst/>
          </a:prstGeom>
          <a:solidFill>
            <a:srgbClr val="E41A1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44" b="1">
                <a:solidFill>
                  <a:srgbClr val="FFFFFF"/>
                </a:solidFill>
                <a:latin typeface="Calibri"/>
              </a:rPr>
              <a:t>1. Crime roll mean 6
5.07</a:t>
            </a:r>
          </a:p>
        </p:txBody>
      </p:sp>
      <p:sp>
        <p:nvSpPr>
          <p:cNvPr id="56" name="overview_r2_rank2_crime_rolling_mean_3"/>
          <p:cNvSpPr/>
          <p:nvPr/>
        </p:nvSpPr>
        <p:spPr>
          <a:xfrm>
            <a:off x="-1305614" y="4345326"/>
            <a:ext cx="639063" cy="639063"/>
          </a:xfrm>
          <a:prstGeom prst="rect">
            <a:avLst/>
          </a:prstGeom>
          <a:solidFill>
            <a:srgbClr val="377EB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2. Crime roll mean 3
1.29</a:t>
            </a:r>
          </a:p>
        </p:txBody>
      </p:sp>
      <p:sp>
        <p:nvSpPr>
          <p:cNvPr id="57" name="overview_r2_rank3_unemployed_pct_age16plus"/>
          <p:cNvSpPr/>
          <p:nvPr/>
        </p:nvSpPr>
        <p:spPr>
          <a:xfrm>
            <a:off x="-1305615" y="2938986"/>
            <a:ext cx="452786" cy="452786"/>
          </a:xfrm>
          <a:prstGeom prst="rect">
            <a:avLst/>
          </a:prstGeom>
          <a:solidFill>
            <a:srgbClr val="4DAF4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3. Unemployment %
0.41</a:t>
            </a:r>
          </a:p>
        </p:txBody>
      </p:sp>
      <p:sp>
        <p:nvSpPr>
          <p:cNvPr id="58" name="overview_r2_rank4_long_term_sick_disabled_pct"/>
          <p:cNvSpPr/>
          <p:nvPr/>
        </p:nvSpPr>
        <p:spPr>
          <a:xfrm>
            <a:off x="-1899843" y="2300184"/>
            <a:ext cx="440626" cy="440626"/>
          </a:xfrm>
          <a:prstGeom prst="rect">
            <a:avLst/>
          </a:prstGeom>
          <a:solidFill>
            <a:srgbClr val="984EA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59" name="overview_r2_rank5_owner_occupied_pct"/>
          <p:cNvSpPr/>
          <p:nvPr/>
        </p:nvSpPr>
        <p:spPr>
          <a:xfrm>
            <a:off x="-2330070" y="2579073"/>
            <a:ext cx="399552" cy="399552"/>
          </a:xfrm>
          <a:prstGeom prst="rect">
            <a:avLst/>
          </a:prstGeom>
          <a:solidFill>
            <a:srgbClr val="FF7F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60" name="overview_r2_rank6_social_rented_pct"/>
          <p:cNvSpPr/>
          <p:nvPr/>
        </p:nvSpPr>
        <p:spPr>
          <a:xfrm>
            <a:off x="-2796646" y="3692380"/>
            <a:ext cx="376668" cy="376668"/>
          </a:xfrm>
          <a:prstGeom prst="rect">
            <a:avLst/>
          </a:prstGeom>
          <a:solidFill>
            <a:srgbClr val="A6562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6. Social rented %
0.19</a:t>
            </a:r>
          </a:p>
        </p:txBody>
      </p:sp>
      <p:sp>
        <p:nvSpPr>
          <p:cNvPr id="61" name="overview_r2_rank7_crime_lag_2"/>
          <p:cNvSpPr/>
          <p:nvPr/>
        </p:nvSpPr>
        <p:spPr>
          <a:xfrm>
            <a:off x="-2790037" y="4859127"/>
            <a:ext cx="358526" cy="358526"/>
          </a:xfrm>
          <a:prstGeom prst="rect">
            <a:avLst/>
          </a:prstGeom>
          <a:solidFill>
            <a:srgbClr val="F781B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62" name="overview_r2_rank8_private_rented_pct"/>
          <p:cNvSpPr/>
          <p:nvPr/>
        </p:nvSpPr>
        <p:spPr>
          <a:xfrm>
            <a:off x="-2249329" y="6553784"/>
            <a:ext cx="352992" cy="352992"/>
          </a:xfrm>
          <a:prstGeom prst="rect">
            <a:avLst/>
          </a:prstGeom>
          <a:solidFill>
            <a:srgbClr val="66C2A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63" name="overview_r2_rank9_nightlife_per_km2"/>
          <p:cNvSpPr/>
          <p:nvPr/>
        </p:nvSpPr>
        <p:spPr>
          <a:xfrm>
            <a:off x="-1768827" y="6549112"/>
            <a:ext cx="347639" cy="347639"/>
          </a:xfrm>
          <a:prstGeom prst="rect">
            <a:avLst/>
          </a:prstGeom>
          <a:solidFill>
            <a:srgbClr val="FC8D6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64" name="overview_r2_rank10_crime_lag_1"/>
          <p:cNvSpPr/>
          <p:nvPr/>
        </p:nvSpPr>
        <p:spPr>
          <a:xfrm>
            <a:off x="-1305615" y="6160131"/>
            <a:ext cx="338560" cy="338560"/>
          </a:xfrm>
          <a:prstGeom prst="rect">
            <a:avLst/>
          </a:prstGeom>
          <a:solidFill>
            <a:srgbClr val="8DA0C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10. Crime lag 1
0.11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867" y="-281432"/>
            <a:ext cx="3314327" cy="455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89" b="1">
                <a:solidFill>
                  <a:srgbClr val="FFFFFF"/>
                </a:solidFill>
                <a:latin typeface="Calibri"/>
              </a:rPr>
              <a:t>Rep 3</a:t>
            </a:r>
          </a:p>
        </p:txBody>
      </p:sp>
      <p:sp>
        <p:nvSpPr>
          <p:cNvPr id="66" name="overview_r3_neutral_crime_lag_1"/>
          <p:cNvSpPr/>
          <p:nvPr/>
        </p:nvSpPr>
        <p:spPr>
          <a:xfrm>
            <a:off x="1570318" y="5348302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7" name="overview_r3_neutral_transit_stop_count"/>
          <p:cNvSpPr/>
          <p:nvPr/>
        </p:nvSpPr>
        <p:spPr>
          <a:xfrm>
            <a:off x="619038" y="2353780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8" name="overview_r3_neutral_older_adult_65_plus_pct"/>
          <p:cNvSpPr/>
          <p:nvPr/>
        </p:nvSpPr>
        <p:spPr>
          <a:xfrm>
            <a:off x="1645888" y="5192688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9" name="overview_r3_neutral_month_cos"/>
          <p:cNvSpPr/>
          <p:nvPr/>
        </p:nvSpPr>
        <p:spPr>
          <a:xfrm>
            <a:off x="1320224" y="8271332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0" name="overview_r3_neutral_economically_inactive_pct"/>
          <p:cNvSpPr/>
          <p:nvPr/>
        </p:nvSpPr>
        <p:spPr>
          <a:xfrm>
            <a:off x="1775216" y="4627707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1" name="overview_r3_neutral_transit_stop_per_km2"/>
          <p:cNvSpPr/>
          <p:nvPr/>
        </p:nvSpPr>
        <p:spPr>
          <a:xfrm>
            <a:off x="1702249" y="5370562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2" name="overview_r3_neutral_retail_per_km2"/>
          <p:cNvSpPr/>
          <p:nvPr/>
        </p:nvSpPr>
        <p:spPr>
          <a:xfrm>
            <a:off x="2293767" y="3504148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3" name="overview_r3_neutral_no_qualifications_pct"/>
          <p:cNvSpPr/>
          <p:nvPr/>
        </p:nvSpPr>
        <p:spPr>
          <a:xfrm>
            <a:off x="1609412" y="4993874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4" name="overview_r3_neutral_crime_lag_3"/>
          <p:cNvSpPr/>
          <p:nvPr/>
        </p:nvSpPr>
        <p:spPr>
          <a:xfrm>
            <a:off x="2069689" y="6519561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5" name="overview_r3_neutral_month_sin"/>
          <p:cNvSpPr/>
          <p:nvPr/>
        </p:nvSpPr>
        <p:spPr>
          <a:xfrm>
            <a:off x="1880372" y="3456470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6" name="overview_r3_neutral_nightlife_count"/>
          <p:cNvSpPr/>
          <p:nvPr/>
        </p:nvSpPr>
        <p:spPr>
          <a:xfrm>
            <a:off x="1206151" y="7800658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7" name="overview_r3_neutral_intersection_per_km2"/>
          <p:cNvSpPr/>
          <p:nvPr/>
        </p:nvSpPr>
        <p:spPr>
          <a:xfrm>
            <a:off x="1491753" y="4547456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8" name="overview_r3_neutral_road_length_km_per_km2"/>
          <p:cNvSpPr/>
          <p:nvPr/>
        </p:nvSpPr>
        <p:spPr>
          <a:xfrm>
            <a:off x="2233094" y="3710731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9" name="overview_r3_neutral_young_adult_15_34_pct"/>
          <p:cNvSpPr/>
          <p:nvPr/>
        </p:nvSpPr>
        <p:spPr>
          <a:xfrm>
            <a:off x="1627398" y="4630368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0" name="overview_r3_neutral_road_length_km"/>
          <p:cNvSpPr/>
          <p:nvPr/>
        </p:nvSpPr>
        <p:spPr>
          <a:xfrm>
            <a:off x="1407739" y="4419874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1" name="overview_r3_neutral_level4_plus_qualification_pct"/>
          <p:cNvSpPr/>
          <p:nvPr/>
        </p:nvSpPr>
        <p:spPr>
          <a:xfrm>
            <a:off x="858235" y="6270957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2" name="overview_r3_neutral_population_density_per_km2"/>
          <p:cNvSpPr/>
          <p:nvPr/>
        </p:nvSpPr>
        <p:spPr>
          <a:xfrm>
            <a:off x="2632270" y="3153483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3" name="overview_r3_neutral_intersection_count"/>
          <p:cNvSpPr/>
          <p:nvPr/>
        </p:nvSpPr>
        <p:spPr>
          <a:xfrm>
            <a:off x="2035261" y="5737069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4" name="overview_r3_neutral_retail_count"/>
          <p:cNvSpPr/>
          <p:nvPr/>
        </p:nvSpPr>
        <p:spPr>
          <a:xfrm>
            <a:off x="2594758" y="7371451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5" name="overview_r3_neutral_lsoa_area_km2"/>
          <p:cNvSpPr/>
          <p:nvPr/>
        </p:nvSpPr>
        <p:spPr>
          <a:xfrm>
            <a:off x="1442201" y="4929492"/>
            <a:ext cx="62279" cy="6227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6" name="overview_r3_rank1_crime_rolling_mean_6"/>
          <p:cNvSpPr/>
          <p:nvPr/>
        </p:nvSpPr>
        <p:spPr>
          <a:xfrm>
            <a:off x="1165342" y="4281752"/>
            <a:ext cx="1017372" cy="1017372"/>
          </a:xfrm>
          <a:prstGeom prst="rect">
            <a:avLst/>
          </a:prstGeom>
          <a:solidFill>
            <a:srgbClr val="E41A1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44" b="1">
                <a:solidFill>
                  <a:srgbClr val="FFFFFF"/>
                </a:solidFill>
                <a:latin typeface="Calibri"/>
              </a:rPr>
              <a:t>1. Crime roll mean 6
5.05</a:t>
            </a:r>
          </a:p>
        </p:txBody>
      </p:sp>
      <p:sp>
        <p:nvSpPr>
          <p:cNvPr id="87" name="overview_r3_rank2_crime_rolling_mean_3"/>
          <p:cNvSpPr/>
          <p:nvPr/>
        </p:nvSpPr>
        <p:spPr>
          <a:xfrm>
            <a:off x="2182716" y="4319322"/>
            <a:ext cx="614144" cy="614144"/>
          </a:xfrm>
          <a:prstGeom prst="rect">
            <a:avLst/>
          </a:prstGeom>
          <a:solidFill>
            <a:srgbClr val="377EB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2. Crime roll mean 3
1.28</a:t>
            </a:r>
          </a:p>
        </p:txBody>
      </p:sp>
      <p:sp>
        <p:nvSpPr>
          <p:cNvPr id="88" name="overview_r3_rank3_unemployed_pct_age16plus"/>
          <p:cNvSpPr/>
          <p:nvPr/>
        </p:nvSpPr>
        <p:spPr>
          <a:xfrm>
            <a:off x="2182717" y="2966171"/>
            <a:ext cx="436012" cy="436012"/>
          </a:xfrm>
          <a:prstGeom prst="rect">
            <a:avLst/>
          </a:prstGeom>
          <a:solidFill>
            <a:srgbClr val="4DAF4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3. Unemployment %
0.41</a:t>
            </a:r>
          </a:p>
        </p:txBody>
      </p:sp>
      <p:sp>
        <p:nvSpPr>
          <p:cNvPr id="89" name="overview_r3_rank4_long_term_sick_disabled_pct"/>
          <p:cNvSpPr/>
          <p:nvPr/>
        </p:nvSpPr>
        <p:spPr>
          <a:xfrm>
            <a:off x="1439620" y="1543353"/>
            <a:ext cx="422695" cy="422695"/>
          </a:xfrm>
          <a:prstGeom prst="rect">
            <a:avLst/>
          </a:prstGeom>
          <a:solidFill>
            <a:srgbClr val="984EA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90" name="overview_r3_rank5_owner_occupied_pct"/>
          <p:cNvSpPr/>
          <p:nvPr/>
        </p:nvSpPr>
        <p:spPr>
          <a:xfrm>
            <a:off x="1360270" y="2671622"/>
            <a:ext cx="385207" cy="385207"/>
          </a:xfrm>
          <a:prstGeom prst="rect">
            <a:avLst/>
          </a:prstGeom>
          <a:solidFill>
            <a:srgbClr val="FF7F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91" name="overview_r3_rank6_social_rented_pct"/>
          <p:cNvSpPr/>
          <p:nvPr/>
        </p:nvSpPr>
        <p:spPr>
          <a:xfrm>
            <a:off x="741047" y="4111168"/>
            <a:ext cx="362197" cy="362197"/>
          </a:xfrm>
          <a:prstGeom prst="rect">
            <a:avLst/>
          </a:prstGeom>
          <a:solidFill>
            <a:srgbClr val="A6562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6. Social rented %
0.19</a:t>
            </a:r>
          </a:p>
        </p:txBody>
      </p:sp>
      <p:sp>
        <p:nvSpPr>
          <p:cNvPr id="92" name="overview_r3_rank7_crime_lag_2"/>
          <p:cNvSpPr/>
          <p:nvPr/>
        </p:nvSpPr>
        <p:spPr>
          <a:xfrm>
            <a:off x="760594" y="5089054"/>
            <a:ext cx="342786" cy="342786"/>
          </a:xfrm>
          <a:prstGeom prst="rect">
            <a:avLst/>
          </a:prstGeom>
          <a:solidFill>
            <a:srgbClr val="F781B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93" name="overview_r3_rank8_private_rented_pct"/>
          <p:cNvSpPr/>
          <p:nvPr/>
        </p:nvSpPr>
        <p:spPr>
          <a:xfrm>
            <a:off x="1114620" y="6554760"/>
            <a:ext cx="339968" cy="339968"/>
          </a:xfrm>
          <a:prstGeom prst="rect">
            <a:avLst/>
          </a:prstGeom>
          <a:solidFill>
            <a:srgbClr val="66C2A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94" name="overview_r3_rank9_nightlife_per_km2"/>
          <p:cNvSpPr/>
          <p:nvPr/>
        </p:nvSpPr>
        <p:spPr>
          <a:xfrm>
            <a:off x="1781675" y="6549481"/>
            <a:ext cx="334704" cy="334704"/>
          </a:xfrm>
          <a:prstGeom prst="rect">
            <a:avLst/>
          </a:prstGeom>
          <a:solidFill>
            <a:srgbClr val="FC8D6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95" name="overview_r3_rank10_green_space_pct"/>
          <p:cNvSpPr/>
          <p:nvPr/>
        </p:nvSpPr>
        <p:spPr>
          <a:xfrm>
            <a:off x="2182715" y="6088154"/>
            <a:ext cx="323076" cy="323076"/>
          </a:xfrm>
          <a:prstGeom prst="rect">
            <a:avLst/>
          </a:prstGeom>
          <a:solidFill>
            <a:srgbClr val="8DA0C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10. Green space %
0.11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26266" y="-281432"/>
            <a:ext cx="3314327" cy="455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89" b="1">
                <a:solidFill>
                  <a:srgbClr val="FFFFFF"/>
                </a:solidFill>
                <a:latin typeface="Calibri"/>
              </a:rPr>
              <a:t>Rep 4</a:t>
            </a:r>
          </a:p>
        </p:txBody>
      </p:sp>
      <p:sp>
        <p:nvSpPr>
          <p:cNvPr id="97" name="overview_r4_neutral_green_space_pct"/>
          <p:cNvSpPr/>
          <p:nvPr/>
        </p:nvSpPr>
        <p:spPr>
          <a:xfrm>
            <a:off x="4832406" y="3051194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8" name="overview_r4_neutral_transit_stop_count"/>
          <p:cNvSpPr/>
          <p:nvPr/>
        </p:nvSpPr>
        <p:spPr>
          <a:xfrm>
            <a:off x="5206266" y="5035362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9" name="overview_r4_neutral_older_adult_65_plus_pct"/>
          <p:cNvSpPr/>
          <p:nvPr/>
        </p:nvSpPr>
        <p:spPr>
          <a:xfrm>
            <a:off x="4587608" y="2407926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0" name="overview_r4_neutral_economically_inactive_pct"/>
          <p:cNvSpPr/>
          <p:nvPr/>
        </p:nvSpPr>
        <p:spPr>
          <a:xfrm>
            <a:off x="4883682" y="1588294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1" name="overview_r4_neutral_transit_stop_per_km2"/>
          <p:cNvSpPr/>
          <p:nvPr/>
        </p:nvSpPr>
        <p:spPr>
          <a:xfrm>
            <a:off x="5722042" y="5685387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2" name="overview_r4_neutral_month_cos"/>
          <p:cNvSpPr/>
          <p:nvPr/>
        </p:nvSpPr>
        <p:spPr>
          <a:xfrm>
            <a:off x="5312342" y="5054337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3" name="overview_r4_neutral_retail_per_km2"/>
          <p:cNvSpPr/>
          <p:nvPr/>
        </p:nvSpPr>
        <p:spPr>
          <a:xfrm>
            <a:off x="4874719" y="4792194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4" name="overview_r4_neutral_no_qualifications_pct"/>
          <p:cNvSpPr/>
          <p:nvPr/>
        </p:nvSpPr>
        <p:spPr>
          <a:xfrm>
            <a:off x="5703922" y="8166946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5" name="overview_r4_neutral_crime_lag_3"/>
          <p:cNvSpPr/>
          <p:nvPr/>
        </p:nvSpPr>
        <p:spPr>
          <a:xfrm>
            <a:off x="6221393" y="5779745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6" name="overview_r4_neutral_month_sin"/>
          <p:cNvSpPr/>
          <p:nvPr/>
        </p:nvSpPr>
        <p:spPr>
          <a:xfrm>
            <a:off x="4305162" y="2471661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7" name="overview_r4_neutral_intersection_per_km2"/>
          <p:cNvSpPr/>
          <p:nvPr/>
        </p:nvSpPr>
        <p:spPr>
          <a:xfrm>
            <a:off x="4196266" y="4077410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8" name="overview_r4_neutral_nightlife_count"/>
          <p:cNvSpPr/>
          <p:nvPr/>
        </p:nvSpPr>
        <p:spPr>
          <a:xfrm>
            <a:off x="5734100" y="3497592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9" name="overview_r4_neutral_road_length_km_per_km2"/>
          <p:cNvSpPr/>
          <p:nvPr/>
        </p:nvSpPr>
        <p:spPr>
          <a:xfrm>
            <a:off x="4596541" y="4772747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0" name="overview_r4_neutral_young_adult_15_34_pct"/>
          <p:cNvSpPr/>
          <p:nvPr/>
        </p:nvSpPr>
        <p:spPr>
          <a:xfrm>
            <a:off x="5118365" y="4712786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1" name="overview_r4_neutral_road_length_km"/>
          <p:cNvSpPr/>
          <p:nvPr/>
        </p:nvSpPr>
        <p:spPr>
          <a:xfrm>
            <a:off x="5283124" y="1199551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2" name="overview_r4_neutral_population_density_per_km2"/>
          <p:cNvSpPr/>
          <p:nvPr/>
        </p:nvSpPr>
        <p:spPr>
          <a:xfrm>
            <a:off x="5176065" y="3267549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3" name="overview_r4_neutral_intersection_count"/>
          <p:cNvSpPr/>
          <p:nvPr/>
        </p:nvSpPr>
        <p:spPr>
          <a:xfrm>
            <a:off x="5307794" y="4456104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4" name="overview_r4_neutral_level4_plus_qualification_pct"/>
          <p:cNvSpPr/>
          <p:nvPr/>
        </p:nvSpPr>
        <p:spPr>
          <a:xfrm>
            <a:off x="5148358" y="1117834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5" name="overview_r4_neutral_retail_count"/>
          <p:cNvSpPr/>
          <p:nvPr/>
        </p:nvSpPr>
        <p:spPr>
          <a:xfrm>
            <a:off x="5144095" y="8309659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6" name="overview_r4_neutral_lsoa_area_km2"/>
          <p:cNvSpPr/>
          <p:nvPr/>
        </p:nvSpPr>
        <p:spPr>
          <a:xfrm>
            <a:off x="5127010" y="4509814"/>
            <a:ext cx="64676" cy="646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7" name="overview_r4_rank1_crime_rolling_mean_6"/>
          <p:cNvSpPr/>
          <p:nvPr/>
        </p:nvSpPr>
        <p:spPr>
          <a:xfrm>
            <a:off x="4655710" y="4262722"/>
            <a:ext cx="1055436" cy="1055436"/>
          </a:xfrm>
          <a:prstGeom prst="rect">
            <a:avLst/>
          </a:prstGeom>
          <a:solidFill>
            <a:srgbClr val="E41A1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44" b="1">
                <a:solidFill>
                  <a:srgbClr val="FFFFFF"/>
                </a:solidFill>
                <a:latin typeface="Calibri"/>
              </a:rPr>
              <a:t>1. Crime roll mean 6
5.04</a:t>
            </a:r>
          </a:p>
        </p:txBody>
      </p:sp>
      <p:sp>
        <p:nvSpPr>
          <p:cNvPr id="118" name="overview_r4_rank2_crime_rolling_mean_3"/>
          <p:cNvSpPr/>
          <p:nvPr/>
        </p:nvSpPr>
        <p:spPr>
          <a:xfrm>
            <a:off x="5711147" y="4284507"/>
            <a:ext cx="637106" cy="637106"/>
          </a:xfrm>
          <a:prstGeom prst="rect">
            <a:avLst/>
          </a:prstGeom>
          <a:solidFill>
            <a:srgbClr val="377EB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2. Crime roll mean 3
1.28</a:t>
            </a:r>
          </a:p>
        </p:txBody>
      </p:sp>
      <p:sp>
        <p:nvSpPr>
          <p:cNvPr id="119" name="overview_r4_rank3_unemployed_pct_age16plus"/>
          <p:cNvSpPr/>
          <p:nvPr/>
        </p:nvSpPr>
        <p:spPr>
          <a:xfrm>
            <a:off x="5711149" y="2875337"/>
            <a:ext cx="455212" cy="455212"/>
          </a:xfrm>
          <a:prstGeom prst="rect">
            <a:avLst/>
          </a:prstGeom>
          <a:solidFill>
            <a:srgbClr val="4DAF4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3. Unemployment %
0.42</a:t>
            </a:r>
          </a:p>
        </p:txBody>
      </p:sp>
      <p:sp>
        <p:nvSpPr>
          <p:cNvPr id="120" name="overview_r4_rank4_long_term_sick_disabled_pct"/>
          <p:cNvSpPr/>
          <p:nvPr/>
        </p:nvSpPr>
        <p:spPr>
          <a:xfrm>
            <a:off x="5216440" y="2409260"/>
            <a:ext cx="439461" cy="439461"/>
          </a:xfrm>
          <a:prstGeom prst="rect">
            <a:avLst/>
          </a:prstGeom>
          <a:solidFill>
            <a:srgbClr val="984EA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121" name="overview_r4_rank5_owner_occupied_pct"/>
          <p:cNvSpPr/>
          <p:nvPr/>
        </p:nvSpPr>
        <p:spPr>
          <a:xfrm>
            <a:off x="4680443" y="2594298"/>
            <a:ext cx="398578" cy="398578"/>
          </a:xfrm>
          <a:prstGeom prst="rect">
            <a:avLst/>
          </a:prstGeom>
          <a:solidFill>
            <a:srgbClr val="FF7F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122" name="overview_r4_rank6_social_rented_pct"/>
          <p:cNvSpPr/>
          <p:nvPr/>
        </p:nvSpPr>
        <p:spPr>
          <a:xfrm>
            <a:off x="4231653" y="3626309"/>
            <a:ext cx="376752" cy="376752"/>
          </a:xfrm>
          <a:prstGeom prst="rect">
            <a:avLst/>
          </a:prstGeom>
          <a:solidFill>
            <a:srgbClr val="A6562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6. Social rented %
0.19</a:t>
            </a:r>
          </a:p>
        </p:txBody>
      </p:sp>
      <p:sp>
        <p:nvSpPr>
          <p:cNvPr id="123" name="overview_r4_rank7_crime_lag_2"/>
          <p:cNvSpPr/>
          <p:nvPr/>
        </p:nvSpPr>
        <p:spPr>
          <a:xfrm>
            <a:off x="4246054" y="5525850"/>
            <a:ext cx="358423" cy="358423"/>
          </a:xfrm>
          <a:prstGeom prst="rect">
            <a:avLst/>
          </a:prstGeom>
          <a:solidFill>
            <a:srgbClr val="F781B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124" name="overview_r4_rank8_private_rented_pct"/>
          <p:cNvSpPr/>
          <p:nvPr/>
        </p:nvSpPr>
        <p:spPr>
          <a:xfrm>
            <a:off x="4755396" y="6553252"/>
            <a:ext cx="353319" cy="353319"/>
          </a:xfrm>
          <a:prstGeom prst="rect">
            <a:avLst/>
          </a:prstGeom>
          <a:solidFill>
            <a:srgbClr val="66C2A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125" name="overview_r4_rank9_nightlife_per_km2"/>
          <p:cNvSpPr/>
          <p:nvPr/>
        </p:nvSpPr>
        <p:spPr>
          <a:xfrm>
            <a:off x="5275214" y="6547120"/>
            <a:ext cx="346937" cy="346937"/>
          </a:xfrm>
          <a:prstGeom prst="rect">
            <a:avLst/>
          </a:prstGeom>
          <a:solidFill>
            <a:srgbClr val="FC8D6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126" name="overview_r4_rank10_crime_lag_1"/>
          <p:cNvSpPr/>
          <p:nvPr/>
        </p:nvSpPr>
        <p:spPr>
          <a:xfrm>
            <a:off x="5711148" y="6005169"/>
            <a:ext cx="344238" cy="344238"/>
          </a:xfrm>
          <a:prstGeom prst="rect">
            <a:avLst/>
          </a:prstGeom>
          <a:solidFill>
            <a:srgbClr val="8DA0C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10. Crime lag 1
0.12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035664" y="-281432"/>
            <a:ext cx="3314327" cy="455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89" b="1">
                <a:solidFill>
                  <a:srgbClr val="FFFFFF"/>
                </a:solidFill>
                <a:latin typeface="Calibri"/>
              </a:rPr>
              <a:t>Rep 5</a:t>
            </a:r>
          </a:p>
        </p:txBody>
      </p:sp>
      <p:sp>
        <p:nvSpPr>
          <p:cNvPr id="128" name="overview_r5_neutral_older_adult_65_plus_pct"/>
          <p:cNvSpPr/>
          <p:nvPr/>
        </p:nvSpPr>
        <p:spPr>
          <a:xfrm>
            <a:off x="8519766" y="4845170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9" name="overview_r5_neutral_transit_stop_count"/>
          <p:cNvSpPr/>
          <p:nvPr/>
        </p:nvSpPr>
        <p:spPr>
          <a:xfrm>
            <a:off x="8764567" y="4461076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0" name="overview_r5_neutral_green_space_pct"/>
          <p:cNvSpPr/>
          <p:nvPr/>
        </p:nvSpPr>
        <p:spPr>
          <a:xfrm>
            <a:off x="8968292" y="6419346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1" name="overview_r5_neutral_month_cos"/>
          <p:cNvSpPr/>
          <p:nvPr/>
        </p:nvSpPr>
        <p:spPr>
          <a:xfrm>
            <a:off x="7326059" y="4032253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2" name="overview_r5_neutral_economically_inactive_pct"/>
          <p:cNvSpPr/>
          <p:nvPr/>
        </p:nvSpPr>
        <p:spPr>
          <a:xfrm>
            <a:off x="9351072" y="6638640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3" name="overview_r5_neutral_transit_stop_per_km2"/>
          <p:cNvSpPr/>
          <p:nvPr/>
        </p:nvSpPr>
        <p:spPr>
          <a:xfrm>
            <a:off x="9022198" y="1461613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4" name="overview_r5_neutral_retail_per_km2"/>
          <p:cNvSpPr/>
          <p:nvPr/>
        </p:nvSpPr>
        <p:spPr>
          <a:xfrm>
            <a:off x="8113408" y="5935492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5" name="overview_r5_neutral_no_qualifications_pct"/>
          <p:cNvSpPr/>
          <p:nvPr/>
        </p:nvSpPr>
        <p:spPr>
          <a:xfrm>
            <a:off x="7656235" y="5653062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6" name="overview_r5_neutral_month_sin"/>
          <p:cNvSpPr/>
          <p:nvPr/>
        </p:nvSpPr>
        <p:spPr>
          <a:xfrm>
            <a:off x="9463396" y="4061805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7" name="overview_r5_neutral_nightlife_count"/>
          <p:cNvSpPr/>
          <p:nvPr/>
        </p:nvSpPr>
        <p:spPr>
          <a:xfrm>
            <a:off x="8542674" y="4502749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8" name="overview_r5_neutral_intersection_per_km2"/>
          <p:cNvSpPr/>
          <p:nvPr/>
        </p:nvSpPr>
        <p:spPr>
          <a:xfrm>
            <a:off x="8962333" y="1712870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9" name="overview_r5_neutral_crime_lag_3"/>
          <p:cNvSpPr/>
          <p:nvPr/>
        </p:nvSpPr>
        <p:spPr>
          <a:xfrm>
            <a:off x="7679342" y="2447198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0" name="overview_r5_neutral_road_length_km_per_km2"/>
          <p:cNvSpPr/>
          <p:nvPr/>
        </p:nvSpPr>
        <p:spPr>
          <a:xfrm>
            <a:off x="9204686" y="4719822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1" name="overview_r5_neutral_young_adult_15_34_pct"/>
          <p:cNvSpPr/>
          <p:nvPr/>
        </p:nvSpPr>
        <p:spPr>
          <a:xfrm>
            <a:off x="8901479" y="2656798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2" name="overview_r5_neutral_population_density_per_km2"/>
          <p:cNvSpPr/>
          <p:nvPr/>
        </p:nvSpPr>
        <p:spPr>
          <a:xfrm>
            <a:off x="8806745" y="2448510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3" name="overview_r5_neutral_road_length_km"/>
          <p:cNvSpPr/>
          <p:nvPr/>
        </p:nvSpPr>
        <p:spPr>
          <a:xfrm>
            <a:off x="8651460" y="4834454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4" name="overview_r5_neutral_intersection_count"/>
          <p:cNvSpPr/>
          <p:nvPr/>
        </p:nvSpPr>
        <p:spPr>
          <a:xfrm>
            <a:off x="8762471" y="5001300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5" name="overview_r5_neutral_level4_plus_qualification_pct"/>
          <p:cNvSpPr/>
          <p:nvPr/>
        </p:nvSpPr>
        <p:spPr>
          <a:xfrm>
            <a:off x="9526478" y="3975040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6" name="overview_r5_neutral_lsoa_area_km2"/>
          <p:cNvSpPr/>
          <p:nvPr/>
        </p:nvSpPr>
        <p:spPr>
          <a:xfrm>
            <a:off x="9986617" y="5159145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7" name="overview_r5_neutral_retail_count"/>
          <p:cNvSpPr/>
          <p:nvPr/>
        </p:nvSpPr>
        <p:spPr>
          <a:xfrm>
            <a:off x="7961860" y="4812873"/>
            <a:ext cx="55276" cy="5527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8" name="overview_r5_rank1_crime_rolling_mean_6"/>
          <p:cNvSpPr/>
          <p:nvPr/>
        </p:nvSpPr>
        <p:spPr>
          <a:xfrm>
            <a:off x="8242887" y="4340501"/>
            <a:ext cx="899881" cy="899881"/>
          </a:xfrm>
          <a:prstGeom prst="rect">
            <a:avLst/>
          </a:prstGeom>
          <a:solidFill>
            <a:srgbClr val="E41A1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44" b="1">
                <a:solidFill>
                  <a:srgbClr val="FFFFFF"/>
                </a:solidFill>
                <a:latin typeface="Calibri"/>
              </a:rPr>
              <a:t>1. Crime roll mean 6
5.01</a:t>
            </a:r>
          </a:p>
        </p:txBody>
      </p:sp>
      <p:sp>
        <p:nvSpPr>
          <p:cNvPr id="149" name="overview_r5_rank2_crime_rolling_mean_3"/>
          <p:cNvSpPr/>
          <p:nvPr/>
        </p:nvSpPr>
        <p:spPr>
          <a:xfrm>
            <a:off x="9142767" y="4614009"/>
            <a:ext cx="542731" cy="542731"/>
          </a:xfrm>
          <a:prstGeom prst="rect">
            <a:avLst/>
          </a:prstGeom>
          <a:solidFill>
            <a:srgbClr val="377EB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2. Crime roll mean 3
1.27</a:t>
            </a:r>
          </a:p>
        </p:txBody>
      </p:sp>
      <p:sp>
        <p:nvSpPr>
          <p:cNvPr id="150" name="overview_r5_rank3_unemployed_pct_age16plus"/>
          <p:cNvSpPr/>
          <p:nvPr/>
        </p:nvSpPr>
        <p:spPr>
          <a:xfrm>
            <a:off x="8832826" y="2832710"/>
            <a:ext cx="385351" cy="385351"/>
          </a:xfrm>
          <a:prstGeom prst="rect">
            <a:avLst/>
          </a:prstGeom>
          <a:solidFill>
            <a:srgbClr val="4DAF4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3. Unemployment %
0.40</a:t>
            </a:r>
          </a:p>
        </p:txBody>
      </p:sp>
      <p:sp>
        <p:nvSpPr>
          <p:cNvPr id="151" name="overview_r5_rank4_long_term_sick_disabled_pct"/>
          <p:cNvSpPr/>
          <p:nvPr/>
        </p:nvSpPr>
        <p:spPr>
          <a:xfrm>
            <a:off x="8433481" y="1911193"/>
            <a:ext cx="379920" cy="379920"/>
          </a:xfrm>
          <a:prstGeom prst="rect">
            <a:avLst/>
          </a:prstGeom>
          <a:solidFill>
            <a:srgbClr val="984EA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4. Long-term sick %
0.38</a:t>
            </a:r>
          </a:p>
        </p:txBody>
      </p:sp>
      <p:sp>
        <p:nvSpPr>
          <p:cNvPr id="152" name="overview_r5_rank5_owner_occupied_pct"/>
          <p:cNvSpPr/>
          <p:nvPr/>
        </p:nvSpPr>
        <p:spPr>
          <a:xfrm>
            <a:off x="8381062" y="2919154"/>
            <a:ext cx="339207" cy="339207"/>
          </a:xfrm>
          <a:prstGeom prst="rect">
            <a:avLst/>
          </a:prstGeom>
          <a:solidFill>
            <a:srgbClr val="FF7F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5. Owner occupied %
0.24</a:t>
            </a:r>
          </a:p>
        </p:txBody>
      </p:sp>
      <p:sp>
        <p:nvSpPr>
          <p:cNvPr id="153" name="overview_r5_rank6_social_rented_pct"/>
          <p:cNvSpPr/>
          <p:nvPr/>
        </p:nvSpPr>
        <p:spPr>
          <a:xfrm>
            <a:off x="7881523" y="4288489"/>
            <a:ext cx="322964" cy="322964"/>
          </a:xfrm>
          <a:prstGeom prst="rect">
            <a:avLst/>
          </a:prstGeom>
          <a:solidFill>
            <a:srgbClr val="A6562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6. Social rented %
0.20</a:t>
            </a:r>
          </a:p>
        </p:txBody>
      </p:sp>
      <p:sp>
        <p:nvSpPr>
          <p:cNvPr id="154" name="overview_r5_rank7_crime_lag_2"/>
          <p:cNvSpPr/>
          <p:nvPr/>
        </p:nvSpPr>
        <p:spPr>
          <a:xfrm>
            <a:off x="7871080" y="5159505"/>
            <a:ext cx="304576" cy="304576"/>
          </a:xfrm>
          <a:prstGeom prst="rect">
            <a:avLst/>
          </a:prstGeom>
          <a:solidFill>
            <a:srgbClr val="F781B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155" name="overview_r5_rank8_private_rented_pct"/>
          <p:cNvSpPr/>
          <p:nvPr/>
        </p:nvSpPr>
        <p:spPr>
          <a:xfrm>
            <a:off x="8254021" y="6381109"/>
            <a:ext cx="299982" cy="299982"/>
          </a:xfrm>
          <a:prstGeom prst="rect">
            <a:avLst/>
          </a:prstGeom>
          <a:solidFill>
            <a:srgbClr val="66C2A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156" name="overview_r5_rank9_nightlife_per_km2"/>
          <p:cNvSpPr/>
          <p:nvPr/>
        </p:nvSpPr>
        <p:spPr>
          <a:xfrm>
            <a:off x="8656627" y="6377540"/>
            <a:ext cx="296697" cy="296697"/>
          </a:xfrm>
          <a:prstGeom prst="rect">
            <a:avLst/>
          </a:prstGeom>
          <a:solidFill>
            <a:srgbClr val="FC8D6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157" name="overview_r5_rank10_crime_lag_1"/>
          <p:cNvSpPr/>
          <p:nvPr/>
        </p:nvSpPr>
        <p:spPr>
          <a:xfrm>
            <a:off x="9152616" y="5885880"/>
            <a:ext cx="292160" cy="292160"/>
          </a:xfrm>
          <a:prstGeom prst="rect">
            <a:avLst/>
          </a:prstGeom>
          <a:solidFill>
            <a:srgbClr val="8DA0C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10. Crime lag 1
0.12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545063" y="-281432"/>
            <a:ext cx="3314327" cy="455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89" b="1">
                <a:solidFill>
                  <a:srgbClr val="FFFFFF"/>
                </a:solidFill>
                <a:latin typeface="Calibri"/>
              </a:rPr>
              <a:t>Rep 6</a:t>
            </a:r>
          </a:p>
        </p:txBody>
      </p:sp>
      <p:sp>
        <p:nvSpPr>
          <p:cNvPr id="159" name="overview_r6_neutral_older_adult_65_plus_pct"/>
          <p:cNvSpPr/>
          <p:nvPr/>
        </p:nvSpPr>
        <p:spPr>
          <a:xfrm>
            <a:off x="12491700" y="6437830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0" name="overview_r6_neutral_transit_stop_count"/>
          <p:cNvSpPr/>
          <p:nvPr/>
        </p:nvSpPr>
        <p:spPr>
          <a:xfrm>
            <a:off x="12297931" y="5393770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1" name="overview_r6_neutral_green_space_pct"/>
          <p:cNvSpPr/>
          <p:nvPr/>
        </p:nvSpPr>
        <p:spPr>
          <a:xfrm>
            <a:off x="12104043" y="5181901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2" name="overview_r6_neutral_economically_inactive_pct"/>
          <p:cNvSpPr/>
          <p:nvPr/>
        </p:nvSpPr>
        <p:spPr>
          <a:xfrm>
            <a:off x="12150209" y="4450986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3" name="overview_r6_neutral_month_cos"/>
          <p:cNvSpPr/>
          <p:nvPr/>
        </p:nvSpPr>
        <p:spPr>
          <a:xfrm>
            <a:off x="11886564" y="7928994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4" name="overview_r6_neutral_transit_stop_per_km2"/>
          <p:cNvSpPr/>
          <p:nvPr/>
        </p:nvSpPr>
        <p:spPr>
          <a:xfrm>
            <a:off x="11347954" y="4273162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5" name="overview_r6_neutral_retail_per_km2"/>
          <p:cNvSpPr/>
          <p:nvPr/>
        </p:nvSpPr>
        <p:spPr>
          <a:xfrm>
            <a:off x="11259274" y="4942817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6" name="overview_r6_neutral_no_qualifications_pct"/>
          <p:cNvSpPr/>
          <p:nvPr/>
        </p:nvSpPr>
        <p:spPr>
          <a:xfrm>
            <a:off x="11415999" y="3219297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7" name="overview_r6_neutral_crime_lag_3"/>
          <p:cNvSpPr/>
          <p:nvPr/>
        </p:nvSpPr>
        <p:spPr>
          <a:xfrm>
            <a:off x="11201060" y="5810338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8" name="overview_r6_neutral_intersection_per_km2"/>
          <p:cNvSpPr/>
          <p:nvPr/>
        </p:nvSpPr>
        <p:spPr>
          <a:xfrm>
            <a:off x="12008762" y="5247764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9" name="overview_r6_neutral_nightlife_count"/>
          <p:cNvSpPr/>
          <p:nvPr/>
        </p:nvSpPr>
        <p:spPr>
          <a:xfrm>
            <a:off x="12958138" y="4386498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0" name="overview_r6_neutral_road_length_km_per_km2"/>
          <p:cNvSpPr/>
          <p:nvPr/>
        </p:nvSpPr>
        <p:spPr>
          <a:xfrm>
            <a:off x="12142698" y="6122600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1" name="overview_r6_neutral_young_adult_15_34_pct"/>
          <p:cNvSpPr/>
          <p:nvPr/>
        </p:nvSpPr>
        <p:spPr>
          <a:xfrm>
            <a:off x="11436712" y="5665521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2" name="overview_r6_neutral_population_density_per_km2"/>
          <p:cNvSpPr/>
          <p:nvPr/>
        </p:nvSpPr>
        <p:spPr>
          <a:xfrm>
            <a:off x="10951473" y="4077583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3" name="overview_r6_neutral_month_sin"/>
          <p:cNvSpPr/>
          <p:nvPr/>
        </p:nvSpPr>
        <p:spPr>
          <a:xfrm>
            <a:off x="12070481" y="4650040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4" name="overview_r6_neutral_intersection_count"/>
          <p:cNvSpPr/>
          <p:nvPr/>
        </p:nvSpPr>
        <p:spPr>
          <a:xfrm>
            <a:off x="11485944" y="6555057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5" name="overview_r6_neutral_level4_plus_qualification_pct"/>
          <p:cNvSpPr/>
          <p:nvPr/>
        </p:nvSpPr>
        <p:spPr>
          <a:xfrm>
            <a:off x="12336532" y="6635080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6" name="overview_r6_neutral_road_length_km"/>
          <p:cNvSpPr/>
          <p:nvPr/>
        </p:nvSpPr>
        <p:spPr>
          <a:xfrm>
            <a:off x="11864122" y="3403034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7" name="overview_r6_neutral_lsoa_area_km2"/>
          <p:cNvSpPr/>
          <p:nvPr/>
        </p:nvSpPr>
        <p:spPr>
          <a:xfrm>
            <a:off x="12198289" y="4685332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8" name="overview_r6_neutral_retail_count"/>
          <p:cNvSpPr/>
          <p:nvPr/>
        </p:nvSpPr>
        <p:spPr>
          <a:xfrm>
            <a:off x="13488557" y="3826234"/>
            <a:ext cx="62084" cy="62084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9" name="overview_r6_rank1_crime_rolling_mean_6"/>
          <p:cNvSpPr/>
          <p:nvPr/>
        </p:nvSpPr>
        <p:spPr>
          <a:xfrm>
            <a:off x="11695975" y="4284190"/>
            <a:ext cx="1012503" cy="1012503"/>
          </a:xfrm>
          <a:prstGeom prst="rect">
            <a:avLst/>
          </a:prstGeom>
          <a:solidFill>
            <a:srgbClr val="E41A1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44" b="1">
                <a:solidFill>
                  <a:srgbClr val="FFFFFF"/>
                </a:solidFill>
                <a:latin typeface="Calibri"/>
              </a:rPr>
              <a:t>1. Crime roll mean 6
5.03</a:t>
            </a:r>
          </a:p>
        </p:txBody>
      </p:sp>
      <p:sp>
        <p:nvSpPr>
          <p:cNvPr id="180" name="overview_r6_rank2_crime_rolling_mean_3"/>
          <p:cNvSpPr/>
          <p:nvPr/>
        </p:nvSpPr>
        <p:spPr>
          <a:xfrm>
            <a:off x="12708480" y="4540664"/>
            <a:ext cx="611835" cy="611835"/>
          </a:xfrm>
          <a:prstGeom prst="rect">
            <a:avLst/>
          </a:prstGeom>
          <a:solidFill>
            <a:srgbClr val="377EB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2. Crime roll mean 3
1.28</a:t>
            </a:r>
          </a:p>
        </p:txBody>
      </p:sp>
      <p:sp>
        <p:nvSpPr>
          <p:cNvPr id="181" name="overview_r6_rank3_unemployed_pct_age16plus"/>
          <p:cNvSpPr/>
          <p:nvPr/>
        </p:nvSpPr>
        <p:spPr>
          <a:xfrm>
            <a:off x="12708479" y="3192569"/>
            <a:ext cx="434389" cy="434389"/>
          </a:xfrm>
          <a:prstGeom prst="rect">
            <a:avLst/>
          </a:prstGeom>
          <a:solidFill>
            <a:srgbClr val="4DAF4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3. Unemployment %
0.41</a:t>
            </a:r>
          </a:p>
        </p:txBody>
      </p:sp>
      <p:sp>
        <p:nvSpPr>
          <p:cNvPr id="182" name="overview_r6_rank4_long_term_sick_disabled_pct"/>
          <p:cNvSpPr/>
          <p:nvPr/>
        </p:nvSpPr>
        <p:spPr>
          <a:xfrm>
            <a:off x="12072142" y="2386849"/>
            <a:ext cx="422789" cy="422789"/>
          </a:xfrm>
          <a:prstGeom prst="rect">
            <a:avLst/>
          </a:prstGeom>
          <a:solidFill>
            <a:srgbClr val="984EA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183" name="overview_r6_rank5_owner_occupied_pct"/>
          <p:cNvSpPr/>
          <p:nvPr/>
        </p:nvSpPr>
        <p:spPr>
          <a:xfrm>
            <a:off x="11689217" y="2675499"/>
            <a:ext cx="382923" cy="382923"/>
          </a:xfrm>
          <a:prstGeom prst="rect">
            <a:avLst/>
          </a:prstGeom>
          <a:solidFill>
            <a:srgbClr val="FF7F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184" name="overview_r6_rank6_social_rented_pct"/>
          <p:cNvSpPr/>
          <p:nvPr/>
        </p:nvSpPr>
        <p:spPr>
          <a:xfrm>
            <a:off x="11293972" y="3677922"/>
            <a:ext cx="363212" cy="363212"/>
          </a:xfrm>
          <a:prstGeom prst="rect">
            <a:avLst/>
          </a:prstGeom>
          <a:solidFill>
            <a:srgbClr val="A6562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6. Social rented %
0.20</a:t>
            </a:r>
          </a:p>
        </p:txBody>
      </p:sp>
      <p:sp>
        <p:nvSpPr>
          <p:cNvPr id="185" name="overview_r6_rank7_crime_lag_2"/>
          <p:cNvSpPr/>
          <p:nvPr/>
        </p:nvSpPr>
        <p:spPr>
          <a:xfrm>
            <a:off x="11283793" y="5050310"/>
            <a:ext cx="340519" cy="340519"/>
          </a:xfrm>
          <a:prstGeom prst="rect">
            <a:avLst/>
          </a:prstGeom>
          <a:solidFill>
            <a:srgbClr val="F781B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7. Crime lag 2
0.14</a:t>
            </a:r>
          </a:p>
        </p:txBody>
      </p:sp>
      <p:sp>
        <p:nvSpPr>
          <p:cNvPr id="186" name="overview_r6_rank8_private_rented_pct"/>
          <p:cNvSpPr/>
          <p:nvPr/>
        </p:nvSpPr>
        <p:spPr>
          <a:xfrm>
            <a:off x="11777845" y="6477094"/>
            <a:ext cx="339099" cy="339099"/>
          </a:xfrm>
          <a:prstGeom prst="rect">
            <a:avLst/>
          </a:prstGeom>
          <a:solidFill>
            <a:srgbClr val="66C2A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187" name="overview_r6_rank9_nightlife_per_km2"/>
          <p:cNvSpPr/>
          <p:nvPr/>
        </p:nvSpPr>
        <p:spPr>
          <a:xfrm>
            <a:off x="12179894" y="6515495"/>
            <a:ext cx="333511" cy="333511"/>
          </a:xfrm>
          <a:prstGeom prst="rect">
            <a:avLst/>
          </a:prstGeom>
          <a:solidFill>
            <a:srgbClr val="FC8D6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188" name="overview_r6_rank10_crime_lag_1"/>
          <p:cNvSpPr/>
          <p:nvPr/>
        </p:nvSpPr>
        <p:spPr>
          <a:xfrm>
            <a:off x="12708480" y="5972865"/>
            <a:ext cx="327511" cy="327511"/>
          </a:xfrm>
          <a:prstGeom prst="rect">
            <a:avLst/>
          </a:prstGeom>
          <a:solidFill>
            <a:srgbClr val="8DA0C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67">
                <a:solidFill>
                  <a:srgbClr val="FFFFFF"/>
                </a:solidFill>
                <a:latin typeface="Calibri"/>
              </a:rPr>
              <a:t>10. Crime lag 1
0.12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-6920653" y="10317480"/>
            <a:ext cx="20645120" cy="568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>
                <a:solidFill>
                  <a:srgbClr val="B0B8C0"/>
                </a:solidFill>
                <a:latin typeface="Calibri"/>
              </a:rPr>
              <a:t>Rectangle size encodes |SMILE coefficient| (shared scale). Colours = top-10 by rank order (same palette in every rep); outline = remaining features. Editable shapes — not an image. Not causal.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758093" y="1055919"/>
            <a:ext cx="20320000" cy="650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direction</a:t>
            </a:r>
            <a:r>
              <a:rPr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832013" y="-200152"/>
            <a:ext cx="14467840" cy="455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p1_neutral_transit_stop_count"/>
          <p:cNvSpPr/>
          <p:nvPr/>
        </p:nvSpPr>
        <p:spPr>
          <a:xfrm>
            <a:off x="5385461" y="4982352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p1_neutral_green_space_pct"/>
          <p:cNvSpPr/>
          <p:nvPr/>
        </p:nvSpPr>
        <p:spPr>
          <a:xfrm>
            <a:off x="3553075" y="4932652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rep1_neutral_economically_inactive_pct"/>
          <p:cNvSpPr/>
          <p:nvPr/>
        </p:nvSpPr>
        <p:spPr>
          <a:xfrm>
            <a:off x="4499338" y="291962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p1_neutral_retail_per_km2"/>
          <p:cNvSpPr/>
          <p:nvPr/>
        </p:nvSpPr>
        <p:spPr>
          <a:xfrm>
            <a:off x="6038106" y="364399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p1_neutral_no_qualifications_pct"/>
          <p:cNvSpPr/>
          <p:nvPr/>
        </p:nvSpPr>
        <p:spPr>
          <a:xfrm>
            <a:off x="2769772" y="500810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p1_neutral_month_sin"/>
          <p:cNvSpPr/>
          <p:nvPr/>
        </p:nvSpPr>
        <p:spPr>
          <a:xfrm>
            <a:off x="3862528" y="474548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ep1_neutral_nightlife_count"/>
          <p:cNvSpPr/>
          <p:nvPr/>
        </p:nvSpPr>
        <p:spPr>
          <a:xfrm>
            <a:off x="6763241" y="3486674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rep1_neutral_intersection_per_km2"/>
          <p:cNvSpPr/>
          <p:nvPr/>
        </p:nvSpPr>
        <p:spPr>
          <a:xfrm>
            <a:off x="4481255" y="3815854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rep1_neutral_population_density_per_km2"/>
          <p:cNvSpPr/>
          <p:nvPr/>
        </p:nvSpPr>
        <p:spPr>
          <a:xfrm>
            <a:off x="1389138" y="4304796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rep1_neutral_road_length_km"/>
          <p:cNvSpPr/>
          <p:nvPr/>
        </p:nvSpPr>
        <p:spPr>
          <a:xfrm>
            <a:off x="1407148" y="6626437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p1_neutral_lsoa_area_km2"/>
          <p:cNvSpPr/>
          <p:nvPr/>
        </p:nvSpPr>
        <p:spPr>
          <a:xfrm>
            <a:off x="6967525" y="5051955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rep1_neutral_retail_count"/>
          <p:cNvSpPr/>
          <p:nvPr/>
        </p:nvSpPr>
        <p:spPr>
          <a:xfrm>
            <a:off x="5592096" y="6609255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rep1_rank1_crime_rolling_mean_6"/>
          <p:cNvSpPr/>
          <p:nvPr/>
        </p:nvSpPr>
        <p:spPr>
          <a:xfrm>
            <a:off x="1181342" y="2813716"/>
            <a:ext cx="4441127" cy="444112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1. Crime roll mean 6
5.07</a:t>
            </a:r>
          </a:p>
        </p:txBody>
      </p:sp>
      <p:sp>
        <p:nvSpPr>
          <p:cNvPr id="25" name="rep1_rank2_crime_rolling_mean_3"/>
          <p:cNvSpPr/>
          <p:nvPr/>
        </p:nvSpPr>
        <p:spPr>
          <a:xfrm>
            <a:off x="5622471" y="3661122"/>
            <a:ext cx="2681136" cy="26811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2. Crime roll mean 3
1.29</a:t>
            </a:r>
          </a:p>
        </p:txBody>
      </p:sp>
      <p:sp>
        <p:nvSpPr>
          <p:cNvPr id="26" name="rep1_rank3_unemployed_pct_age16plus"/>
          <p:cNvSpPr/>
          <p:nvPr/>
        </p:nvSpPr>
        <p:spPr>
          <a:xfrm>
            <a:off x="5622470" y="2558540"/>
            <a:ext cx="1900508" cy="1900508"/>
          </a:xfrm>
          <a:prstGeom prst="rect">
            <a:avLst/>
          </a:prstGeom>
          <a:solidFill>
            <a:srgbClr val="4DAF4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3. Unemployment %
0.41</a:t>
            </a:r>
          </a:p>
        </p:txBody>
      </p:sp>
      <p:sp>
        <p:nvSpPr>
          <p:cNvPr id="27" name="rep1_rank4_long_term_sick_disabled_pct"/>
          <p:cNvSpPr/>
          <p:nvPr/>
        </p:nvSpPr>
        <p:spPr>
          <a:xfrm>
            <a:off x="3520832" y="1958816"/>
            <a:ext cx="1846037" cy="18460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4. Long-term sick %
0.37</a:t>
            </a:r>
          </a:p>
        </p:txBody>
      </p:sp>
      <p:sp>
        <p:nvSpPr>
          <p:cNvPr id="28" name="rep1_rank5_owner_occupied_pct"/>
          <p:cNvSpPr/>
          <p:nvPr/>
        </p:nvSpPr>
        <p:spPr>
          <a:xfrm>
            <a:off x="1080073" y="2205877"/>
            <a:ext cx="1672587" cy="167258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5. Owner occupied %
0.25</a:t>
            </a:r>
          </a:p>
        </p:txBody>
      </p:sp>
      <p:sp>
        <p:nvSpPr>
          <p:cNvPr id="29" name="rep1_rank6_social_rented_pct"/>
          <p:cNvSpPr/>
          <p:nvPr/>
        </p:nvSpPr>
        <p:spPr>
          <a:xfrm>
            <a:off x="-574805" y="3311525"/>
            <a:ext cx="1583563" cy="15835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6. Social rented %
0.19</a:t>
            </a:r>
          </a:p>
        </p:txBody>
      </p:sp>
      <p:sp>
        <p:nvSpPr>
          <p:cNvPr id="30" name="rep1_rank7_crime_lag_2"/>
          <p:cNvSpPr/>
          <p:nvPr/>
        </p:nvSpPr>
        <p:spPr>
          <a:xfrm>
            <a:off x="-621883" y="4673527"/>
            <a:ext cx="1496350" cy="14963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7. Crime lag 2
0.15</a:t>
            </a:r>
          </a:p>
        </p:txBody>
      </p:sp>
      <p:sp>
        <p:nvSpPr>
          <p:cNvPr id="31" name="rep1_rank8_private_rented_pct"/>
          <p:cNvSpPr/>
          <p:nvPr/>
        </p:nvSpPr>
        <p:spPr>
          <a:xfrm>
            <a:off x="1100796" y="6255361"/>
            <a:ext cx="1480192" cy="1480192"/>
          </a:xfrm>
          <a:prstGeom prst="rect">
            <a:avLst/>
          </a:prstGeom>
          <a:solidFill>
            <a:srgbClr val="89A88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8. Private rented %
0.14</a:t>
            </a:r>
          </a:p>
        </p:txBody>
      </p:sp>
      <p:sp>
        <p:nvSpPr>
          <p:cNvPr id="32" name="rep1_rank9_nightlife_per_km2"/>
          <p:cNvSpPr/>
          <p:nvPr/>
        </p:nvSpPr>
        <p:spPr>
          <a:xfrm>
            <a:off x="2701720" y="6264653"/>
            <a:ext cx="1453668" cy="14536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9. Nightlife density
0.13</a:t>
            </a:r>
          </a:p>
        </p:txBody>
      </p:sp>
      <p:sp>
        <p:nvSpPr>
          <p:cNvPr id="33" name="rep1_rank10_crime_lag_1"/>
          <p:cNvSpPr/>
          <p:nvPr/>
        </p:nvSpPr>
        <p:spPr>
          <a:xfrm>
            <a:off x="5622471" y="5628805"/>
            <a:ext cx="1415476" cy="1415476"/>
          </a:xfrm>
          <a:prstGeom prst="rect">
            <a:avLst/>
          </a:prstGeom>
          <a:solidFill>
            <a:srgbClr val="8DA0C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10. Crime lag 1
0.11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471172" y="1055178"/>
            <a:ext cx="20320000" cy="650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 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2</a:t>
            </a:r>
            <a:endParaRPr sz="3200" b="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832013" y="-200152"/>
            <a:ext cx="14467840" cy="455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p1_neutral_transit_stop_count"/>
          <p:cNvSpPr/>
          <p:nvPr/>
        </p:nvSpPr>
        <p:spPr>
          <a:xfrm>
            <a:off x="5385461" y="4982352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p1_neutral_green_space_pct"/>
          <p:cNvSpPr/>
          <p:nvPr/>
        </p:nvSpPr>
        <p:spPr>
          <a:xfrm>
            <a:off x="3553075" y="4932652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rep1_neutral_economically_inactive_pct"/>
          <p:cNvSpPr/>
          <p:nvPr/>
        </p:nvSpPr>
        <p:spPr>
          <a:xfrm>
            <a:off x="4499338" y="291962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p1_neutral_retail_per_km2"/>
          <p:cNvSpPr/>
          <p:nvPr/>
        </p:nvSpPr>
        <p:spPr>
          <a:xfrm>
            <a:off x="6038106" y="364399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p1_neutral_no_qualifications_pct"/>
          <p:cNvSpPr/>
          <p:nvPr/>
        </p:nvSpPr>
        <p:spPr>
          <a:xfrm>
            <a:off x="2769772" y="500810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p1_neutral_month_sin"/>
          <p:cNvSpPr/>
          <p:nvPr/>
        </p:nvSpPr>
        <p:spPr>
          <a:xfrm>
            <a:off x="3862528" y="474548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ep1_neutral_nightlife_count"/>
          <p:cNvSpPr/>
          <p:nvPr/>
        </p:nvSpPr>
        <p:spPr>
          <a:xfrm>
            <a:off x="6763241" y="3486674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rep1_neutral_intersection_per_km2"/>
          <p:cNvSpPr/>
          <p:nvPr/>
        </p:nvSpPr>
        <p:spPr>
          <a:xfrm>
            <a:off x="4481255" y="3815854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rep1_neutral_population_density_per_km2"/>
          <p:cNvSpPr/>
          <p:nvPr/>
        </p:nvSpPr>
        <p:spPr>
          <a:xfrm>
            <a:off x="1389138" y="4304796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rep1_neutral_road_length_km"/>
          <p:cNvSpPr/>
          <p:nvPr/>
        </p:nvSpPr>
        <p:spPr>
          <a:xfrm>
            <a:off x="1407148" y="6626437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p1_neutral_lsoa_area_km2"/>
          <p:cNvSpPr/>
          <p:nvPr/>
        </p:nvSpPr>
        <p:spPr>
          <a:xfrm>
            <a:off x="6967525" y="5051955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rep1_neutral_retail_count"/>
          <p:cNvSpPr/>
          <p:nvPr/>
        </p:nvSpPr>
        <p:spPr>
          <a:xfrm>
            <a:off x="5592096" y="6609255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rep1_rank1_crime_rolling_mean_6"/>
          <p:cNvSpPr/>
          <p:nvPr/>
        </p:nvSpPr>
        <p:spPr>
          <a:xfrm>
            <a:off x="1181342" y="2813716"/>
            <a:ext cx="4441127" cy="444112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1. Crime roll mean 6
5.07</a:t>
            </a:r>
          </a:p>
        </p:txBody>
      </p:sp>
      <p:sp>
        <p:nvSpPr>
          <p:cNvPr id="25" name="rep1_rank2_crime_rolling_mean_3"/>
          <p:cNvSpPr/>
          <p:nvPr/>
        </p:nvSpPr>
        <p:spPr>
          <a:xfrm>
            <a:off x="5622471" y="3661122"/>
            <a:ext cx="2681136" cy="26811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2. Crime roll mean 3
1.29</a:t>
            </a:r>
          </a:p>
        </p:txBody>
      </p:sp>
      <p:sp>
        <p:nvSpPr>
          <p:cNvPr id="26" name="rep1_rank3_unemployed_pct_age16plus"/>
          <p:cNvSpPr/>
          <p:nvPr/>
        </p:nvSpPr>
        <p:spPr>
          <a:xfrm>
            <a:off x="5622470" y="2558540"/>
            <a:ext cx="1900508" cy="1900508"/>
          </a:xfrm>
          <a:prstGeom prst="rect">
            <a:avLst/>
          </a:prstGeom>
          <a:solidFill>
            <a:srgbClr val="4DAF4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3. Unemployment %
0.41</a:t>
            </a:r>
          </a:p>
        </p:txBody>
      </p:sp>
      <p:sp>
        <p:nvSpPr>
          <p:cNvPr id="27" name="rep1_rank4_long_term_sick_disabled_pct"/>
          <p:cNvSpPr/>
          <p:nvPr/>
        </p:nvSpPr>
        <p:spPr>
          <a:xfrm>
            <a:off x="3520832" y="1958816"/>
            <a:ext cx="1846037" cy="18460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4. Long-term sick %
0.37</a:t>
            </a:r>
          </a:p>
        </p:txBody>
      </p:sp>
      <p:sp>
        <p:nvSpPr>
          <p:cNvPr id="28" name="rep1_rank5_owner_occupied_pct"/>
          <p:cNvSpPr/>
          <p:nvPr/>
        </p:nvSpPr>
        <p:spPr>
          <a:xfrm>
            <a:off x="1080073" y="2205877"/>
            <a:ext cx="1672587" cy="167258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5. Owner occupied %
0.25</a:t>
            </a:r>
          </a:p>
        </p:txBody>
      </p:sp>
      <p:sp>
        <p:nvSpPr>
          <p:cNvPr id="29" name="rep1_rank6_social_rented_pct"/>
          <p:cNvSpPr/>
          <p:nvPr/>
        </p:nvSpPr>
        <p:spPr>
          <a:xfrm>
            <a:off x="-574805" y="3311525"/>
            <a:ext cx="1583563" cy="15835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6. Social rented %
0.19</a:t>
            </a:r>
          </a:p>
        </p:txBody>
      </p:sp>
      <p:sp>
        <p:nvSpPr>
          <p:cNvPr id="30" name="rep1_rank7_crime_lag_2"/>
          <p:cNvSpPr/>
          <p:nvPr/>
        </p:nvSpPr>
        <p:spPr>
          <a:xfrm>
            <a:off x="-621883" y="4673527"/>
            <a:ext cx="1496350" cy="14963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7. Crime lag 2
0.15</a:t>
            </a:r>
          </a:p>
        </p:txBody>
      </p:sp>
      <p:sp>
        <p:nvSpPr>
          <p:cNvPr id="31" name="rep1_rank8_private_rented_pct"/>
          <p:cNvSpPr/>
          <p:nvPr/>
        </p:nvSpPr>
        <p:spPr>
          <a:xfrm>
            <a:off x="1100796" y="6255361"/>
            <a:ext cx="1480192" cy="1480192"/>
          </a:xfrm>
          <a:prstGeom prst="rect">
            <a:avLst/>
          </a:prstGeom>
          <a:solidFill>
            <a:srgbClr val="89A88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8. Private rented %
0.14</a:t>
            </a:r>
          </a:p>
        </p:txBody>
      </p:sp>
      <p:sp>
        <p:nvSpPr>
          <p:cNvPr id="32" name="rep1_rank9_nightlife_per_km2"/>
          <p:cNvSpPr/>
          <p:nvPr/>
        </p:nvSpPr>
        <p:spPr>
          <a:xfrm>
            <a:off x="2701720" y="6264653"/>
            <a:ext cx="1453668" cy="14536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9. Nightlife density
0.13</a:t>
            </a:r>
          </a:p>
        </p:txBody>
      </p:sp>
      <p:sp>
        <p:nvSpPr>
          <p:cNvPr id="33" name="rep1_rank10_crime_lag_1"/>
          <p:cNvSpPr/>
          <p:nvPr/>
        </p:nvSpPr>
        <p:spPr>
          <a:xfrm>
            <a:off x="5622471" y="5628805"/>
            <a:ext cx="1415476" cy="1415476"/>
          </a:xfrm>
          <a:prstGeom prst="rect">
            <a:avLst/>
          </a:prstGeom>
          <a:solidFill>
            <a:srgbClr val="8DA0C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10. Crime lag 1
0.11</a:t>
            </a:r>
          </a:p>
        </p:txBody>
      </p:sp>
    </p:spTree>
    <p:extLst>
      <p:ext uri="{BB962C8B-B14F-4D97-AF65-F5344CB8AC3E}">
        <p14:creationId xmlns:p14="http://schemas.microsoft.com/office/powerpoint/2010/main" val="12438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917119" y="1107953"/>
            <a:ext cx="20320000" cy="650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 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3</a:t>
            </a:r>
            <a:endParaRPr sz="3200" b="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832013" y="-200152"/>
            <a:ext cx="14467840" cy="455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p1_neutral_transit_stop_count"/>
          <p:cNvSpPr/>
          <p:nvPr/>
        </p:nvSpPr>
        <p:spPr>
          <a:xfrm>
            <a:off x="5385461" y="4982352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p1_neutral_green_space_pct"/>
          <p:cNvSpPr/>
          <p:nvPr/>
        </p:nvSpPr>
        <p:spPr>
          <a:xfrm>
            <a:off x="3553075" y="4932652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rep1_neutral_economically_inactive_pct"/>
          <p:cNvSpPr/>
          <p:nvPr/>
        </p:nvSpPr>
        <p:spPr>
          <a:xfrm>
            <a:off x="4499338" y="291962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p1_neutral_retail_per_km2"/>
          <p:cNvSpPr/>
          <p:nvPr/>
        </p:nvSpPr>
        <p:spPr>
          <a:xfrm>
            <a:off x="6038106" y="364399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p1_neutral_no_qualifications_pct"/>
          <p:cNvSpPr/>
          <p:nvPr/>
        </p:nvSpPr>
        <p:spPr>
          <a:xfrm>
            <a:off x="2769772" y="500810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p1_neutral_month_sin"/>
          <p:cNvSpPr/>
          <p:nvPr/>
        </p:nvSpPr>
        <p:spPr>
          <a:xfrm>
            <a:off x="3862528" y="474548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ep1_neutral_nightlife_count"/>
          <p:cNvSpPr/>
          <p:nvPr/>
        </p:nvSpPr>
        <p:spPr>
          <a:xfrm>
            <a:off x="6763241" y="3486674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rep1_neutral_intersection_per_km2"/>
          <p:cNvSpPr/>
          <p:nvPr/>
        </p:nvSpPr>
        <p:spPr>
          <a:xfrm>
            <a:off x="4481255" y="3815854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rep1_neutral_population_density_per_km2"/>
          <p:cNvSpPr/>
          <p:nvPr/>
        </p:nvSpPr>
        <p:spPr>
          <a:xfrm>
            <a:off x="1389138" y="4304796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rep1_neutral_road_length_km"/>
          <p:cNvSpPr/>
          <p:nvPr/>
        </p:nvSpPr>
        <p:spPr>
          <a:xfrm>
            <a:off x="1407148" y="6626437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p1_neutral_lsoa_area_km2"/>
          <p:cNvSpPr/>
          <p:nvPr/>
        </p:nvSpPr>
        <p:spPr>
          <a:xfrm>
            <a:off x="6967525" y="5051955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rep1_neutral_retail_count"/>
          <p:cNvSpPr/>
          <p:nvPr/>
        </p:nvSpPr>
        <p:spPr>
          <a:xfrm>
            <a:off x="5592096" y="6609255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rep1_rank1_crime_rolling_mean_6"/>
          <p:cNvSpPr/>
          <p:nvPr/>
        </p:nvSpPr>
        <p:spPr>
          <a:xfrm>
            <a:off x="1181342" y="2813716"/>
            <a:ext cx="4441127" cy="444112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1. Crime roll mean 6
5.0</a:t>
            </a:r>
            <a:r>
              <a:rPr lang="en-GB" sz="2311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5</a:t>
            </a:r>
            <a:endParaRPr sz="2311" b="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5" name="rep1_rank2_crime_rolling_mean_3"/>
          <p:cNvSpPr/>
          <p:nvPr/>
        </p:nvSpPr>
        <p:spPr>
          <a:xfrm>
            <a:off x="5622471" y="3661122"/>
            <a:ext cx="2681136" cy="26811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2. Crime roll mean 3
1.2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7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6" name="rep1_rank3_unemployed_pct_age16plus"/>
          <p:cNvSpPr/>
          <p:nvPr/>
        </p:nvSpPr>
        <p:spPr>
          <a:xfrm>
            <a:off x="5622470" y="2558540"/>
            <a:ext cx="1900508" cy="1900508"/>
          </a:xfrm>
          <a:prstGeom prst="rect">
            <a:avLst/>
          </a:prstGeom>
          <a:solidFill>
            <a:srgbClr val="4DAF4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3. Unemployment %
0.41</a:t>
            </a:r>
          </a:p>
        </p:txBody>
      </p:sp>
      <p:sp>
        <p:nvSpPr>
          <p:cNvPr id="27" name="rep1_rank4_long_term_sick_disabled_pct"/>
          <p:cNvSpPr/>
          <p:nvPr/>
        </p:nvSpPr>
        <p:spPr>
          <a:xfrm>
            <a:off x="3520832" y="1958816"/>
            <a:ext cx="1846037" cy="18460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4. Long-term sick %
0.37</a:t>
            </a:r>
          </a:p>
        </p:txBody>
      </p:sp>
      <p:sp>
        <p:nvSpPr>
          <p:cNvPr id="28" name="rep1_rank5_owner_occupied_pct"/>
          <p:cNvSpPr/>
          <p:nvPr/>
        </p:nvSpPr>
        <p:spPr>
          <a:xfrm>
            <a:off x="1080073" y="2205877"/>
            <a:ext cx="1672587" cy="167258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5. Owner occupied %
0.25</a:t>
            </a:r>
          </a:p>
        </p:txBody>
      </p:sp>
      <p:sp>
        <p:nvSpPr>
          <p:cNvPr id="29" name="rep1_rank6_social_rented_pct"/>
          <p:cNvSpPr/>
          <p:nvPr/>
        </p:nvSpPr>
        <p:spPr>
          <a:xfrm>
            <a:off x="-574805" y="3311525"/>
            <a:ext cx="1583563" cy="15835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6. Social rented %
0.19</a:t>
            </a:r>
          </a:p>
        </p:txBody>
      </p:sp>
      <p:sp>
        <p:nvSpPr>
          <p:cNvPr id="30" name="rep1_rank7_crime_lag_2"/>
          <p:cNvSpPr/>
          <p:nvPr/>
        </p:nvSpPr>
        <p:spPr>
          <a:xfrm>
            <a:off x="-621883" y="4673527"/>
            <a:ext cx="1496350" cy="14963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7. Crime lag 2
0.15</a:t>
            </a:r>
          </a:p>
        </p:txBody>
      </p:sp>
      <p:sp>
        <p:nvSpPr>
          <p:cNvPr id="31" name="rep1_rank8_private_rented_pct"/>
          <p:cNvSpPr/>
          <p:nvPr/>
        </p:nvSpPr>
        <p:spPr>
          <a:xfrm>
            <a:off x="1100796" y="6255361"/>
            <a:ext cx="1480192" cy="1480192"/>
          </a:xfrm>
          <a:prstGeom prst="rect">
            <a:avLst/>
          </a:prstGeom>
          <a:solidFill>
            <a:srgbClr val="89A88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8. Private rented %
0.14</a:t>
            </a:r>
          </a:p>
        </p:txBody>
      </p:sp>
      <p:sp>
        <p:nvSpPr>
          <p:cNvPr id="32" name="rep1_rank9_nightlife_per_km2"/>
          <p:cNvSpPr/>
          <p:nvPr/>
        </p:nvSpPr>
        <p:spPr>
          <a:xfrm>
            <a:off x="2701720" y="6264653"/>
            <a:ext cx="1453668" cy="14536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9. Nightlife density
0.13</a:t>
            </a:r>
          </a:p>
        </p:txBody>
      </p:sp>
      <p:sp>
        <p:nvSpPr>
          <p:cNvPr id="33" name="rep1_rank10_crime_lag_1"/>
          <p:cNvSpPr/>
          <p:nvPr/>
        </p:nvSpPr>
        <p:spPr>
          <a:xfrm>
            <a:off x="5622471" y="5628805"/>
            <a:ext cx="1415476" cy="1415476"/>
          </a:xfrm>
          <a:prstGeom prst="rect">
            <a:avLst/>
          </a:prstGeom>
          <a:solidFill>
            <a:srgbClr val="8DA0C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10. Crime lag 1
0.11</a:t>
            </a:r>
          </a:p>
        </p:txBody>
      </p:sp>
    </p:spTree>
    <p:extLst>
      <p:ext uri="{BB962C8B-B14F-4D97-AF65-F5344CB8AC3E}">
        <p14:creationId xmlns:p14="http://schemas.microsoft.com/office/powerpoint/2010/main" val="1723317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987796" y="1143069"/>
            <a:ext cx="20320000" cy="650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 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4</a:t>
            </a:r>
            <a:endParaRPr sz="3200" b="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832013" y="-200152"/>
            <a:ext cx="14467840" cy="455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p1_neutral_transit_stop_count"/>
          <p:cNvSpPr/>
          <p:nvPr/>
        </p:nvSpPr>
        <p:spPr>
          <a:xfrm>
            <a:off x="5385461" y="4982352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p1_neutral_green_space_pct"/>
          <p:cNvSpPr/>
          <p:nvPr/>
        </p:nvSpPr>
        <p:spPr>
          <a:xfrm>
            <a:off x="3553075" y="4932652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rep1_neutral_economically_inactive_pct"/>
          <p:cNvSpPr/>
          <p:nvPr/>
        </p:nvSpPr>
        <p:spPr>
          <a:xfrm>
            <a:off x="4499338" y="291962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p1_neutral_retail_per_km2"/>
          <p:cNvSpPr/>
          <p:nvPr/>
        </p:nvSpPr>
        <p:spPr>
          <a:xfrm>
            <a:off x="6038106" y="364399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p1_neutral_no_qualifications_pct"/>
          <p:cNvSpPr/>
          <p:nvPr/>
        </p:nvSpPr>
        <p:spPr>
          <a:xfrm>
            <a:off x="2769772" y="500810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p1_neutral_month_sin"/>
          <p:cNvSpPr/>
          <p:nvPr/>
        </p:nvSpPr>
        <p:spPr>
          <a:xfrm>
            <a:off x="3862528" y="474548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ep1_neutral_nightlife_count"/>
          <p:cNvSpPr/>
          <p:nvPr/>
        </p:nvSpPr>
        <p:spPr>
          <a:xfrm>
            <a:off x="6763241" y="3486674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rep1_neutral_intersection_per_km2"/>
          <p:cNvSpPr/>
          <p:nvPr/>
        </p:nvSpPr>
        <p:spPr>
          <a:xfrm>
            <a:off x="4481255" y="3815854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rep1_neutral_population_density_per_km2"/>
          <p:cNvSpPr/>
          <p:nvPr/>
        </p:nvSpPr>
        <p:spPr>
          <a:xfrm>
            <a:off x="1389138" y="4304796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rep1_neutral_road_length_km"/>
          <p:cNvSpPr/>
          <p:nvPr/>
        </p:nvSpPr>
        <p:spPr>
          <a:xfrm>
            <a:off x="1407148" y="6626437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p1_neutral_lsoa_area_km2"/>
          <p:cNvSpPr/>
          <p:nvPr/>
        </p:nvSpPr>
        <p:spPr>
          <a:xfrm>
            <a:off x="6967525" y="5051955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rep1_neutral_retail_count"/>
          <p:cNvSpPr/>
          <p:nvPr/>
        </p:nvSpPr>
        <p:spPr>
          <a:xfrm>
            <a:off x="5592096" y="6609255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rep1_rank1_crime_rolling_mean_6"/>
          <p:cNvSpPr/>
          <p:nvPr/>
        </p:nvSpPr>
        <p:spPr>
          <a:xfrm>
            <a:off x="1181342" y="2813716"/>
            <a:ext cx="4441127" cy="444112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1. Crime roll mean 6
5.0</a:t>
            </a:r>
            <a:r>
              <a:rPr lang="en-GB" sz="2311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4</a:t>
            </a:r>
            <a:endParaRPr sz="2311" b="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5" name="rep1_rank2_crime_rolling_mean_3"/>
          <p:cNvSpPr/>
          <p:nvPr/>
        </p:nvSpPr>
        <p:spPr>
          <a:xfrm>
            <a:off x="5622471" y="3661122"/>
            <a:ext cx="2681136" cy="26811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2. Crime roll mean 3
1.2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8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6" name="rep1_rank3_unemployed_pct_age16plus"/>
          <p:cNvSpPr/>
          <p:nvPr/>
        </p:nvSpPr>
        <p:spPr>
          <a:xfrm>
            <a:off x="5622470" y="2558540"/>
            <a:ext cx="1900508" cy="1900508"/>
          </a:xfrm>
          <a:prstGeom prst="rect">
            <a:avLst/>
          </a:prstGeom>
          <a:solidFill>
            <a:srgbClr val="4DAF4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3. Unemployment %
0.4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2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7" name="rep1_rank4_long_term_sick_disabled_pct"/>
          <p:cNvSpPr/>
          <p:nvPr/>
        </p:nvSpPr>
        <p:spPr>
          <a:xfrm>
            <a:off x="3520832" y="1958816"/>
            <a:ext cx="1846037" cy="18460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4. Long-term sick %
0.37</a:t>
            </a:r>
          </a:p>
        </p:txBody>
      </p:sp>
      <p:sp>
        <p:nvSpPr>
          <p:cNvPr id="28" name="rep1_rank5_owner_occupied_pct"/>
          <p:cNvSpPr/>
          <p:nvPr/>
        </p:nvSpPr>
        <p:spPr>
          <a:xfrm>
            <a:off x="1080073" y="2205877"/>
            <a:ext cx="1672587" cy="167258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5. Owner occupied %
0.25</a:t>
            </a:r>
          </a:p>
        </p:txBody>
      </p:sp>
      <p:sp>
        <p:nvSpPr>
          <p:cNvPr id="29" name="rep1_rank6_social_rented_pct"/>
          <p:cNvSpPr/>
          <p:nvPr/>
        </p:nvSpPr>
        <p:spPr>
          <a:xfrm>
            <a:off x="-574805" y="3311525"/>
            <a:ext cx="1583563" cy="15835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6. Social rented %
0.19</a:t>
            </a:r>
          </a:p>
        </p:txBody>
      </p:sp>
      <p:sp>
        <p:nvSpPr>
          <p:cNvPr id="30" name="rep1_rank7_crime_lag_2"/>
          <p:cNvSpPr/>
          <p:nvPr/>
        </p:nvSpPr>
        <p:spPr>
          <a:xfrm>
            <a:off x="-621883" y="4673527"/>
            <a:ext cx="1496350" cy="14963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7. Crime lag 2
0.15</a:t>
            </a:r>
          </a:p>
        </p:txBody>
      </p:sp>
      <p:sp>
        <p:nvSpPr>
          <p:cNvPr id="31" name="rep1_rank8_private_rented_pct"/>
          <p:cNvSpPr/>
          <p:nvPr/>
        </p:nvSpPr>
        <p:spPr>
          <a:xfrm>
            <a:off x="1100796" y="6255361"/>
            <a:ext cx="1480192" cy="1480192"/>
          </a:xfrm>
          <a:prstGeom prst="rect">
            <a:avLst/>
          </a:prstGeom>
          <a:solidFill>
            <a:srgbClr val="89A88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8. Private rented %
0.14</a:t>
            </a:r>
          </a:p>
        </p:txBody>
      </p:sp>
      <p:sp>
        <p:nvSpPr>
          <p:cNvPr id="32" name="rep1_rank9_nightlife_per_km2"/>
          <p:cNvSpPr/>
          <p:nvPr/>
        </p:nvSpPr>
        <p:spPr>
          <a:xfrm>
            <a:off x="2701720" y="6264653"/>
            <a:ext cx="1453668" cy="14536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9. Nightlife density
0.13</a:t>
            </a:r>
          </a:p>
        </p:txBody>
      </p:sp>
      <p:sp>
        <p:nvSpPr>
          <p:cNvPr id="33" name="rep1_rank10_crime_lag_1"/>
          <p:cNvSpPr/>
          <p:nvPr/>
        </p:nvSpPr>
        <p:spPr>
          <a:xfrm>
            <a:off x="5622471" y="5628805"/>
            <a:ext cx="1415476" cy="1415476"/>
          </a:xfrm>
          <a:prstGeom prst="rect">
            <a:avLst/>
          </a:prstGeom>
          <a:solidFill>
            <a:srgbClr val="8DA0C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10. Crime lag 1
0.1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2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2716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3832013" y="-200152"/>
            <a:ext cx="14467840" cy="455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p1_neutral_transit_stop_count"/>
          <p:cNvSpPr/>
          <p:nvPr/>
        </p:nvSpPr>
        <p:spPr>
          <a:xfrm>
            <a:off x="5385461" y="4982352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p1_neutral_green_space_pct"/>
          <p:cNvSpPr/>
          <p:nvPr/>
        </p:nvSpPr>
        <p:spPr>
          <a:xfrm>
            <a:off x="3553075" y="4932652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rep1_neutral_economically_inactive_pct"/>
          <p:cNvSpPr/>
          <p:nvPr/>
        </p:nvSpPr>
        <p:spPr>
          <a:xfrm>
            <a:off x="4499338" y="291962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p1_neutral_retail_per_km2"/>
          <p:cNvSpPr/>
          <p:nvPr/>
        </p:nvSpPr>
        <p:spPr>
          <a:xfrm>
            <a:off x="6038106" y="364399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p1_neutral_no_qualifications_pct"/>
          <p:cNvSpPr/>
          <p:nvPr/>
        </p:nvSpPr>
        <p:spPr>
          <a:xfrm>
            <a:off x="2769772" y="500810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p1_neutral_month_sin"/>
          <p:cNvSpPr/>
          <p:nvPr/>
        </p:nvSpPr>
        <p:spPr>
          <a:xfrm>
            <a:off x="3862528" y="474548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ep1_neutral_nightlife_count"/>
          <p:cNvSpPr/>
          <p:nvPr/>
        </p:nvSpPr>
        <p:spPr>
          <a:xfrm>
            <a:off x="6763241" y="3486674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rep1_neutral_intersection_per_km2"/>
          <p:cNvSpPr/>
          <p:nvPr/>
        </p:nvSpPr>
        <p:spPr>
          <a:xfrm>
            <a:off x="4481255" y="3815854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rep1_neutral_population_density_per_km2"/>
          <p:cNvSpPr/>
          <p:nvPr/>
        </p:nvSpPr>
        <p:spPr>
          <a:xfrm>
            <a:off x="1389138" y="4304796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rep1_neutral_road_length_km"/>
          <p:cNvSpPr/>
          <p:nvPr/>
        </p:nvSpPr>
        <p:spPr>
          <a:xfrm>
            <a:off x="1407148" y="6626437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p1_neutral_lsoa_area_km2"/>
          <p:cNvSpPr/>
          <p:nvPr/>
        </p:nvSpPr>
        <p:spPr>
          <a:xfrm>
            <a:off x="6967525" y="5051955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rep1_neutral_retail_count"/>
          <p:cNvSpPr/>
          <p:nvPr/>
        </p:nvSpPr>
        <p:spPr>
          <a:xfrm>
            <a:off x="5592096" y="6609255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rep1_rank1_crime_rolling_mean_6"/>
          <p:cNvSpPr/>
          <p:nvPr/>
        </p:nvSpPr>
        <p:spPr>
          <a:xfrm>
            <a:off x="1181342" y="2813716"/>
            <a:ext cx="4441127" cy="444112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1. Crime roll mean 6
5.0</a:t>
            </a:r>
            <a:r>
              <a:rPr lang="en-GB" sz="2311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1</a:t>
            </a:r>
            <a:endParaRPr sz="2311" b="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5" name="rep1_rank2_crime_rolling_mean_3"/>
          <p:cNvSpPr/>
          <p:nvPr/>
        </p:nvSpPr>
        <p:spPr>
          <a:xfrm>
            <a:off x="5622471" y="3661122"/>
            <a:ext cx="2681136" cy="26811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2. Crime roll mean 3
1.2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7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6" name="rep1_rank3_unemployed_pct_age16plus"/>
          <p:cNvSpPr/>
          <p:nvPr/>
        </p:nvSpPr>
        <p:spPr>
          <a:xfrm>
            <a:off x="5622470" y="2558540"/>
            <a:ext cx="1900508" cy="1900508"/>
          </a:xfrm>
          <a:prstGeom prst="rect">
            <a:avLst/>
          </a:prstGeom>
          <a:solidFill>
            <a:srgbClr val="4DAF4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3. Unemployment %
0.4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0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7" name="rep1_rank4_long_term_sick_disabled_pct"/>
          <p:cNvSpPr/>
          <p:nvPr/>
        </p:nvSpPr>
        <p:spPr>
          <a:xfrm>
            <a:off x="3520832" y="1958816"/>
            <a:ext cx="1846037" cy="18460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4. Long-term sick %
0.3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8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8" name="rep1_rank5_owner_occupied_pct"/>
          <p:cNvSpPr/>
          <p:nvPr/>
        </p:nvSpPr>
        <p:spPr>
          <a:xfrm>
            <a:off x="1080073" y="2205877"/>
            <a:ext cx="1672587" cy="167258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5. Owner occupied %
0.2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4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9" name="rep1_rank6_social_rented_pct"/>
          <p:cNvSpPr/>
          <p:nvPr/>
        </p:nvSpPr>
        <p:spPr>
          <a:xfrm>
            <a:off x="-574805" y="3311525"/>
            <a:ext cx="1583563" cy="15835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6. Social rented %
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0.20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30" name="rep1_rank7_crime_lag_2"/>
          <p:cNvSpPr/>
          <p:nvPr/>
        </p:nvSpPr>
        <p:spPr>
          <a:xfrm>
            <a:off x="-621883" y="4673527"/>
            <a:ext cx="1496350" cy="14963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7. Crime lag 2
0.15</a:t>
            </a:r>
          </a:p>
        </p:txBody>
      </p:sp>
      <p:sp>
        <p:nvSpPr>
          <p:cNvPr id="31" name="rep1_rank8_private_rented_pct"/>
          <p:cNvSpPr/>
          <p:nvPr/>
        </p:nvSpPr>
        <p:spPr>
          <a:xfrm>
            <a:off x="1100796" y="6255361"/>
            <a:ext cx="1480192" cy="1480192"/>
          </a:xfrm>
          <a:prstGeom prst="rect">
            <a:avLst/>
          </a:prstGeom>
          <a:solidFill>
            <a:srgbClr val="89A88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8. Private rented %
0.14</a:t>
            </a:r>
          </a:p>
        </p:txBody>
      </p:sp>
      <p:sp>
        <p:nvSpPr>
          <p:cNvPr id="32" name="rep1_rank9_nightlife_per_km2"/>
          <p:cNvSpPr/>
          <p:nvPr/>
        </p:nvSpPr>
        <p:spPr>
          <a:xfrm>
            <a:off x="2701720" y="6264653"/>
            <a:ext cx="1453668" cy="14536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9. Nightlife density
0.13</a:t>
            </a:r>
          </a:p>
        </p:txBody>
      </p:sp>
      <p:sp>
        <p:nvSpPr>
          <p:cNvPr id="33" name="rep1_rank10_crime_lag_1"/>
          <p:cNvSpPr/>
          <p:nvPr/>
        </p:nvSpPr>
        <p:spPr>
          <a:xfrm>
            <a:off x="5622471" y="5628805"/>
            <a:ext cx="1415476" cy="1415476"/>
          </a:xfrm>
          <a:prstGeom prst="rect">
            <a:avLst/>
          </a:prstGeom>
          <a:solidFill>
            <a:srgbClr val="8DA0C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10. Crime lag 1
0.1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2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31C16D-7449-472A-A660-AE72299D767B}"/>
              </a:ext>
            </a:extLst>
          </p:cNvPr>
          <p:cNvSpPr txBox="1"/>
          <p:nvPr/>
        </p:nvSpPr>
        <p:spPr>
          <a:xfrm>
            <a:off x="-6952460" y="1214525"/>
            <a:ext cx="20320000" cy="650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 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5</a:t>
            </a:r>
            <a:endParaRPr sz="3200" b="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936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606925" y="1074732"/>
            <a:ext cx="20320000" cy="650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 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6</a:t>
            </a:r>
            <a:endParaRPr sz="3200" b="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832013" y="-200152"/>
            <a:ext cx="14467840" cy="455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p1_neutral_transit_stop_count"/>
          <p:cNvSpPr/>
          <p:nvPr/>
        </p:nvSpPr>
        <p:spPr>
          <a:xfrm>
            <a:off x="5385461" y="4982352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p1_neutral_green_space_pct"/>
          <p:cNvSpPr/>
          <p:nvPr/>
        </p:nvSpPr>
        <p:spPr>
          <a:xfrm>
            <a:off x="3553075" y="4932652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rep1_neutral_economically_inactive_pct"/>
          <p:cNvSpPr/>
          <p:nvPr/>
        </p:nvSpPr>
        <p:spPr>
          <a:xfrm>
            <a:off x="4499338" y="291962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p1_neutral_retail_per_km2"/>
          <p:cNvSpPr/>
          <p:nvPr/>
        </p:nvSpPr>
        <p:spPr>
          <a:xfrm>
            <a:off x="6038106" y="364399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p1_neutral_no_qualifications_pct"/>
          <p:cNvSpPr/>
          <p:nvPr/>
        </p:nvSpPr>
        <p:spPr>
          <a:xfrm>
            <a:off x="2769772" y="500810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p1_neutral_month_sin"/>
          <p:cNvSpPr/>
          <p:nvPr/>
        </p:nvSpPr>
        <p:spPr>
          <a:xfrm>
            <a:off x="3862528" y="4745488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ep1_neutral_nightlife_count"/>
          <p:cNvSpPr/>
          <p:nvPr/>
        </p:nvSpPr>
        <p:spPr>
          <a:xfrm>
            <a:off x="6763241" y="3486674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rep1_neutral_intersection_per_km2"/>
          <p:cNvSpPr/>
          <p:nvPr/>
        </p:nvSpPr>
        <p:spPr>
          <a:xfrm>
            <a:off x="4481255" y="3815854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rep1_neutral_population_density_per_km2"/>
          <p:cNvSpPr/>
          <p:nvPr/>
        </p:nvSpPr>
        <p:spPr>
          <a:xfrm>
            <a:off x="1389138" y="4304796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rep1_neutral_road_length_km"/>
          <p:cNvSpPr/>
          <p:nvPr/>
        </p:nvSpPr>
        <p:spPr>
          <a:xfrm>
            <a:off x="1407148" y="6626437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p1_neutral_lsoa_area_km2"/>
          <p:cNvSpPr/>
          <p:nvPr/>
        </p:nvSpPr>
        <p:spPr>
          <a:xfrm>
            <a:off x="6967525" y="5051955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rep1_neutral_retail_count"/>
          <p:cNvSpPr/>
          <p:nvPr/>
        </p:nvSpPr>
        <p:spPr>
          <a:xfrm>
            <a:off x="5592096" y="6609255"/>
            <a:ext cx="271508" cy="2715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1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rep1_rank1_crime_rolling_mean_6"/>
          <p:cNvSpPr/>
          <p:nvPr/>
        </p:nvSpPr>
        <p:spPr>
          <a:xfrm>
            <a:off x="1181342" y="2813716"/>
            <a:ext cx="4441127" cy="444112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1. Crime roll mean 6
5.0</a:t>
            </a:r>
            <a:r>
              <a:rPr lang="en-GB" sz="2311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3</a:t>
            </a:r>
            <a:endParaRPr sz="2311" b="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5" name="rep1_rank2_crime_rolling_mean_3"/>
          <p:cNvSpPr/>
          <p:nvPr/>
        </p:nvSpPr>
        <p:spPr>
          <a:xfrm>
            <a:off x="5622471" y="3661122"/>
            <a:ext cx="2681136" cy="26811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2. Crime roll mean 3
1.2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8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6" name="rep1_rank3_unemployed_pct_age16plus"/>
          <p:cNvSpPr/>
          <p:nvPr/>
        </p:nvSpPr>
        <p:spPr>
          <a:xfrm>
            <a:off x="5622470" y="2558540"/>
            <a:ext cx="1900508" cy="1900508"/>
          </a:xfrm>
          <a:prstGeom prst="rect">
            <a:avLst/>
          </a:prstGeom>
          <a:solidFill>
            <a:srgbClr val="4DAF4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3. Unemployment %
0.4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1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7" name="rep1_rank4_long_term_sick_disabled_pct"/>
          <p:cNvSpPr/>
          <p:nvPr/>
        </p:nvSpPr>
        <p:spPr>
          <a:xfrm>
            <a:off x="3520832" y="1958816"/>
            <a:ext cx="1846037" cy="18460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4. Long-term sick %
0.3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7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8" name="rep1_rank5_owner_occupied_pct"/>
          <p:cNvSpPr/>
          <p:nvPr/>
        </p:nvSpPr>
        <p:spPr>
          <a:xfrm>
            <a:off x="1080073" y="2205877"/>
            <a:ext cx="1672587" cy="167258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5. Owner occupied %
0.2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5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29" name="rep1_rank6_social_rented_pct"/>
          <p:cNvSpPr/>
          <p:nvPr/>
        </p:nvSpPr>
        <p:spPr>
          <a:xfrm>
            <a:off x="-574805" y="3311525"/>
            <a:ext cx="1583563" cy="15835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6. Social rented %
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0.20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30" name="rep1_rank7_crime_lag_2"/>
          <p:cNvSpPr/>
          <p:nvPr/>
        </p:nvSpPr>
        <p:spPr>
          <a:xfrm>
            <a:off x="-621883" y="4673527"/>
            <a:ext cx="1496350" cy="14963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7. Crime lag 2
0.1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4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31" name="rep1_rank8_private_rented_pct"/>
          <p:cNvSpPr/>
          <p:nvPr/>
        </p:nvSpPr>
        <p:spPr>
          <a:xfrm>
            <a:off x="1100796" y="6255361"/>
            <a:ext cx="1480192" cy="1480192"/>
          </a:xfrm>
          <a:prstGeom prst="rect">
            <a:avLst/>
          </a:prstGeom>
          <a:solidFill>
            <a:srgbClr val="89A88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8. Private rented %
0.14</a:t>
            </a:r>
          </a:p>
        </p:txBody>
      </p:sp>
      <p:sp>
        <p:nvSpPr>
          <p:cNvPr id="32" name="rep1_rank9_nightlife_per_km2"/>
          <p:cNvSpPr/>
          <p:nvPr/>
        </p:nvSpPr>
        <p:spPr>
          <a:xfrm>
            <a:off x="2701720" y="6264653"/>
            <a:ext cx="1453668" cy="14536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9. Nightlife density
0.13</a:t>
            </a:r>
          </a:p>
        </p:txBody>
      </p:sp>
      <p:sp>
        <p:nvSpPr>
          <p:cNvPr id="33" name="rep1_rank10_crime_lag_1"/>
          <p:cNvSpPr/>
          <p:nvPr/>
        </p:nvSpPr>
        <p:spPr>
          <a:xfrm>
            <a:off x="5622471" y="5628805"/>
            <a:ext cx="1415476" cy="1415476"/>
          </a:xfrm>
          <a:prstGeom prst="rect">
            <a:avLst/>
          </a:prstGeom>
          <a:solidFill>
            <a:srgbClr val="8DA0C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10. Crime lag 1
0.1</a:t>
            </a:r>
            <a:r>
              <a:rPr lang="en-GB" sz="231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2</a:t>
            </a:r>
            <a:endParaRPr sz="231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3518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CB9428-641C-4CEE-85A8-7B197789170B}"/>
              </a:ext>
            </a:extLst>
          </p:cNvPr>
          <p:cNvSpPr txBox="1"/>
          <p:nvPr/>
        </p:nvSpPr>
        <p:spPr>
          <a:xfrm>
            <a:off x="-6868157" y="984342"/>
            <a:ext cx="20320000" cy="650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Feature attribution stability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28332D-EFD7-4C25-8654-AA40F9C784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03" t="23362" r="25042"/>
          <a:stretch/>
        </p:blipFill>
        <p:spPr>
          <a:xfrm>
            <a:off x="3541853" y="6228969"/>
            <a:ext cx="3316147" cy="210454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7997048-30B8-4803-B91D-BB74486A50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21" t="24354" r="23697" b="-1"/>
          <a:stretch/>
        </p:blipFill>
        <p:spPr>
          <a:xfrm>
            <a:off x="46111" y="6256821"/>
            <a:ext cx="3270037" cy="207792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11FBC3F-E204-4A75-9A8A-78C37E0D77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950" t="23385" r="22051"/>
          <a:stretch/>
        </p:blipFill>
        <p:spPr>
          <a:xfrm>
            <a:off x="3624220" y="3863194"/>
            <a:ext cx="3291841" cy="210454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714F002-89ED-4022-AFE1-A20969BB1F2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862" t="23392" r="23397"/>
          <a:stretch/>
        </p:blipFill>
        <p:spPr>
          <a:xfrm>
            <a:off x="117529" y="1413489"/>
            <a:ext cx="3342640" cy="210371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32989B2-A9DA-4B07-A86A-F8C25C3A42C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6603" t="22423" r="25397"/>
          <a:stretch/>
        </p:blipFill>
        <p:spPr>
          <a:xfrm>
            <a:off x="3460169" y="1340807"/>
            <a:ext cx="3291841" cy="213033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5C37287-EF8E-49DF-8A3F-AC338B830A8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8217" t="23392" r="23043"/>
          <a:stretch/>
        </p:blipFill>
        <p:spPr>
          <a:xfrm>
            <a:off x="0" y="3890632"/>
            <a:ext cx="3342640" cy="210371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51D4DDFD-9B5D-47C7-9EC4-BDCE7B4B6A6D}"/>
              </a:ext>
            </a:extLst>
          </p:cNvPr>
          <p:cNvSpPr txBox="1"/>
          <p:nvPr/>
        </p:nvSpPr>
        <p:spPr>
          <a:xfrm>
            <a:off x="285855" y="3517207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Rep1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52DDD7-C0C9-412B-B3D1-4C11DBDB405B}"/>
              </a:ext>
            </a:extLst>
          </p:cNvPr>
          <p:cNvSpPr txBox="1"/>
          <p:nvPr/>
        </p:nvSpPr>
        <p:spPr>
          <a:xfrm>
            <a:off x="3670331" y="3546932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Rep2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6B0B3B-D208-4ACE-BDD8-9DB7419A6048}"/>
              </a:ext>
            </a:extLst>
          </p:cNvPr>
          <p:cNvSpPr txBox="1"/>
          <p:nvPr/>
        </p:nvSpPr>
        <p:spPr>
          <a:xfrm>
            <a:off x="168326" y="5994349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Rep3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CEB90A-5194-4069-A43B-D94BEA448447}"/>
              </a:ext>
            </a:extLst>
          </p:cNvPr>
          <p:cNvSpPr txBox="1"/>
          <p:nvPr/>
        </p:nvSpPr>
        <p:spPr>
          <a:xfrm>
            <a:off x="3662974" y="5967736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Rep4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ACA981-E411-465E-ADD5-1ECF0102EF7D}"/>
              </a:ext>
            </a:extLst>
          </p:cNvPr>
          <p:cNvSpPr txBox="1"/>
          <p:nvPr/>
        </p:nvSpPr>
        <p:spPr>
          <a:xfrm>
            <a:off x="214437" y="8287858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Rep5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330164-F967-4687-9CE4-A3C329A64067}"/>
              </a:ext>
            </a:extLst>
          </p:cNvPr>
          <p:cNvSpPr txBox="1"/>
          <p:nvPr/>
        </p:nvSpPr>
        <p:spPr>
          <a:xfrm>
            <a:off x="3709085" y="8261245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Rep6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A02D39A-F578-4FA9-BB66-A901753D6A97}"/>
              </a:ext>
            </a:extLst>
          </p:cNvPr>
          <p:cNvSpPr/>
          <p:nvPr/>
        </p:nvSpPr>
        <p:spPr>
          <a:xfrm>
            <a:off x="2665047" y="8859191"/>
            <a:ext cx="2088076" cy="13904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93050C3-CFC4-4754-8E0D-29CE134ABD54}"/>
              </a:ext>
            </a:extLst>
          </p:cNvPr>
          <p:cNvSpPr/>
          <p:nvPr/>
        </p:nvSpPr>
        <p:spPr>
          <a:xfrm>
            <a:off x="2665047" y="9102260"/>
            <a:ext cx="2088076" cy="139042"/>
          </a:xfrm>
          <a:prstGeom prst="rect">
            <a:avLst/>
          </a:prstGeom>
          <a:gradFill flip="none" rotWithShape="1">
            <a:gsLst>
              <a:gs pos="0">
                <a:srgbClr val="C3D69B">
                  <a:shade val="30000"/>
                  <a:satMod val="115000"/>
                </a:srgbClr>
              </a:gs>
              <a:gs pos="50000">
                <a:srgbClr val="C3D69B">
                  <a:shade val="67500"/>
                  <a:satMod val="115000"/>
                </a:srgbClr>
              </a:gs>
              <a:gs pos="100000">
                <a:srgbClr val="C3D69B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385A1C1-1D95-4773-A433-9C01A8C4AB78}"/>
              </a:ext>
            </a:extLst>
          </p:cNvPr>
          <p:cNvSpPr/>
          <p:nvPr/>
        </p:nvSpPr>
        <p:spPr>
          <a:xfrm>
            <a:off x="2665047" y="9345329"/>
            <a:ext cx="2088076" cy="139042"/>
          </a:xfrm>
          <a:prstGeom prst="rect">
            <a:avLst/>
          </a:prstGeom>
          <a:gradFill flip="none" rotWithShape="1">
            <a:gsLst>
              <a:gs pos="0">
                <a:srgbClr val="FAC090">
                  <a:tint val="66000"/>
                  <a:satMod val="160000"/>
                </a:srgbClr>
              </a:gs>
              <a:gs pos="50000">
                <a:srgbClr val="FAC090">
                  <a:tint val="44500"/>
                  <a:satMod val="160000"/>
                </a:srgbClr>
              </a:gs>
              <a:gs pos="100000">
                <a:srgbClr val="FAC09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C3C22F6-4FC5-4661-8E9B-9659E72A5EA4}"/>
              </a:ext>
            </a:extLst>
          </p:cNvPr>
          <p:cNvSpPr txBox="1"/>
          <p:nvPr/>
        </p:nvSpPr>
        <p:spPr>
          <a:xfrm>
            <a:off x="3661030" y="8765533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Crim data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312B8E-F745-44F4-AE02-E277847E3C0A}"/>
              </a:ext>
            </a:extLst>
          </p:cNvPr>
          <p:cNvSpPr txBox="1"/>
          <p:nvPr/>
        </p:nvSpPr>
        <p:spPr>
          <a:xfrm>
            <a:off x="3852012" y="9008602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socioeconomic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751A93-08D4-4E10-8DA6-3A6E5FF1F459}"/>
              </a:ext>
            </a:extLst>
          </p:cNvPr>
          <p:cNvSpPr txBox="1"/>
          <p:nvPr/>
        </p:nvSpPr>
        <p:spPr>
          <a:xfrm>
            <a:off x="4042994" y="9251671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Built Environmental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127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CB9428-641C-4CEE-85A8-7B197789170B}"/>
              </a:ext>
            </a:extLst>
          </p:cNvPr>
          <p:cNvSpPr txBox="1"/>
          <p:nvPr/>
        </p:nvSpPr>
        <p:spPr>
          <a:xfrm>
            <a:off x="-6868157" y="841586"/>
            <a:ext cx="20320000" cy="650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Feature attribution stability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11FBC3F-E204-4A75-9A8A-78C37E0D77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950" t="23385" r="22051"/>
          <a:stretch/>
        </p:blipFill>
        <p:spPr>
          <a:xfrm>
            <a:off x="3624220" y="3863194"/>
            <a:ext cx="3291841" cy="210454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714F002-89ED-4022-AFE1-A20969BB1F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862" t="23392" r="23397"/>
          <a:stretch/>
        </p:blipFill>
        <p:spPr>
          <a:xfrm>
            <a:off x="117529" y="1413489"/>
            <a:ext cx="3342640" cy="210371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32989B2-A9DA-4B07-A86A-F8C25C3A42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03" t="22423" r="25397"/>
          <a:stretch/>
        </p:blipFill>
        <p:spPr>
          <a:xfrm>
            <a:off x="3460169" y="1340807"/>
            <a:ext cx="3291841" cy="213033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5C37287-EF8E-49DF-8A3F-AC338B830A8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217" t="23392" r="23043"/>
          <a:stretch/>
        </p:blipFill>
        <p:spPr>
          <a:xfrm>
            <a:off x="0" y="3890632"/>
            <a:ext cx="3342640" cy="210371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51D4DDFD-9B5D-47C7-9EC4-BDCE7B4B6A6D}"/>
              </a:ext>
            </a:extLst>
          </p:cNvPr>
          <p:cNvSpPr txBox="1"/>
          <p:nvPr/>
        </p:nvSpPr>
        <p:spPr>
          <a:xfrm>
            <a:off x="285855" y="3517207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Rep1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52DDD7-C0C9-412B-B3D1-4C11DBDB405B}"/>
              </a:ext>
            </a:extLst>
          </p:cNvPr>
          <p:cNvSpPr txBox="1"/>
          <p:nvPr/>
        </p:nvSpPr>
        <p:spPr>
          <a:xfrm>
            <a:off x="3670331" y="3546932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Rep2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6B0B3B-D208-4ACE-BDD8-9DB7419A6048}"/>
              </a:ext>
            </a:extLst>
          </p:cNvPr>
          <p:cNvSpPr txBox="1"/>
          <p:nvPr/>
        </p:nvSpPr>
        <p:spPr>
          <a:xfrm>
            <a:off x="168326" y="5994349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Rep3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CEB90A-5194-4069-A43B-D94BEA448447}"/>
              </a:ext>
            </a:extLst>
          </p:cNvPr>
          <p:cNvSpPr txBox="1"/>
          <p:nvPr/>
        </p:nvSpPr>
        <p:spPr>
          <a:xfrm>
            <a:off x="3662974" y="5967736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Rep4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A02D39A-F578-4FA9-BB66-A901753D6A97}"/>
              </a:ext>
            </a:extLst>
          </p:cNvPr>
          <p:cNvSpPr/>
          <p:nvPr/>
        </p:nvSpPr>
        <p:spPr>
          <a:xfrm>
            <a:off x="990130" y="6602875"/>
            <a:ext cx="644888" cy="13904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93050C3-CFC4-4754-8E0D-29CE134ABD54}"/>
              </a:ext>
            </a:extLst>
          </p:cNvPr>
          <p:cNvSpPr/>
          <p:nvPr/>
        </p:nvSpPr>
        <p:spPr>
          <a:xfrm>
            <a:off x="2570039" y="6599476"/>
            <a:ext cx="644888" cy="139042"/>
          </a:xfrm>
          <a:prstGeom prst="rect">
            <a:avLst/>
          </a:prstGeom>
          <a:gradFill flip="none" rotWithShape="1">
            <a:gsLst>
              <a:gs pos="0">
                <a:srgbClr val="C3D69B">
                  <a:shade val="30000"/>
                  <a:satMod val="115000"/>
                </a:srgbClr>
              </a:gs>
              <a:gs pos="50000">
                <a:srgbClr val="C3D69B">
                  <a:shade val="67500"/>
                  <a:satMod val="115000"/>
                </a:srgbClr>
              </a:gs>
              <a:gs pos="100000">
                <a:srgbClr val="C3D69B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385A1C1-1D95-4773-A433-9C01A8C4AB78}"/>
              </a:ext>
            </a:extLst>
          </p:cNvPr>
          <p:cNvSpPr/>
          <p:nvPr/>
        </p:nvSpPr>
        <p:spPr>
          <a:xfrm>
            <a:off x="4392237" y="6636021"/>
            <a:ext cx="644888" cy="139042"/>
          </a:xfrm>
          <a:prstGeom prst="rect">
            <a:avLst/>
          </a:prstGeom>
          <a:gradFill flip="none" rotWithShape="1">
            <a:gsLst>
              <a:gs pos="0">
                <a:srgbClr val="FAC090">
                  <a:tint val="66000"/>
                  <a:satMod val="160000"/>
                </a:srgbClr>
              </a:gs>
              <a:gs pos="50000">
                <a:srgbClr val="FAC090">
                  <a:tint val="44500"/>
                  <a:satMod val="160000"/>
                </a:srgbClr>
              </a:gs>
              <a:gs pos="100000">
                <a:srgbClr val="FAC09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C3C22F6-4FC5-4661-8E9B-9659E72A5EA4}"/>
              </a:ext>
            </a:extLst>
          </p:cNvPr>
          <p:cNvSpPr txBox="1"/>
          <p:nvPr/>
        </p:nvSpPr>
        <p:spPr>
          <a:xfrm>
            <a:off x="579228" y="6519586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Crim data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312B8E-F745-44F4-AE02-E277847E3C0A}"/>
              </a:ext>
            </a:extLst>
          </p:cNvPr>
          <p:cNvSpPr txBox="1"/>
          <p:nvPr/>
        </p:nvSpPr>
        <p:spPr>
          <a:xfrm>
            <a:off x="3086927" y="6539639"/>
            <a:ext cx="1385465" cy="23586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socioeconomic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751A93-08D4-4E10-8DA6-3A6E5FF1F459}"/>
              </a:ext>
            </a:extLst>
          </p:cNvPr>
          <p:cNvSpPr txBox="1"/>
          <p:nvPr/>
        </p:nvSpPr>
        <p:spPr>
          <a:xfrm>
            <a:off x="5037125" y="6566505"/>
            <a:ext cx="3005988" cy="32635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Built Environmental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1449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595533" y="-655320"/>
            <a:ext cx="19507200" cy="650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556" b="1">
                <a:solidFill>
                  <a:srgbClr val="FFFFFF"/>
                </a:solidFill>
                <a:latin typeface="Calibri"/>
              </a:rPr>
              <a:t>Rank colour legend (same order in every rep)</a:t>
            </a:r>
          </a:p>
        </p:txBody>
      </p:sp>
      <p:sp>
        <p:nvSpPr>
          <p:cNvPr id="3" name="legend_rank1"/>
          <p:cNvSpPr/>
          <p:nvPr/>
        </p:nvSpPr>
        <p:spPr>
          <a:xfrm>
            <a:off x="-6270413" y="482600"/>
            <a:ext cx="731520" cy="731520"/>
          </a:xfrm>
          <a:prstGeom prst="rect">
            <a:avLst/>
          </a:prstGeom>
          <a:solidFill>
            <a:srgbClr val="E41A1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-5213773" y="482600"/>
            <a:ext cx="1625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89">
                <a:solidFill>
                  <a:srgbClr val="FFFFFF"/>
                </a:solidFill>
                <a:latin typeface="Calibri"/>
              </a:rPr>
              <a:t>Rank 1: Crime roll mean 6   (|coef| example from Rep 1 = 5.066)</a:t>
            </a:r>
          </a:p>
        </p:txBody>
      </p:sp>
      <p:sp>
        <p:nvSpPr>
          <p:cNvPr id="5" name="legend_rank2"/>
          <p:cNvSpPr/>
          <p:nvPr/>
        </p:nvSpPr>
        <p:spPr>
          <a:xfrm>
            <a:off x="-6270413" y="1376680"/>
            <a:ext cx="731520" cy="731520"/>
          </a:xfrm>
          <a:prstGeom prst="rect">
            <a:avLst/>
          </a:prstGeom>
          <a:solidFill>
            <a:srgbClr val="377EB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-5213773" y="1376680"/>
            <a:ext cx="1625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89">
                <a:solidFill>
                  <a:srgbClr val="FFFFFF"/>
                </a:solidFill>
                <a:latin typeface="Calibri"/>
              </a:rPr>
              <a:t>Rank 2: Crime roll mean 3   (|coef| example from Rep 1 = 1.290)</a:t>
            </a:r>
          </a:p>
        </p:txBody>
      </p:sp>
      <p:sp>
        <p:nvSpPr>
          <p:cNvPr id="7" name="legend_rank3"/>
          <p:cNvSpPr/>
          <p:nvPr/>
        </p:nvSpPr>
        <p:spPr>
          <a:xfrm>
            <a:off x="-6270413" y="2270760"/>
            <a:ext cx="731520" cy="731520"/>
          </a:xfrm>
          <a:prstGeom prst="rect">
            <a:avLst/>
          </a:prstGeom>
          <a:solidFill>
            <a:srgbClr val="4DAF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-5213773" y="2270760"/>
            <a:ext cx="1625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89">
                <a:solidFill>
                  <a:srgbClr val="FFFFFF"/>
                </a:solidFill>
                <a:latin typeface="Calibri"/>
              </a:rPr>
              <a:t>Rank 3: Unemployment %   (|coef| example from Rep 1 = 0.411)</a:t>
            </a:r>
          </a:p>
        </p:txBody>
      </p:sp>
      <p:sp>
        <p:nvSpPr>
          <p:cNvPr id="9" name="legend_rank4"/>
          <p:cNvSpPr/>
          <p:nvPr/>
        </p:nvSpPr>
        <p:spPr>
          <a:xfrm>
            <a:off x="-6270413" y="3164840"/>
            <a:ext cx="731520" cy="731520"/>
          </a:xfrm>
          <a:prstGeom prst="rect">
            <a:avLst/>
          </a:prstGeom>
          <a:solidFill>
            <a:srgbClr val="984EA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-5213773" y="3164840"/>
            <a:ext cx="1625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89">
                <a:solidFill>
                  <a:srgbClr val="FFFFFF"/>
                </a:solidFill>
                <a:latin typeface="Calibri"/>
              </a:rPr>
              <a:t>Rank 4: Long-term sick %   (|coef| example from Rep 1 = 0.368)</a:t>
            </a:r>
          </a:p>
        </p:txBody>
      </p:sp>
      <p:sp>
        <p:nvSpPr>
          <p:cNvPr id="11" name="legend_rank5"/>
          <p:cNvSpPr/>
          <p:nvPr/>
        </p:nvSpPr>
        <p:spPr>
          <a:xfrm>
            <a:off x="-6270413" y="4058920"/>
            <a:ext cx="731520" cy="731520"/>
          </a:xfrm>
          <a:prstGeom prst="rect">
            <a:avLst/>
          </a:prstGeom>
          <a:solidFill>
            <a:srgbClr val="FF7F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-5213773" y="4058920"/>
            <a:ext cx="1625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89">
                <a:solidFill>
                  <a:srgbClr val="FFFFFF"/>
                </a:solidFill>
                <a:latin typeface="Calibri"/>
              </a:rPr>
              <a:t>Rank 5: Owner occupied %   (|coef| example from Rep 1 = 0.247)</a:t>
            </a:r>
          </a:p>
        </p:txBody>
      </p:sp>
      <p:sp>
        <p:nvSpPr>
          <p:cNvPr id="13" name="legend_rank6"/>
          <p:cNvSpPr/>
          <p:nvPr/>
        </p:nvSpPr>
        <p:spPr>
          <a:xfrm>
            <a:off x="-6270413" y="4953000"/>
            <a:ext cx="731520" cy="731520"/>
          </a:xfrm>
          <a:prstGeom prst="rect">
            <a:avLst/>
          </a:prstGeom>
          <a:solidFill>
            <a:srgbClr val="A656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-5213773" y="4953000"/>
            <a:ext cx="1625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89">
                <a:solidFill>
                  <a:srgbClr val="FFFFFF"/>
                </a:solidFill>
                <a:latin typeface="Calibri"/>
              </a:rPr>
              <a:t>Rank 6: Social rented %   (|coef| example from Rep 1 = 0.194)</a:t>
            </a:r>
          </a:p>
        </p:txBody>
      </p:sp>
      <p:sp>
        <p:nvSpPr>
          <p:cNvPr id="15" name="legend_rank7"/>
          <p:cNvSpPr/>
          <p:nvPr/>
        </p:nvSpPr>
        <p:spPr>
          <a:xfrm>
            <a:off x="-6270413" y="5847080"/>
            <a:ext cx="731520" cy="731520"/>
          </a:xfrm>
          <a:prstGeom prst="rect">
            <a:avLst/>
          </a:prstGeom>
          <a:solidFill>
            <a:srgbClr val="F781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-5213773" y="5847080"/>
            <a:ext cx="1625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89">
                <a:solidFill>
                  <a:srgbClr val="FFFFFF"/>
                </a:solidFill>
                <a:latin typeface="Calibri"/>
              </a:rPr>
              <a:t>Rank 7: Crime lag 2   (|coef| example from Rep 1 = 0.148)</a:t>
            </a:r>
          </a:p>
        </p:txBody>
      </p:sp>
      <p:sp>
        <p:nvSpPr>
          <p:cNvPr id="17" name="legend_rank8"/>
          <p:cNvSpPr/>
          <p:nvPr/>
        </p:nvSpPr>
        <p:spPr>
          <a:xfrm>
            <a:off x="-6270413" y="6741160"/>
            <a:ext cx="731520" cy="731520"/>
          </a:xfrm>
          <a:prstGeom prst="rect">
            <a:avLst/>
          </a:prstGeom>
          <a:solidFill>
            <a:srgbClr val="66C2A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-5213773" y="6741160"/>
            <a:ext cx="1625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89">
                <a:solidFill>
                  <a:srgbClr val="FFFFFF"/>
                </a:solidFill>
                <a:latin typeface="Calibri"/>
              </a:rPr>
              <a:t>Rank 8: Private rented %   (|coef| example from Rep 1 = 0.140)</a:t>
            </a:r>
          </a:p>
        </p:txBody>
      </p:sp>
      <p:sp>
        <p:nvSpPr>
          <p:cNvPr id="19" name="legend_rank9"/>
          <p:cNvSpPr/>
          <p:nvPr/>
        </p:nvSpPr>
        <p:spPr>
          <a:xfrm>
            <a:off x="-6270413" y="7635240"/>
            <a:ext cx="731520" cy="731520"/>
          </a:xfrm>
          <a:prstGeom prst="rect">
            <a:avLst/>
          </a:prstGeom>
          <a:solidFill>
            <a:srgbClr val="FC8D6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-5213773" y="7635240"/>
            <a:ext cx="1625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89">
                <a:solidFill>
                  <a:srgbClr val="FFFFFF"/>
                </a:solidFill>
                <a:latin typeface="Calibri"/>
              </a:rPr>
              <a:t>Rank 9: Nightlife density   (|coef| example from Rep 1 = 0.128)</a:t>
            </a:r>
          </a:p>
        </p:txBody>
      </p:sp>
      <p:sp>
        <p:nvSpPr>
          <p:cNvPr id="21" name="legend_rank10"/>
          <p:cNvSpPr/>
          <p:nvPr/>
        </p:nvSpPr>
        <p:spPr>
          <a:xfrm>
            <a:off x="-6270413" y="8529320"/>
            <a:ext cx="731520" cy="731520"/>
          </a:xfrm>
          <a:prstGeom prst="rect">
            <a:avLst/>
          </a:prstGeom>
          <a:solidFill>
            <a:srgbClr val="8DA0C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-5213773" y="8529320"/>
            <a:ext cx="1625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89">
                <a:solidFill>
                  <a:srgbClr val="FFFFFF"/>
                </a:solidFill>
                <a:latin typeface="Calibri"/>
              </a:rPr>
              <a:t>Rank 10: Crime lag 1   (|coef| example from Rep 1 = 0.111)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1865</TotalTime>
  <Words>1130</Words>
  <Application>Microsoft Office PowerPoint</Application>
  <PresentationFormat>A4 Paper (210x297 mm)</PresentationFormat>
  <Paragraphs>163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shadi moh</dc:creator>
  <cp:keywords/>
  <dc:description>generated using python-pptx</dc:description>
  <cp:lastModifiedBy>shadi moh</cp:lastModifiedBy>
  <cp:revision>9</cp:revision>
  <dcterms:created xsi:type="dcterms:W3CDTF">2013-01-27T09:14:16Z</dcterms:created>
  <dcterms:modified xsi:type="dcterms:W3CDTF">2026-08-17T23:44:21Z</dcterms:modified>
  <cp:category/>
</cp:coreProperties>
</file>