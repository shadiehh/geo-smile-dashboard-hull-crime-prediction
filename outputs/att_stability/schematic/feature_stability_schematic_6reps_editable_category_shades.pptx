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attribution stability — category shade clusters (top-10)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84632"/>
            <a:ext cx="186430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 1</a:t>
            </a:r>
          </a:p>
        </p:txBody>
      </p:sp>
      <p:sp>
        <p:nvSpPr>
          <p:cNvPr id="4" name="overview_r1_neutral_older_adult_65_plus_pct"/>
          <p:cNvSpPr/>
          <p:nvPr/>
        </p:nvSpPr>
        <p:spPr>
          <a:xfrm>
            <a:off x="1864736" y="4020546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view_r1_neutral_transit_stop_count"/>
          <p:cNvSpPr/>
          <p:nvPr/>
        </p:nvSpPr>
        <p:spPr>
          <a:xfrm>
            <a:off x="1416353" y="3365592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erview_r1_neutral_green_space_pct"/>
          <p:cNvSpPr/>
          <p:nvPr/>
        </p:nvSpPr>
        <p:spPr>
          <a:xfrm>
            <a:off x="1180234" y="3338601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view_r1_neutral_month_cos"/>
          <p:cNvSpPr/>
          <p:nvPr/>
        </p:nvSpPr>
        <p:spPr>
          <a:xfrm>
            <a:off x="1649588" y="4178111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view_r1_neutral_economically_inactive_pct"/>
          <p:cNvSpPr/>
          <p:nvPr/>
        </p:nvSpPr>
        <p:spPr>
          <a:xfrm>
            <a:off x="1302168" y="2245320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erview_r1_neutral_transit_stop_per_km2"/>
          <p:cNvSpPr/>
          <p:nvPr/>
        </p:nvSpPr>
        <p:spPr>
          <a:xfrm>
            <a:off x="1026496" y="5112442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erview_r1_neutral_retail_per_km2"/>
          <p:cNvSpPr/>
          <p:nvPr/>
        </p:nvSpPr>
        <p:spPr>
          <a:xfrm>
            <a:off x="1500452" y="2638728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view_r1_neutral_no_qualifications_pct"/>
          <p:cNvSpPr/>
          <p:nvPr/>
        </p:nvSpPr>
        <p:spPr>
          <a:xfrm>
            <a:off x="1079298" y="3379580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erview_r1_neutral_crime_lag_3"/>
          <p:cNvSpPr/>
          <p:nvPr/>
        </p:nvSpPr>
        <p:spPr>
          <a:xfrm>
            <a:off x="497616" y="3625315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erview_r1_neutral_month_sin"/>
          <p:cNvSpPr/>
          <p:nvPr/>
        </p:nvSpPr>
        <p:spPr>
          <a:xfrm>
            <a:off x="1220109" y="3236951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view_r1_neutral_nightlife_count"/>
          <p:cNvSpPr/>
          <p:nvPr/>
        </p:nvSpPr>
        <p:spPr>
          <a:xfrm>
            <a:off x="1593892" y="2553284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erview_r1_neutral_intersection_per_km2"/>
          <p:cNvSpPr/>
          <p:nvPr/>
        </p:nvSpPr>
        <p:spPr>
          <a:xfrm>
            <a:off x="1299838" y="2732064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_r1_neutral_road_length_km_per_km2"/>
          <p:cNvSpPr/>
          <p:nvPr/>
        </p:nvSpPr>
        <p:spPr>
          <a:xfrm>
            <a:off x="785920" y="4614876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erview_r1_neutral_young_adult_15_34_pct"/>
          <p:cNvSpPr/>
          <p:nvPr/>
        </p:nvSpPr>
        <p:spPr>
          <a:xfrm>
            <a:off x="1201092" y="5065493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erview_r1_neutral_population_density_per_km2"/>
          <p:cNvSpPr/>
          <p:nvPr/>
        </p:nvSpPr>
        <p:spPr>
          <a:xfrm>
            <a:off x="901391" y="2997610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erview_r1_neutral_road_length_km"/>
          <p:cNvSpPr/>
          <p:nvPr/>
        </p:nvSpPr>
        <p:spPr>
          <a:xfrm>
            <a:off x="903712" y="4258501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erview_r1_neutral_intersection_count"/>
          <p:cNvSpPr/>
          <p:nvPr/>
        </p:nvSpPr>
        <p:spPr>
          <a:xfrm>
            <a:off x="861481" y="3615838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erview_r1_neutral_level4_plus_qualification_pct"/>
          <p:cNvSpPr/>
          <p:nvPr/>
        </p:nvSpPr>
        <p:spPr>
          <a:xfrm>
            <a:off x="1849552" y="3118855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erview_r1_neutral_lsoa_area_km2"/>
          <p:cNvSpPr/>
          <p:nvPr/>
        </p:nvSpPr>
        <p:spPr>
          <a:xfrm>
            <a:off x="1620216" y="3403394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erview_r1_neutral_retail_count"/>
          <p:cNvSpPr/>
          <p:nvPr/>
        </p:nvSpPr>
        <p:spPr>
          <a:xfrm>
            <a:off x="1442979" y="4249170"/>
            <a:ext cx="34986" cy="34986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erview_r1_rank1_crime_rolling_mean_6"/>
          <p:cNvSpPr/>
          <p:nvPr/>
        </p:nvSpPr>
        <p:spPr>
          <a:xfrm>
            <a:off x="874615" y="3051420"/>
            <a:ext cx="572278" cy="572278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1. Crime roll mean 6
5.07</a:t>
            </a:r>
          </a:p>
        </p:txBody>
      </p:sp>
      <p:sp>
        <p:nvSpPr>
          <p:cNvPr id="25" name="overview_r1_rank2_crime_rolling_mean_3"/>
          <p:cNvSpPr/>
          <p:nvPr/>
        </p:nvSpPr>
        <p:spPr>
          <a:xfrm>
            <a:off x="1446893" y="3147116"/>
            <a:ext cx="345488" cy="345488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2. Crime roll mean 3
1.29</a:t>
            </a:r>
          </a:p>
        </p:txBody>
      </p:sp>
      <p:sp>
        <p:nvSpPr>
          <p:cNvPr id="26" name="overview_r1_rank3_unemployed_pct_age16plus"/>
          <p:cNvSpPr/>
          <p:nvPr/>
        </p:nvSpPr>
        <p:spPr>
          <a:xfrm>
            <a:off x="1446893" y="2386615"/>
            <a:ext cx="244897" cy="244897"/>
          </a:xfrm>
          <a:prstGeom prst="rect">
            <a:avLst/>
          </a:prstGeom>
          <a:solidFill>
            <a:srgbClr val="9F4F0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27" name="overview_r1_rank4_long_term_sick_disabled_pct"/>
          <p:cNvSpPr/>
          <p:nvPr/>
        </p:nvSpPr>
        <p:spPr>
          <a:xfrm>
            <a:off x="1176079" y="2049620"/>
            <a:ext cx="237878" cy="237878"/>
          </a:xfrm>
          <a:prstGeom prst="rect">
            <a:avLst/>
          </a:prstGeom>
          <a:solidFill>
            <a:srgbClr val="B1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28" name="overview_r1_rank5_owner_occupied_pct"/>
          <p:cNvSpPr/>
          <p:nvPr/>
        </p:nvSpPr>
        <p:spPr>
          <a:xfrm>
            <a:off x="861565" y="2147874"/>
            <a:ext cx="215527" cy="215527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29" name="overview_r1_rank6_social_rented_pct"/>
          <p:cNvSpPr/>
          <p:nvPr/>
        </p:nvSpPr>
        <p:spPr>
          <a:xfrm>
            <a:off x="648320" y="2729916"/>
            <a:ext cx="204056" cy="204056"/>
          </a:xfrm>
          <a:prstGeom prst="rect">
            <a:avLst/>
          </a:prstGeom>
          <a:solidFill>
            <a:srgbClr val="D58F5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30" name="overview_r1_rank7_crime_lag_2"/>
          <p:cNvSpPr/>
          <p:nvPr/>
        </p:nvSpPr>
        <p:spPr>
          <a:xfrm>
            <a:off x="642253" y="3451561"/>
            <a:ext cx="192818" cy="192818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31" name="overview_r1_rank8_private_rented_pct"/>
          <p:cNvSpPr/>
          <p:nvPr/>
        </p:nvSpPr>
        <p:spPr>
          <a:xfrm>
            <a:off x="864236" y="4307314"/>
            <a:ext cx="190735" cy="190735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2" name="overview_r1_rank9_nightlife_per_km2"/>
          <p:cNvSpPr/>
          <p:nvPr/>
        </p:nvSpPr>
        <p:spPr>
          <a:xfrm>
            <a:off x="1070529" y="4306867"/>
            <a:ext cx="187317" cy="187317"/>
          </a:xfrm>
          <a:prstGeom prst="rect">
            <a:avLst/>
          </a:prstGeom>
          <a:solidFill>
            <a:srgbClr val="099E6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3" name="overview_r1_rank10_crime_lag_1"/>
          <p:cNvSpPr/>
          <p:nvPr/>
        </p:nvSpPr>
        <p:spPr>
          <a:xfrm>
            <a:off x="1446893" y="3953625"/>
            <a:ext cx="182396" cy="182396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10. Crime lag 1
0.11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02637" y="484632"/>
            <a:ext cx="186430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 2</a:t>
            </a:r>
          </a:p>
        </p:txBody>
      </p:sp>
      <p:sp>
        <p:nvSpPr>
          <p:cNvPr id="35" name="overview_r2_neutral_transit_stop_count"/>
          <p:cNvSpPr/>
          <p:nvPr/>
        </p:nvSpPr>
        <p:spPr>
          <a:xfrm>
            <a:off x="3660585" y="3764096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_r2_neutral_older_adult_65_plus_pct"/>
          <p:cNvSpPr/>
          <p:nvPr/>
        </p:nvSpPr>
        <p:spPr>
          <a:xfrm>
            <a:off x="3098892" y="3465256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erview_r2_neutral_green_space_pct"/>
          <p:cNvSpPr/>
          <p:nvPr/>
        </p:nvSpPr>
        <p:spPr>
          <a:xfrm>
            <a:off x="3623544" y="3372646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erview_r2_neutral_economically_inactive_pct"/>
          <p:cNvSpPr/>
          <p:nvPr/>
        </p:nvSpPr>
        <p:spPr>
          <a:xfrm>
            <a:off x="3080749" y="3341967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erview_r2_neutral_transit_stop_per_km2"/>
          <p:cNvSpPr/>
          <p:nvPr/>
        </p:nvSpPr>
        <p:spPr>
          <a:xfrm>
            <a:off x="3087742" y="4627222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erview_r2_neutral_retail_per_km2"/>
          <p:cNvSpPr/>
          <p:nvPr/>
        </p:nvSpPr>
        <p:spPr>
          <a:xfrm>
            <a:off x="3290855" y="4760549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erview_r2_neutral_month_cos"/>
          <p:cNvSpPr/>
          <p:nvPr/>
        </p:nvSpPr>
        <p:spPr>
          <a:xfrm>
            <a:off x="2630139" y="2738918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erview_r2_neutral_no_qualifications_pct"/>
          <p:cNvSpPr/>
          <p:nvPr/>
        </p:nvSpPr>
        <p:spPr>
          <a:xfrm>
            <a:off x="3422129" y="4357379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erview_r2_neutral_crime_lag_3"/>
          <p:cNvSpPr/>
          <p:nvPr/>
        </p:nvSpPr>
        <p:spPr>
          <a:xfrm>
            <a:off x="2892587" y="5227907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erview_r2_neutral_nightlife_count"/>
          <p:cNvSpPr/>
          <p:nvPr/>
        </p:nvSpPr>
        <p:spPr>
          <a:xfrm>
            <a:off x="3269074" y="4089989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erview_r2_neutral_month_sin"/>
          <p:cNvSpPr/>
          <p:nvPr/>
        </p:nvSpPr>
        <p:spPr>
          <a:xfrm>
            <a:off x="3179423" y="3293946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_r2_neutral_intersection_per_km2"/>
          <p:cNvSpPr/>
          <p:nvPr/>
        </p:nvSpPr>
        <p:spPr>
          <a:xfrm>
            <a:off x="2719452" y="3396132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erview_r2_neutral_road_length_km_per_km2"/>
          <p:cNvSpPr/>
          <p:nvPr/>
        </p:nvSpPr>
        <p:spPr>
          <a:xfrm>
            <a:off x="3094062" y="2545725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erview_r2_neutral_young_adult_15_34_pct"/>
          <p:cNvSpPr/>
          <p:nvPr/>
        </p:nvSpPr>
        <p:spPr>
          <a:xfrm>
            <a:off x="3141433" y="3479942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erview_r2_neutral_level4_plus_qualification_pct"/>
          <p:cNvSpPr/>
          <p:nvPr/>
        </p:nvSpPr>
        <p:spPr>
          <a:xfrm>
            <a:off x="3011741" y="3308865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erview_r2_neutral_intersection_count"/>
          <p:cNvSpPr/>
          <p:nvPr/>
        </p:nvSpPr>
        <p:spPr>
          <a:xfrm>
            <a:off x="3129651" y="3228992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erview_r2_neutral_population_density_per_km2"/>
          <p:cNvSpPr/>
          <p:nvPr/>
        </p:nvSpPr>
        <p:spPr>
          <a:xfrm>
            <a:off x="3581506" y="1653458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erview_r2_neutral_road_length_km"/>
          <p:cNvSpPr/>
          <p:nvPr/>
        </p:nvSpPr>
        <p:spPr>
          <a:xfrm>
            <a:off x="2920528" y="2089344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erview_r2_neutral_lsoa_area_km2"/>
          <p:cNvSpPr/>
          <p:nvPr/>
        </p:nvSpPr>
        <p:spPr>
          <a:xfrm>
            <a:off x="3026326" y="4616676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erview_r2_neutral_retail_count"/>
          <p:cNvSpPr/>
          <p:nvPr/>
        </p:nvSpPr>
        <p:spPr>
          <a:xfrm>
            <a:off x="2826272" y="4877271"/>
            <a:ext cx="36420" cy="3642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erview_r2_rank1_crime_rolling_mean_6"/>
          <p:cNvSpPr/>
          <p:nvPr/>
        </p:nvSpPr>
        <p:spPr>
          <a:xfrm>
            <a:off x="2836803" y="3039572"/>
            <a:ext cx="595975" cy="595975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1. Crime roll mean 6
5.07</a:t>
            </a:r>
          </a:p>
        </p:txBody>
      </p:sp>
      <p:sp>
        <p:nvSpPr>
          <p:cNvPr id="56" name="overview_r2_rank2_crime_rolling_mean_3"/>
          <p:cNvSpPr/>
          <p:nvPr/>
        </p:nvSpPr>
        <p:spPr>
          <a:xfrm>
            <a:off x="3432779" y="3087182"/>
            <a:ext cx="359473" cy="359473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2. Crime roll mean 3
1.29</a:t>
            </a:r>
          </a:p>
        </p:txBody>
      </p:sp>
      <p:sp>
        <p:nvSpPr>
          <p:cNvPr id="57" name="overview_r2_rank3_unemployed_pct_age16plus"/>
          <p:cNvSpPr/>
          <p:nvPr/>
        </p:nvSpPr>
        <p:spPr>
          <a:xfrm>
            <a:off x="3432779" y="2296117"/>
            <a:ext cx="254692" cy="254692"/>
          </a:xfrm>
          <a:prstGeom prst="rect">
            <a:avLst/>
          </a:prstGeom>
          <a:solidFill>
            <a:srgbClr val="9F500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58" name="overview_r2_rank4_long_term_sick_disabled_pct"/>
          <p:cNvSpPr/>
          <p:nvPr/>
        </p:nvSpPr>
        <p:spPr>
          <a:xfrm>
            <a:off x="3098526" y="1936791"/>
            <a:ext cx="247852" cy="247852"/>
          </a:xfrm>
          <a:prstGeom prst="rect">
            <a:avLst/>
          </a:prstGeom>
          <a:solidFill>
            <a:srgbClr val="B1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59" name="overview_r2_rank5_owner_occupied_pct"/>
          <p:cNvSpPr/>
          <p:nvPr/>
        </p:nvSpPr>
        <p:spPr>
          <a:xfrm>
            <a:off x="2856523" y="2093666"/>
            <a:ext cx="224748" cy="224748"/>
          </a:xfrm>
          <a:prstGeom prst="rect">
            <a:avLst/>
          </a:prstGeom>
          <a:solidFill>
            <a:srgbClr val="D8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60" name="overview_r2_rank6_social_rented_pct"/>
          <p:cNvSpPr/>
          <p:nvPr/>
        </p:nvSpPr>
        <p:spPr>
          <a:xfrm>
            <a:off x="2594074" y="2719901"/>
            <a:ext cx="211876" cy="211876"/>
          </a:xfrm>
          <a:prstGeom prst="rect">
            <a:avLst/>
          </a:prstGeom>
          <a:solidFill>
            <a:srgbClr val="D58F5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61" name="overview_r2_rank7_crime_lag_2"/>
          <p:cNvSpPr/>
          <p:nvPr/>
        </p:nvSpPr>
        <p:spPr>
          <a:xfrm>
            <a:off x="2597791" y="3376196"/>
            <a:ext cx="201671" cy="201671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62" name="overview_r2_rank8_private_rented_pct"/>
          <p:cNvSpPr/>
          <p:nvPr/>
        </p:nvSpPr>
        <p:spPr>
          <a:xfrm>
            <a:off x="2901940" y="4329441"/>
            <a:ext cx="198558" cy="198558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63" name="overview_r2_rank9_nightlife_per_km2"/>
          <p:cNvSpPr/>
          <p:nvPr/>
        </p:nvSpPr>
        <p:spPr>
          <a:xfrm>
            <a:off x="3172222" y="4326812"/>
            <a:ext cx="195547" cy="195547"/>
          </a:xfrm>
          <a:prstGeom prst="rect">
            <a:avLst/>
          </a:prstGeom>
          <a:solidFill>
            <a:srgbClr val="08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64" name="overview_r2_rank10_crime_lag_1"/>
          <p:cNvSpPr/>
          <p:nvPr/>
        </p:nvSpPr>
        <p:spPr>
          <a:xfrm>
            <a:off x="3432779" y="4108011"/>
            <a:ext cx="190440" cy="190440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10. Crime lag 1
0.11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76674" y="484632"/>
            <a:ext cx="186430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 3</a:t>
            </a:r>
          </a:p>
        </p:txBody>
      </p:sp>
      <p:sp>
        <p:nvSpPr>
          <p:cNvPr id="66" name="overview_r3_neutral_crime_lag_1"/>
          <p:cNvSpPr/>
          <p:nvPr/>
        </p:nvSpPr>
        <p:spPr>
          <a:xfrm>
            <a:off x="5050491" y="3651357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erview_r3_neutral_transit_stop_count"/>
          <p:cNvSpPr/>
          <p:nvPr/>
        </p:nvSpPr>
        <p:spPr>
          <a:xfrm>
            <a:off x="4515396" y="1966938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erview_r3_neutral_older_adult_65_plus_pct"/>
          <p:cNvSpPr/>
          <p:nvPr/>
        </p:nvSpPr>
        <p:spPr>
          <a:xfrm>
            <a:off x="5092999" y="3563824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erview_r3_neutral_month_cos"/>
          <p:cNvSpPr/>
          <p:nvPr/>
        </p:nvSpPr>
        <p:spPr>
          <a:xfrm>
            <a:off x="4909813" y="5295561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erview_r3_neutral_economically_inactive_pct"/>
          <p:cNvSpPr/>
          <p:nvPr/>
        </p:nvSpPr>
        <p:spPr>
          <a:xfrm>
            <a:off x="5165746" y="3246022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erview_r3_neutral_transit_stop_per_km2"/>
          <p:cNvSpPr/>
          <p:nvPr/>
        </p:nvSpPr>
        <p:spPr>
          <a:xfrm>
            <a:off x="5124702" y="3663878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erview_r3_neutral_retail_per_km2"/>
          <p:cNvSpPr/>
          <p:nvPr/>
        </p:nvSpPr>
        <p:spPr>
          <a:xfrm>
            <a:off x="5457431" y="2614020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erview_r3_neutral_no_qualifications_pct"/>
          <p:cNvSpPr/>
          <p:nvPr/>
        </p:nvSpPr>
        <p:spPr>
          <a:xfrm>
            <a:off x="5072481" y="3451991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erview_r3_neutral_crime_lag_3"/>
          <p:cNvSpPr/>
          <p:nvPr/>
        </p:nvSpPr>
        <p:spPr>
          <a:xfrm>
            <a:off x="5331387" y="4310190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erview_r3_neutral_month_sin"/>
          <p:cNvSpPr/>
          <p:nvPr/>
        </p:nvSpPr>
        <p:spPr>
          <a:xfrm>
            <a:off x="5224896" y="2587201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_r3_neutral_nightlife_count"/>
          <p:cNvSpPr/>
          <p:nvPr/>
        </p:nvSpPr>
        <p:spPr>
          <a:xfrm>
            <a:off x="4845647" y="5030807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erview_r3_neutral_intersection_per_km2"/>
          <p:cNvSpPr/>
          <p:nvPr/>
        </p:nvSpPr>
        <p:spPr>
          <a:xfrm>
            <a:off x="5006298" y="3200881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erview_r3_neutral_road_length_km_per_km2"/>
          <p:cNvSpPr/>
          <p:nvPr/>
        </p:nvSpPr>
        <p:spPr>
          <a:xfrm>
            <a:off x="5423302" y="2730223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erview_r3_neutral_young_adult_15_34_pct"/>
          <p:cNvSpPr/>
          <p:nvPr/>
        </p:nvSpPr>
        <p:spPr>
          <a:xfrm>
            <a:off x="5082598" y="3247519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erview_r3_neutral_road_length_km"/>
          <p:cNvSpPr/>
          <p:nvPr/>
        </p:nvSpPr>
        <p:spPr>
          <a:xfrm>
            <a:off x="4959040" y="3129116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erview_r3_neutral_level4_plus_qualification_pct"/>
          <p:cNvSpPr/>
          <p:nvPr/>
        </p:nvSpPr>
        <p:spPr>
          <a:xfrm>
            <a:off x="4649944" y="4170350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erview_r3_neutral_population_density_per_km2"/>
          <p:cNvSpPr/>
          <p:nvPr/>
        </p:nvSpPr>
        <p:spPr>
          <a:xfrm>
            <a:off x="5647839" y="2416771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erview_r3_neutral_intersection_count"/>
          <p:cNvSpPr/>
          <p:nvPr/>
        </p:nvSpPr>
        <p:spPr>
          <a:xfrm>
            <a:off x="5312021" y="3870038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erview_r3_neutral_retail_count"/>
          <p:cNvSpPr/>
          <p:nvPr/>
        </p:nvSpPr>
        <p:spPr>
          <a:xfrm>
            <a:off x="5626738" y="4789378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erview_r3_neutral_lsoa_area_km2"/>
          <p:cNvSpPr/>
          <p:nvPr/>
        </p:nvSpPr>
        <p:spPr>
          <a:xfrm>
            <a:off x="4978425" y="3415776"/>
            <a:ext cx="35032" cy="3503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_r3_rank1_crime_rolling_mean_6"/>
          <p:cNvSpPr/>
          <p:nvPr/>
        </p:nvSpPr>
        <p:spPr>
          <a:xfrm>
            <a:off x="4822692" y="3051423"/>
            <a:ext cx="572272" cy="572272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1. Crime roll mean 6
5.05</a:t>
            </a:r>
          </a:p>
        </p:txBody>
      </p:sp>
      <p:sp>
        <p:nvSpPr>
          <p:cNvPr id="87" name="overview_r3_rank2_crime_rolling_mean_3"/>
          <p:cNvSpPr/>
          <p:nvPr/>
        </p:nvSpPr>
        <p:spPr>
          <a:xfrm>
            <a:off x="5394965" y="3072556"/>
            <a:ext cx="345456" cy="345456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88" name="overview_r3_rank3_unemployed_pct_age16plus"/>
          <p:cNvSpPr/>
          <p:nvPr/>
        </p:nvSpPr>
        <p:spPr>
          <a:xfrm>
            <a:off x="5394965" y="2311408"/>
            <a:ext cx="245257" cy="245257"/>
          </a:xfrm>
          <a:prstGeom prst="rect">
            <a:avLst/>
          </a:prstGeom>
          <a:solidFill>
            <a:srgbClr val="9F4F0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89" name="overview_r3_rank4_long_term_sick_disabled_pct"/>
          <p:cNvSpPr/>
          <p:nvPr/>
        </p:nvSpPr>
        <p:spPr>
          <a:xfrm>
            <a:off x="4976973" y="1511073"/>
            <a:ext cx="237766" cy="237766"/>
          </a:xfrm>
          <a:prstGeom prst="rect">
            <a:avLst/>
          </a:prstGeom>
          <a:solidFill>
            <a:srgbClr val="B25C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90" name="overview_r3_rank5_owner_occupied_pct"/>
          <p:cNvSpPr/>
          <p:nvPr/>
        </p:nvSpPr>
        <p:spPr>
          <a:xfrm>
            <a:off x="4932338" y="2145724"/>
            <a:ext cx="216679" cy="216679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91" name="overview_r3_rank6_social_rented_pct"/>
          <p:cNvSpPr/>
          <p:nvPr/>
        </p:nvSpPr>
        <p:spPr>
          <a:xfrm>
            <a:off x="4584026" y="2955469"/>
            <a:ext cx="203736" cy="203736"/>
          </a:xfrm>
          <a:prstGeom prst="rect">
            <a:avLst/>
          </a:prstGeom>
          <a:solidFill>
            <a:srgbClr val="D58F5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92" name="overview_r3_rank7_crime_lag_2"/>
          <p:cNvSpPr/>
          <p:nvPr/>
        </p:nvSpPr>
        <p:spPr>
          <a:xfrm>
            <a:off x="4595021" y="3505530"/>
            <a:ext cx="192817" cy="192817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93" name="overview_r3_rank8_private_rented_pct"/>
          <p:cNvSpPr/>
          <p:nvPr/>
        </p:nvSpPr>
        <p:spPr>
          <a:xfrm>
            <a:off x="4794161" y="4329990"/>
            <a:ext cx="191232" cy="191232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94" name="overview_r3_rank9_nightlife_per_km2"/>
          <p:cNvSpPr/>
          <p:nvPr/>
        </p:nvSpPr>
        <p:spPr>
          <a:xfrm>
            <a:off x="5169379" y="4327020"/>
            <a:ext cx="188271" cy="188271"/>
          </a:xfrm>
          <a:prstGeom prst="rect">
            <a:avLst/>
          </a:prstGeom>
          <a:solidFill>
            <a:srgbClr val="089B6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95" name="overview_r3_rank10_green_space_pct"/>
          <p:cNvSpPr/>
          <p:nvPr/>
        </p:nvSpPr>
        <p:spPr>
          <a:xfrm>
            <a:off x="5394965" y="4067524"/>
            <a:ext cx="181730" cy="181730"/>
          </a:xfrm>
          <a:prstGeom prst="rect">
            <a:avLst/>
          </a:prstGeom>
          <a:solidFill>
            <a:srgbClr val="089B2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10. Green space %
0.11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50711" y="484632"/>
            <a:ext cx="186430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 4</a:t>
            </a:r>
          </a:p>
        </p:txBody>
      </p:sp>
      <p:sp>
        <p:nvSpPr>
          <p:cNvPr id="97" name="overview_r4_neutral_green_space_pct"/>
          <p:cNvSpPr/>
          <p:nvPr/>
        </p:nvSpPr>
        <p:spPr>
          <a:xfrm>
            <a:off x="6885416" y="2359234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erview_r4_neutral_transit_stop_count"/>
          <p:cNvSpPr/>
          <p:nvPr/>
        </p:nvSpPr>
        <p:spPr>
          <a:xfrm>
            <a:off x="7095712" y="3475329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erview_r4_neutral_older_adult_65_plus_pct"/>
          <p:cNvSpPr/>
          <p:nvPr/>
        </p:nvSpPr>
        <p:spPr>
          <a:xfrm>
            <a:off x="6747717" y="1997396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erview_r4_neutral_economically_inactive_pct"/>
          <p:cNvSpPr/>
          <p:nvPr/>
        </p:nvSpPr>
        <p:spPr>
          <a:xfrm>
            <a:off x="6914259" y="1536353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erview_r4_neutral_transit_stop_per_km2"/>
          <p:cNvSpPr/>
          <p:nvPr/>
        </p:nvSpPr>
        <p:spPr>
          <a:xfrm>
            <a:off x="7385836" y="3840968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erview_r4_neutral_month_cos"/>
          <p:cNvSpPr/>
          <p:nvPr/>
        </p:nvSpPr>
        <p:spPr>
          <a:xfrm>
            <a:off x="7155380" y="3486002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erview_r4_neutral_retail_per_km2"/>
          <p:cNvSpPr/>
          <p:nvPr/>
        </p:nvSpPr>
        <p:spPr>
          <a:xfrm>
            <a:off x="6909217" y="3338547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erview_r4_neutral_no_qualifications_pct"/>
          <p:cNvSpPr/>
          <p:nvPr/>
        </p:nvSpPr>
        <p:spPr>
          <a:xfrm>
            <a:off x="7375644" y="5236845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erview_r4_neutral_crime_lag_3"/>
          <p:cNvSpPr/>
          <p:nvPr/>
        </p:nvSpPr>
        <p:spPr>
          <a:xfrm>
            <a:off x="7666721" y="3894044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erview_r4_neutral_month_sin"/>
          <p:cNvSpPr/>
          <p:nvPr/>
        </p:nvSpPr>
        <p:spPr>
          <a:xfrm>
            <a:off x="6588841" y="2033247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erview_r4_neutral_intersection_per_km2"/>
          <p:cNvSpPr/>
          <p:nvPr/>
        </p:nvSpPr>
        <p:spPr>
          <a:xfrm>
            <a:off x="6527587" y="2936481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erview_r4_neutral_nightlife_count"/>
          <p:cNvSpPr/>
          <p:nvPr/>
        </p:nvSpPr>
        <p:spPr>
          <a:xfrm>
            <a:off x="7392619" y="2610333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erview_r4_neutral_road_length_km_per_km2"/>
          <p:cNvSpPr/>
          <p:nvPr/>
        </p:nvSpPr>
        <p:spPr>
          <a:xfrm>
            <a:off x="6752742" y="3327608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erview_r4_neutral_young_adult_15_34_pct"/>
          <p:cNvSpPr/>
          <p:nvPr/>
        </p:nvSpPr>
        <p:spPr>
          <a:xfrm>
            <a:off x="7046268" y="3293880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erview_r4_neutral_road_length_km"/>
          <p:cNvSpPr/>
          <p:nvPr/>
        </p:nvSpPr>
        <p:spPr>
          <a:xfrm>
            <a:off x="7138945" y="1317685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erview_r4_neutral_population_density_per_km2"/>
          <p:cNvSpPr/>
          <p:nvPr/>
        </p:nvSpPr>
        <p:spPr>
          <a:xfrm>
            <a:off x="7078724" y="2480934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erview_r4_neutral_intersection_count"/>
          <p:cNvSpPr/>
          <p:nvPr/>
        </p:nvSpPr>
        <p:spPr>
          <a:xfrm>
            <a:off x="7152822" y="3149496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erview_r4_neutral_level4_plus_qualification_pct"/>
          <p:cNvSpPr/>
          <p:nvPr/>
        </p:nvSpPr>
        <p:spPr>
          <a:xfrm>
            <a:off x="7063139" y="1271719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erview_r4_neutral_retail_count"/>
          <p:cNvSpPr/>
          <p:nvPr/>
        </p:nvSpPr>
        <p:spPr>
          <a:xfrm>
            <a:off x="7060741" y="5317121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erview_r4_neutral_lsoa_area_km2"/>
          <p:cNvSpPr/>
          <p:nvPr/>
        </p:nvSpPr>
        <p:spPr>
          <a:xfrm>
            <a:off x="7051131" y="3179708"/>
            <a:ext cx="36380" cy="3638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erview_r4_rank1_crime_rolling_mean_6"/>
          <p:cNvSpPr/>
          <p:nvPr/>
        </p:nvSpPr>
        <p:spPr>
          <a:xfrm>
            <a:off x="6786024" y="3040718"/>
            <a:ext cx="593683" cy="593683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1. Crime roll mean 6
5.04</a:t>
            </a:r>
          </a:p>
        </p:txBody>
      </p:sp>
      <p:sp>
        <p:nvSpPr>
          <p:cNvPr id="118" name="overview_r4_rank2_crime_rolling_mean_3"/>
          <p:cNvSpPr/>
          <p:nvPr/>
        </p:nvSpPr>
        <p:spPr>
          <a:xfrm>
            <a:off x="7379708" y="3052973"/>
            <a:ext cx="358372" cy="358372"/>
          </a:xfrm>
          <a:prstGeom prst="rect">
            <a:avLst/>
          </a:prstGeom>
          <a:solidFill>
            <a:srgbClr val="D5687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119" name="overview_r4_rank3_unemployed_pct_age16plus"/>
          <p:cNvSpPr/>
          <p:nvPr/>
        </p:nvSpPr>
        <p:spPr>
          <a:xfrm>
            <a:off x="7379708" y="2260314"/>
            <a:ext cx="256057" cy="256057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3. Unemployment %
0.42</a:t>
            </a:r>
          </a:p>
        </p:txBody>
      </p:sp>
      <p:sp>
        <p:nvSpPr>
          <p:cNvPr id="120" name="overview_r4_rank4_long_term_sick_disabled_pct"/>
          <p:cNvSpPr/>
          <p:nvPr/>
        </p:nvSpPr>
        <p:spPr>
          <a:xfrm>
            <a:off x="7101434" y="1998145"/>
            <a:ext cx="247197" cy="247197"/>
          </a:xfrm>
          <a:prstGeom prst="rect">
            <a:avLst/>
          </a:prstGeom>
          <a:solidFill>
            <a:srgbClr val="B1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121" name="overview_r4_rank5_owner_occupied_pct"/>
          <p:cNvSpPr/>
          <p:nvPr/>
        </p:nvSpPr>
        <p:spPr>
          <a:xfrm>
            <a:off x="6799937" y="2102230"/>
            <a:ext cx="224200" cy="224200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122" name="overview_r4_rank6_social_rented_pct"/>
          <p:cNvSpPr/>
          <p:nvPr/>
        </p:nvSpPr>
        <p:spPr>
          <a:xfrm>
            <a:off x="6547492" y="2682736"/>
            <a:ext cx="211923" cy="211923"/>
          </a:xfrm>
          <a:prstGeom prst="rect">
            <a:avLst/>
          </a:prstGeom>
          <a:solidFill>
            <a:srgbClr val="D58F5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123" name="overview_r4_rank7_crime_lag_2"/>
          <p:cNvSpPr/>
          <p:nvPr/>
        </p:nvSpPr>
        <p:spPr>
          <a:xfrm>
            <a:off x="6555592" y="3751227"/>
            <a:ext cx="201613" cy="201613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124" name="overview_r4_rank8_private_rented_pct"/>
          <p:cNvSpPr/>
          <p:nvPr/>
        </p:nvSpPr>
        <p:spPr>
          <a:xfrm>
            <a:off x="6842097" y="4329141"/>
            <a:ext cx="198742" cy="198742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125" name="overview_r4_rank9_nightlife_per_km2"/>
          <p:cNvSpPr/>
          <p:nvPr/>
        </p:nvSpPr>
        <p:spPr>
          <a:xfrm>
            <a:off x="7134495" y="4325692"/>
            <a:ext cx="195152" cy="195152"/>
          </a:xfrm>
          <a:prstGeom prst="rect">
            <a:avLst/>
          </a:prstGeom>
          <a:solidFill>
            <a:srgbClr val="099D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126" name="overview_r4_rank10_crime_lag_1"/>
          <p:cNvSpPr/>
          <p:nvPr/>
        </p:nvSpPr>
        <p:spPr>
          <a:xfrm>
            <a:off x="7379708" y="4020845"/>
            <a:ext cx="193634" cy="193634"/>
          </a:xfrm>
          <a:prstGeom prst="rect">
            <a:avLst/>
          </a:prstGeom>
          <a:solidFill>
            <a:srgbClr val="D794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24748" y="484632"/>
            <a:ext cx="186430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 5</a:t>
            </a:r>
          </a:p>
        </p:txBody>
      </p:sp>
      <p:sp>
        <p:nvSpPr>
          <p:cNvPr id="128" name="overview_r5_neutral_older_adult_65_plus_pct"/>
          <p:cNvSpPr/>
          <p:nvPr/>
        </p:nvSpPr>
        <p:spPr>
          <a:xfrm>
            <a:off x="8959555" y="3368345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erview_r5_neutral_transit_stop_count"/>
          <p:cNvSpPr/>
          <p:nvPr/>
        </p:nvSpPr>
        <p:spPr>
          <a:xfrm>
            <a:off x="9097256" y="3152292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erview_r5_neutral_green_space_pct"/>
          <p:cNvSpPr/>
          <p:nvPr/>
        </p:nvSpPr>
        <p:spPr>
          <a:xfrm>
            <a:off x="9211851" y="4253819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erview_r5_neutral_month_cos"/>
          <p:cNvSpPr/>
          <p:nvPr/>
        </p:nvSpPr>
        <p:spPr>
          <a:xfrm>
            <a:off x="8288095" y="2911079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erview_r5_neutral_economically_inactive_pct"/>
          <p:cNvSpPr/>
          <p:nvPr/>
        </p:nvSpPr>
        <p:spPr>
          <a:xfrm>
            <a:off x="9427165" y="4377172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erview_r5_neutral_transit_stop_per_km2"/>
          <p:cNvSpPr/>
          <p:nvPr/>
        </p:nvSpPr>
        <p:spPr>
          <a:xfrm>
            <a:off x="9242173" y="1465094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erview_r5_neutral_retail_per_km2"/>
          <p:cNvSpPr/>
          <p:nvPr/>
        </p:nvSpPr>
        <p:spPr>
          <a:xfrm>
            <a:off x="8730979" y="3981651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erview_r5_neutral_no_qualifications_pct"/>
          <p:cNvSpPr/>
          <p:nvPr/>
        </p:nvSpPr>
        <p:spPr>
          <a:xfrm>
            <a:off x="8473819" y="3822784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erview_r5_neutral_month_sin"/>
          <p:cNvSpPr/>
          <p:nvPr/>
        </p:nvSpPr>
        <p:spPr>
          <a:xfrm>
            <a:off x="9490347" y="2927702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erview_r5_neutral_nightlife_count"/>
          <p:cNvSpPr/>
          <p:nvPr/>
        </p:nvSpPr>
        <p:spPr>
          <a:xfrm>
            <a:off x="8972441" y="3175733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erview_r5_neutral_intersection_per_km2"/>
          <p:cNvSpPr/>
          <p:nvPr/>
        </p:nvSpPr>
        <p:spPr>
          <a:xfrm>
            <a:off x="9208499" y="1606426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erview_r5_neutral_crime_lag_3"/>
          <p:cNvSpPr/>
          <p:nvPr/>
        </p:nvSpPr>
        <p:spPr>
          <a:xfrm>
            <a:off x="8486817" y="2019486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erview_r5_neutral_road_length_km_per_km2"/>
          <p:cNvSpPr/>
          <p:nvPr/>
        </p:nvSpPr>
        <p:spPr>
          <a:xfrm>
            <a:off x="9344823" y="3297837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erview_r5_neutral_young_adult_15_34_pct"/>
          <p:cNvSpPr/>
          <p:nvPr/>
        </p:nvSpPr>
        <p:spPr>
          <a:xfrm>
            <a:off x="9174269" y="2137386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erview_r5_neutral_population_density_per_km2"/>
          <p:cNvSpPr/>
          <p:nvPr/>
        </p:nvSpPr>
        <p:spPr>
          <a:xfrm>
            <a:off x="9120981" y="2020224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erview_r5_neutral_road_length_km"/>
          <p:cNvSpPr/>
          <p:nvPr/>
        </p:nvSpPr>
        <p:spPr>
          <a:xfrm>
            <a:off x="9033633" y="3362317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erview_r5_neutral_intersection_count"/>
          <p:cNvSpPr/>
          <p:nvPr/>
        </p:nvSpPr>
        <p:spPr>
          <a:xfrm>
            <a:off x="9096077" y="3456168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erview_r5_neutral_level4_plus_qualification_pct"/>
          <p:cNvSpPr/>
          <p:nvPr/>
        </p:nvSpPr>
        <p:spPr>
          <a:xfrm>
            <a:off x="9525831" y="2878897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erview_r5_neutral_lsoa_area_km2"/>
          <p:cNvSpPr/>
          <p:nvPr/>
        </p:nvSpPr>
        <p:spPr>
          <a:xfrm>
            <a:off x="9784659" y="3544956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erview_r5_neutral_retail_count"/>
          <p:cNvSpPr/>
          <p:nvPr/>
        </p:nvSpPr>
        <p:spPr>
          <a:xfrm>
            <a:off x="8645733" y="3350178"/>
            <a:ext cx="31093" cy="3109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erview_r5_rank1_crime_rolling_mean_6"/>
          <p:cNvSpPr/>
          <p:nvPr/>
        </p:nvSpPr>
        <p:spPr>
          <a:xfrm>
            <a:off x="8803811" y="3084468"/>
            <a:ext cx="506183" cy="506183"/>
          </a:xfrm>
          <a:prstGeom prst="rect">
            <a:avLst/>
          </a:prstGeom>
          <a:solidFill>
            <a:srgbClr val="9D09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1. Crime roll mean 6
5.01</a:t>
            </a:r>
          </a:p>
        </p:txBody>
      </p:sp>
      <p:sp>
        <p:nvSpPr>
          <p:cNvPr id="149" name="overview_r5_rank2_crime_rolling_mean_3"/>
          <p:cNvSpPr/>
          <p:nvPr/>
        </p:nvSpPr>
        <p:spPr>
          <a:xfrm>
            <a:off x="9309994" y="3238317"/>
            <a:ext cx="305286" cy="305286"/>
          </a:xfrm>
          <a:prstGeom prst="rect">
            <a:avLst/>
          </a:prstGeom>
          <a:solidFill>
            <a:srgbClr val="D5687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2. Crime roll mean 3
1.27</a:t>
            </a:r>
          </a:p>
        </p:txBody>
      </p:sp>
      <p:sp>
        <p:nvSpPr>
          <p:cNvPr id="150" name="overview_r5_rank3_unemployed_pct_age16plus"/>
          <p:cNvSpPr/>
          <p:nvPr/>
        </p:nvSpPr>
        <p:spPr>
          <a:xfrm>
            <a:off x="9135652" y="2236336"/>
            <a:ext cx="216760" cy="216760"/>
          </a:xfrm>
          <a:prstGeom prst="rect">
            <a:avLst/>
          </a:prstGeom>
          <a:solidFill>
            <a:srgbClr val="A2510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3. Unemployment %
0.40</a:t>
            </a:r>
          </a:p>
        </p:txBody>
      </p:sp>
      <p:sp>
        <p:nvSpPr>
          <p:cNvPr id="151" name="overview_r5_rank4_long_term_sick_disabled_pct"/>
          <p:cNvSpPr/>
          <p:nvPr/>
        </p:nvSpPr>
        <p:spPr>
          <a:xfrm>
            <a:off x="8911020" y="1717983"/>
            <a:ext cx="213705" cy="213705"/>
          </a:xfrm>
          <a:prstGeom prst="rect">
            <a:avLst/>
          </a:prstGeom>
          <a:solidFill>
            <a:srgbClr val="AB570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4. Long-term sick %
0.38</a:t>
            </a:r>
          </a:p>
        </p:txBody>
      </p:sp>
      <p:sp>
        <p:nvSpPr>
          <p:cNvPr id="152" name="overview_r5_rank5_owner_occupied_pct"/>
          <p:cNvSpPr/>
          <p:nvPr/>
        </p:nvSpPr>
        <p:spPr>
          <a:xfrm>
            <a:off x="8881535" y="2284961"/>
            <a:ext cx="190804" cy="190804"/>
          </a:xfrm>
          <a:prstGeom prst="rect">
            <a:avLst/>
          </a:prstGeom>
          <a:solidFill>
            <a:srgbClr val="D77F3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5. Owner occupied %
0.24</a:t>
            </a:r>
          </a:p>
        </p:txBody>
      </p:sp>
      <p:sp>
        <p:nvSpPr>
          <p:cNvPr id="153" name="overview_r5_rank6_social_rented_pct"/>
          <p:cNvSpPr/>
          <p:nvPr/>
        </p:nvSpPr>
        <p:spPr>
          <a:xfrm>
            <a:off x="8600544" y="3055212"/>
            <a:ext cx="181667" cy="181667"/>
          </a:xfrm>
          <a:prstGeom prst="rect">
            <a:avLst/>
          </a:prstGeom>
          <a:solidFill>
            <a:srgbClr val="D58E5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6. Social rented %
0.20</a:t>
            </a:r>
          </a:p>
        </p:txBody>
      </p:sp>
      <p:sp>
        <p:nvSpPr>
          <p:cNvPr id="154" name="overview_r5_rank7_crime_lag_2"/>
          <p:cNvSpPr/>
          <p:nvPr/>
        </p:nvSpPr>
        <p:spPr>
          <a:xfrm>
            <a:off x="8594670" y="3545159"/>
            <a:ext cx="171324" cy="171324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155" name="overview_r5_rank8_private_rented_pct"/>
          <p:cNvSpPr/>
          <p:nvPr/>
        </p:nvSpPr>
        <p:spPr>
          <a:xfrm>
            <a:off x="8810074" y="4232311"/>
            <a:ext cx="168740" cy="168740"/>
          </a:xfrm>
          <a:prstGeom prst="rect">
            <a:avLst/>
          </a:prstGeom>
          <a:solidFill>
            <a:srgbClr val="D5A07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156" name="overview_r5_rank9_nightlife_per_km2"/>
          <p:cNvSpPr/>
          <p:nvPr/>
        </p:nvSpPr>
        <p:spPr>
          <a:xfrm>
            <a:off x="9036540" y="4230303"/>
            <a:ext cx="166892" cy="166892"/>
          </a:xfrm>
          <a:prstGeom prst="rect">
            <a:avLst/>
          </a:prstGeom>
          <a:solidFill>
            <a:srgbClr val="08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157" name="overview_r5_rank10_crime_lag_1"/>
          <p:cNvSpPr/>
          <p:nvPr/>
        </p:nvSpPr>
        <p:spPr>
          <a:xfrm>
            <a:off x="9315534" y="3953745"/>
            <a:ext cx="164340" cy="164340"/>
          </a:xfrm>
          <a:prstGeom prst="rect">
            <a:avLst/>
          </a:prstGeom>
          <a:solidFill>
            <a:srgbClr val="D794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098785" y="484632"/>
            <a:ext cx="186430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 6</a:t>
            </a:r>
          </a:p>
        </p:txBody>
      </p:sp>
      <p:sp>
        <p:nvSpPr>
          <p:cNvPr id="159" name="overview_r6_neutral_older_adult_65_plus_pct"/>
          <p:cNvSpPr/>
          <p:nvPr/>
        </p:nvSpPr>
        <p:spPr>
          <a:xfrm>
            <a:off x="11193769" y="4264217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erview_r6_neutral_transit_stop_count"/>
          <p:cNvSpPr/>
          <p:nvPr/>
        </p:nvSpPr>
        <p:spPr>
          <a:xfrm>
            <a:off x="11084774" y="3676933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erview_r6_neutral_green_space_pct"/>
          <p:cNvSpPr/>
          <p:nvPr/>
        </p:nvSpPr>
        <p:spPr>
          <a:xfrm>
            <a:off x="10975712" y="3557757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erview_r6_neutral_economically_inactive_pct"/>
          <p:cNvSpPr/>
          <p:nvPr/>
        </p:nvSpPr>
        <p:spPr>
          <a:xfrm>
            <a:off x="11001680" y="3146617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erview_r6_neutral_month_cos"/>
          <p:cNvSpPr/>
          <p:nvPr/>
        </p:nvSpPr>
        <p:spPr>
          <a:xfrm>
            <a:off x="10853380" y="5102997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erview_r6_neutral_transit_stop_per_km2"/>
          <p:cNvSpPr/>
          <p:nvPr/>
        </p:nvSpPr>
        <p:spPr>
          <a:xfrm>
            <a:off x="10550412" y="3046591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erview_r6_neutral_retail_per_km2"/>
          <p:cNvSpPr/>
          <p:nvPr/>
        </p:nvSpPr>
        <p:spPr>
          <a:xfrm>
            <a:off x="10500529" y="3423272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erview_r6_neutral_no_qualifications_pct"/>
          <p:cNvSpPr/>
          <p:nvPr/>
        </p:nvSpPr>
        <p:spPr>
          <a:xfrm>
            <a:off x="10588687" y="2453792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erview_r6_neutral_crime_lag_3"/>
          <p:cNvSpPr/>
          <p:nvPr/>
        </p:nvSpPr>
        <p:spPr>
          <a:xfrm>
            <a:off x="10467784" y="3911253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erview_r6_neutral_intersection_per_km2"/>
          <p:cNvSpPr/>
          <p:nvPr/>
        </p:nvSpPr>
        <p:spPr>
          <a:xfrm>
            <a:off x="10922116" y="3594805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erview_r6_neutral_nightlife_count"/>
          <p:cNvSpPr/>
          <p:nvPr/>
        </p:nvSpPr>
        <p:spPr>
          <a:xfrm>
            <a:off x="11456140" y="3110343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erview_r6_neutral_road_length_km_per_km2"/>
          <p:cNvSpPr/>
          <p:nvPr/>
        </p:nvSpPr>
        <p:spPr>
          <a:xfrm>
            <a:off x="10997455" y="4086900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erview_r6_neutral_young_adult_15_34_pct"/>
          <p:cNvSpPr/>
          <p:nvPr/>
        </p:nvSpPr>
        <p:spPr>
          <a:xfrm>
            <a:off x="10600338" y="3829793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erview_r6_neutral_population_density_per_km2"/>
          <p:cNvSpPr/>
          <p:nvPr/>
        </p:nvSpPr>
        <p:spPr>
          <a:xfrm>
            <a:off x="10327391" y="2936578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erview_r6_neutral_month_sin"/>
          <p:cNvSpPr/>
          <p:nvPr/>
        </p:nvSpPr>
        <p:spPr>
          <a:xfrm>
            <a:off x="10956833" y="3258585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erview_r6_neutral_intersection_count"/>
          <p:cNvSpPr/>
          <p:nvPr/>
        </p:nvSpPr>
        <p:spPr>
          <a:xfrm>
            <a:off x="10628031" y="4330157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erview_r6_neutral_level4_plus_qualification_pct"/>
          <p:cNvSpPr/>
          <p:nvPr/>
        </p:nvSpPr>
        <p:spPr>
          <a:xfrm>
            <a:off x="11106487" y="4375170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erview_r6_neutral_road_length_km"/>
          <p:cNvSpPr/>
          <p:nvPr/>
        </p:nvSpPr>
        <p:spPr>
          <a:xfrm>
            <a:off x="10840756" y="2557144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erview_r6_neutral_lsoa_area_km2"/>
          <p:cNvSpPr/>
          <p:nvPr/>
        </p:nvSpPr>
        <p:spPr>
          <a:xfrm>
            <a:off x="11028725" y="3278437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erview_r6_neutral_retail_count"/>
          <p:cNvSpPr/>
          <p:nvPr/>
        </p:nvSpPr>
        <p:spPr>
          <a:xfrm>
            <a:off x="11754501" y="2795194"/>
            <a:ext cx="34922" cy="34922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erview_r6_rank1_crime_rolling_mean_6"/>
          <p:cNvSpPr/>
          <p:nvPr/>
        </p:nvSpPr>
        <p:spPr>
          <a:xfrm>
            <a:off x="10746173" y="3052793"/>
            <a:ext cx="569533" cy="569533"/>
          </a:xfrm>
          <a:prstGeom prst="rect">
            <a:avLst/>
          </a:prstGeom>
          <a:solidFill>
            <a:srgbClr val="9C09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1. Crime roll mean 6
5.03</a:t>
            </a:r>
          </a:p>
        </p:txBody>
      </p:sp>
      <p:sp>
        <p:nvSpPr>
          <p:cNvPr id="180" name="overview_r6_rank2_crime_rolling_mean_3"/>
          <p:cNvSpPr/>
          <p:nvPr/>
        </p:nvSpPr>
        <p:spPr>
          <a:xfrm>
            <a:off x="11315707" y="3197060"/>
            <a:ext cx="344157" cy="344157"/>
          </a:xfrm>
          <a:prstGeom prst="rect">
            <a:avLst/>
          </a:prstGeom>
          <a:solidFill>
            <a:srgbClr val="D5677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181" name="overview_r6_rank3_unemployed_pct_age16plus"/>
          <p:cNvSpPr/>
          <p:nvPr/>
        </p:nvSpPr>
        <p:spPr>
          <a:xfrm>
            <a:off x="11315707" y="2438757"/>
            <a:ext cx="244344" cy="244344"/>
          </a:xfrm>
          <a:prstGeom prst="rect">
            <a:avLst/>
          </a:prstGeom>
          <a:solidFill>
            <a:srgbClr val="9F4F0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182" name="overview_r6_rank4_long_term_sick_disabled_pct"/>
          <p:cNvSpPr/>
          <p:nvPr/>
        </p:nvSpPr>
        <p:spPr>
          <a:xfrm>
            <a:off x="10957767" y="1985539"/>
            <a:ext cx="237819" cy="237819"/>
          </a:xfrm>
          <a:prstGeom prst="rect">
            <a:avLst/>
          </a:prstGeom>
          <a:solidFill>
            <a:srgbClr val="B0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183" name="overview_r6_rank5_owner_occupied_pct"/>
          <p:cNvSpPr/>
          <p:nvPr/>
        </p:nvSpPr>
        <p:spPr>
          <a:xfrm>
            <a:off x="10742372" y="2147905"/>
            <a:ext cx="215394" cy="215394"/>
          </a:xfrm>
          <a:prstGeom prst="rect">
            <a:avLst/>
          </a:prstGeom>
          <a:solidFill>
            <a:srgbClr val="D7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184" name="overview_r6_rank6_social_rented_pct"/>
          <p:cNvSpPr/>
          <p:nvPr/>
        </p:nvSpPr>
        <p:spPr>
          <a:xfrm>
            <a:off x="10520046" y="2711768"/>
            <a:ext cx="204307" cy="204307"/>
          </a:xfrm>
          <a:prstGeom prst="rect">
            <a:avLst/>
          </a:prstGeom>
          <a:solidFill>
            <a:srgbClr val="D58E5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6. Social rented %
0.20</a:t>
            </a:r>
          </a:p>
        </p:txBody>
      </p:sp>
      <p:sp>
        <p:nvSpPr>
          <p:cNvPr id="185" name="overview_r6_rank7_crime_lag_2"/>
          <p:cNvSpPr/>
          <p:nvPr/>
        </p:nvSpPr>
        <p:spPr>
          <a:xfrm>
            <a:off x="10514321" y="3483736"/>
            <a:ext cx="191542" cy="191542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7. Crime lag 2
0.14</a:t>
            </a:r>
          </a:p>
        </p:txBody>
      </p:sp>
      <p:sp>
        <p:nvSpPr>
          <p:cNvPr id="186" name="overview_r6_rank8_private_rented_pct"/>
          <p:cNvSpPr/>
          <p:nvPr/>
        </p:nvSpPr>
        <p:spPr>
          <a:xfrm>
            <a:off x="10792225" y="4286302"/>
            <a:ext cx="190743" cy="190743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187" name="overview_r6_rank9_nightlife_per_km2"/>
          <p:cNvSpPr/>
          <p:nvPr/>
        </p:nvSpPr>
        <p:spPr>
          <a:xfrm>
            <a:off x="11018378" y="4307903"/>
            <a:ext cx="187600" cy="187600"/>
          </a:xfrm>
          <a:prstGeom prst="rect">
            <a:avLst/>
          </a:prstGeom>
          <a:solidFill>
            <a:srgbClr val="089B6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188" name="overview_r6_rank10_crime_lag_1"/>
          <p:cNvSpPr/>
          <p:nvPr/>
        </p:nvSpPr>
        <p:spPr>
          <a:xfrm>
            <a:off x="11315707" y="4002673"/>
            <a:ext cx="184225" cy="184225"/>
          </a:xfrm>
          <a:prstGeom prst="rect">
            <a:avLst/>
          </a:prstGeom>
          <a:solidFill>
            <a:srgbClr val="D794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0B8C0"/>
                </a:solidFill>
                <a:latin typeface="Calibri"/>
              </a:rPr>
              <a:t>Rectangle size encodes |SMILE coefficient| (shared scale). Each category shares one hue; shade darkens with |coef| (same mapping in every rep). Outline = outside top-10. Editable shapes — not an image. Not causal.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 attribution stability — Rep 1</a:t>
            </a:r>
          </a:p>
        </p:txBody>
      </p:sp>
      <p:sp>
        <p:nvSpPr>
          <p:cNvPr id="3" name="rep1_neutral_older_adult_65_plus_pct"/>
          <p:cNvSpPr/>
          <p:nvPr/>
        </p:nvSpPr>
        <p:spPr>
          <a:xfrm>
            <a:off x="9153810" y="4123855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p1_neutral_transit_stop_count"/>
          <p:cNvSpPr/>
          <p:nvPr/>
        </p:nvSpPr>
        <p:spPr>
          <a:xfrm>
            <a:off x="7196509" y="3445510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p1_neutral_green_space_pct"/>
          <p:cNvSpPr/>
          <p:nvPr/>
        </p:nvSpPr>
        <p:spPr>
          <a:xfrm>
            <a:off x="6165792" y="3417554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p1_neutral_month_cos"/>
          <p:cNvSpPr/>
          <p:nvPr/>
        </p:nvSpPr>
        <p:spPr>
          <a:xfrm>
            <a:off x="8214637" y="4287047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p1_neutral_economically_inactive_pct"/>
          <p:cNvSpPr/>
          <p:nvPr/>
        </p:nvSpPr>
        <p:spPr>
          <a:xfrm>
            <a:off x="6698065" y="2285228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1_neutral_transit_stop_per_km2"/>
          <p:cNvSpPr/>
          <p:nvPr/>
        </p:nvSpPr>
        <p:spPr>
          <a:xfrm>
            <a:off x="5494691" y="5254747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p1_neutral_retail_per_km2"/>
          <p:cNvSpPr/>
          <p:nvPr/>
        </p:nvSpPr>
        <p:spPr>
          <a:xfrm>
            <a:off x="7563622" y="2692686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p1_neutral_no_qualifications_pct"/>
          <p:cNvSpPr/>
          <p:nvPr/>
        </p:nvSpPr>
        <p:spPr>
          <a:xfrm>
            <a:off x="5725184" y="3459998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p1_neutral_crime_lag_3"/>
          <p:cNvSpPr/>
          <p:nvPr/>
        </p:nvSpPr>
        <p:spPr>
          <a:xfrm>
            <a:off x="3186000" y="3714509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p1_neutral_month_sin"/>
          <p:cNvSpPr/>
          <p:nvPr/>
        </p:nvSpPr>
        <p:spPr>
          <a:xfrm>
            <a:off x="6339859" y="3312274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1_neutral_nightlife_count"/>
          <p:cNvSpPr/>
          <p:nvPr/>
        </p:nvSpPr>
        <p:spPr>
          <a:xfrm>
            <a:off x="7971510" y="2604191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p1_neutral_intersection_per_km2"/>
          <p:cNvSpPr/>
          <p:nvPr/>
        </p:nvSpPr>
        <p:spPr>
          <a:xfrm>
            <a:off x="6687893" y="2789355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p1_neutral_road_length_km_per_km2"/>
          <p:cNvSpPr/>
          <p:nvPr/>
        </p:nvSpPr>
        <p:spPr>
          <a:xfrm>
            <a:off x="4444520" y="4739411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p1_neutral_young_adult_15_34_pct"/>
          <p:cNvSpPr/>
          <p:nvPr/>
        </p:nvSpPr>
        <p:spPr>
          <a:xfrm>
            <a:off x="6256845" y="5206121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p1_neutral_population_density_per_km2"/>
          <p:cNvSpPr/>
          <p:nvPr/>
        </p:nvSpPr>
        <p:spPr>
          <a:xfrm>
            <a:off x="4948577" y="3064385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p1_neutral_road_length_km"/>
          <p:cNvSpPr/>
          <p:nvPr/>
        </p:nvSpPr>
        <p:spPr>
          <a:xfrm>
            <a:off x="4958708" y="4370308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p1_neutral_intersection_count"/>
          <p:cNvSpPr/>
          <p:nvPr/>
        </p:nvSpPr>
        <p:spPr>
          <a:xfrm>
            <a:off x="4774362" y="3704693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p1_neutral_level4_plus_qualification_pct"/>
          <p:cNvSpPr/>
          <p:nvPr/>
        </p:nvSpPr>
        <p:spPr>
          <a:xfrm>
            <a:off x="9087530" y="3189960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p1_neutral_lsoa_area_km2"/>
          <p:cNvSpPr/>
          <p:nvPr/>
        </p:nvSpPr>
        <p:spPr>
          <a:xfrm>
            <a:off x="8086420" y="3484662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p1_neutral_retail_count"/>
          <p:cNvSpPr/>
          <p:nvPr/>
        </p:nvSpPr>
        <p:spPr>
          <a:xfrm>
            <a:off x="7312741" y="4360643"/>
            <a:ext cx="152723" cy="15272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p1_rank1_crime_rolling_mean_6"/>
          <p:cNvSpPr/>
          <p:nvPr/>
        </p:nvSpPr>
        <p:spPr>
          <a:xfrm>
            <a:off x="4831692" y="2225652"/>
            <a:ext cx="2498134" cy="2498134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Crime roll mean 6
5.07</a:t>
            </a:r>
          </a:p>
        </p:txBody>
      </p:sp>
      <p:sp>
        <p:nvSpPr>
          <p:cNvPr id="24" name="rep1_rank2_crime_rolling_mean_3"/>
          <p:cNvSpPr/>
          <p:nvPr/>
        </p:nvSpPr>
        <p:spPr>
          <a:xfrm>
            <a:off x="7329827" y="2702318"/>
            <a:ext cx="1508139" cy="1508139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
1.29</a:t>
            </a:r>
          </a:p>
        </p:txBody>
      </p:sp>
      <p:sp>
        <p:nvSpPr>
          <p:cNvPr id="25" name="rep1_rank3_unemployed_pct_age16plus"/>
          <p:cNvSpPr/>
          <p:nvPr/>
        </p:nvSpPr>
        <p:spPr>
          <a:xfrm>
            <a:off x="7329827" y="2082116"/>
            <a:ext cx="1069036" cy="1069036"/>
          </a:xfrm>
          <a:prstGeom prst="rect">
            <a:avLst/>
          </a:prstGeom>
          <a:solidFill>
            <a:srgbClr val="9F4F0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26" name="rep1_rank4_long_term_sick_disabled_pct"/>
          <p:cNvSpPr/>
          <p:nvPr/>
        </p:nvSpPr>
        <p:spPr>
          <a:xfrm>
            <a:off x="6147655" y="1744771"/>
            <a:ext cx="1038396" cy="1038396"/>
          </a:xfrm>
          <a:prstGeom prst="rect">
            <a:avLst/>
          </a:prstGeom>
          <a:solidFill>
            <a:srgbClr val="B1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27" name="rep1_rank5_owner_occupied_pct"/>
          <p:cNvSpPr/>
          <p:nvPr/>
        </p:nvSpPr>
        <p:spPr>
          <a:xfrm>
            <a:off x="4774728" y="1883743"/>
            <a:ext cx="940830" cy="940830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28" name="rep1_rank6_social_rented_pct"/>
          <p:cNvSpPr/>
          <p:nvPr/>
        </p:nvSpPr>
        <p:spPr>
          <a:xfrm>
            <a:off x="3843860" y="2505670"/>
            <a:ext cx="890754" cy="890754"/>
          </a:xfrm>
          <a:prstGeom prst="rect">
            <a:avLst/>
          </a:prstGeom>
          <a:solidFill>
            <a:srgbClr val="D58F5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29" name="rep1_rank7_crime_lag_2"/>
          <p:cNvSpPr/>
          <p:nvPr/>
        </p:nvSpPr>
        <p:spPr>
          <a:xfrm>
            <a:off x="3817378" y="3271796"/>
            <a:ext cx="841697" cy="841697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30" name="rep1_rank8_private_rented_pct"/>
          <p:cNvSpPr/>
          <p:nvPr/>
        </p:nvSpPr>
        <p:spPr>
          <a:xfrm>
            <a:off x="4786385" y="4161578"/>
            <a:ext cx="832608" cy="832608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1" name="rep1_rank9_nightlife_per_km2"/>
          <p:cNvSpPr/>
          <p:nvPr/>
        </p:nvSpPr>
        <p:spPr>
          <a:xfrm>
            <a:off x="5686905" y="4166805"/>
            <a:ext cx="817688" cy="817688"/>
          </a:xfrm>
          <a:prstGeom prst="rect">
            <a:avLst/>
          </a:prstGeom>
          <a:solidFill>
            <a:srgbClr val="099E6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2" name="rep1_rank10_crime_lag_1"/>
          <p:cNvSpPr/>
          <p:nvPr/>
        </p:nvSpPr>
        <p:spPr>
          <a:xfrm>
            <a:off x="7329827" y="3809140"/>
            <a:ext cx="796205" cy="796205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Crime lag 1
0.11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Each rectangle is an editable PowerPoint shape with editable text. Category hue is fixed; shade encodes |coef| within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 attribution stability — Rep 2</a:t>
            </a:r>
          </a:p>
        </p:txBody>
      </p:sp>
      <p:sp>
        <p:nvSpPr>
          <p:cNvPr id="3" name="rep2_neutral_transit_stop_count"/>
          <p:cNvSpPr/>
          <p:nvPr/>
        </p:nvSpPr>
        <p:spPr>
          <a:xfrm>
            <a:off x="8375974" y="3855857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p2_neutral_older_adult_65_plus_pct"/>
          <p:cNvSpPr/>
          <p:nvPr/>
        </p:nvSpPr>
        <p:spPr>
          <a:xfrm>
            <a:off x="5924050" y="3546344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p2_neutral_green_space_pct"/>
          <p:cNvSpPr/>
          <p:nvPr/>
        </p:nvSpPr>
        <p:spPr>
          <a:xfrm>
            <a:off x="8214285" y="3450427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p2_neutral_economically_inactive_pct"/>
          <p:cNvSpPr/>
          <p:nvPr/>
        </p:nvSpPr>
        <p:spPr>
          <a:xfrm>
            <a:off x="5844853" y="3418653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p2_neutral_transit_stop_per_km2"/>
          <p:cNvSpPr/>
          <p:nvPr/>
        </p:nvSpPr>
        <p:spPr>
          <a:xfrm>
            <a:off x="5875377" y="4749810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2_neutral_retail_per_km2"/>
          <p:cNvSpPr/>
          <p:nvPr/>
        </p:nvSpPr>
        <p:spPr>
          <a:xfrm>
            <a:off x="6762017" y="4887898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p2_neutral_month_cos"/>
          <p:cNvSpPr/>
          <p:nvPr/>
        </p:nvSpPr>
        <p:spPr>
          <a:xfrm>
            <a:off x="3877829" y="2794066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p2_neutral_no_qualifications_pct"/>
          <p:cNvSpPr/>
          <p:nvPr/>
        </p:nvSpPr>
        <p:spPr>
          <a:xfrm>
            <a:off x="7335060" y="4470329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p2_neutral_crime_lag_3"/>
          <p:cNvSpPr/>
          <p:nvPr/>
        </p:nvSpPr>
        <p:spPr>
          <a:xfrm>
            <a:off x="5023481" y="5371947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p2_neutral_nightlife_count"/>
          <p:cNvSpPr/>
          <p:nvPr/>
        </p:nvSpPr>
        <p:spPr>
          <a:xfrm>
            <a:off x="6666935" y="4193390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2_neutral_month_sin"/>
          <p:cNvSpPr/>
          <p:nvPr/>
        </p:nvSpPr>
        <p:spPr>
          <a:xfrm>
            <a:off x="6275590" y="3368917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p2_neutral_intersection_per_km2"/>
          <p:cNvSpPr/>
          <p:nvPr/>
        </p:nvSpPr>
        <p:spPr>
          <a:xfrm>
            <a:off x="4267705" y="3474752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p2_neutral_road_length_km_per_km2"/>
          <p:cNvSpPr/>
          <p:nvPr/>
        </p:nvSpPr>
        <p:spPr>
          <a:xfrm>
            <a:off x="5902966" y="2593974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p2_neutral_young_adult_15_34_pct"/>
          <p:cNvSpPr/>
          <p:nvPr/>
        </p:nvSpPr>
        <p:spPr>
          <a:xfrm>
            <a:off x="6109751" y="3561556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p2_neutral_level4_plus_qualification_pct"/>
          <p:cNvSpPr/>
          <p:nvPr/>
        </p:nvSpPr>
        <p:spPr>
          <a:xfrm>
            <a:off x="5543616" y="3384368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p2_neutral_intersection_count"/>
          <p:cNvSpPr/>
          <p:nvPr/>
        </p:nvSpPr>
        <p:spPr>
          <a:xfrm>
            <a:off x="6058323" y="3301643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p2_neutral_population_density_per_km2"/>
          <p:cNvSpPr/>
          <p:nvPr/>
        </p:nvSpPr>
        <p:spPr>
          <a:xfrm>
            <a:off x="8030778" y="1669839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p2_neutral_road_length_km"/>
          <p:cNvSpPr/>
          <p:nvPr/>
        </p:nvSpPr>
        <p:spPr>
          <a:xfrm>
            <a:off x="5145450" y="2121293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p2_neutral_lsoa_area_km2"/>
          <p:cNvSpPr/>
          <p:nvPr/>
        </p:nvSpPr>
        <p:spPr>
          <a:xfrm>
            <a:off x="5607281" y="4738887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p2_neutral_retail_count"/>
          <p:cNvSpPr/>
          <p:nvPr/>
        </p:nvSpPr>
        <p:spPr>
          <a:xfrm>
            <a:off x="4733998" y="5008788"/>
            <a:ext cx="158985" cy="158985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p2_rank1_crime_rolling_mean_6"/>
          <p:cNvSpPr/>
          <p:nvPr/>
        </p:nvSpPr>
        <p:spPr>
          <a:xfrm>
            <a:off x="4779970" y="2173930"/>
            <a:ext cx="2601578" cy="2601578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Crime roll mean 6
5.07</a:t>
            </a:r>
          </a:p>
        </p:txBody>
      </p:sp>
      <p:sp>
        <p:nvSpPr>
          <p:cNvPr id="24" name="rep2_rank2_crime_rolling_mean_3"/>
          <p:cNvSpPr/>
          <p:nvPr/>
        </p:nvSpPr>
        <p:spPr>
          <a:xfrm>
            <a:off x="7381549" y="2616962"/>
            <a:ext cx="1569186" cy="1569186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
1.29</a:t>
            </a:r>
          </a:p>
        </p:txBody>
      </p:sp>
      <p:sp>
        <p:nvSpPr>
          <p:cNvPr id="25" name="rep2_rank3_unemployed_pct_age16plus"/>
          <p:cNvSpPr/>
          <p:nvPr/>
        </p:nvSpPr>
        <p:spPr>
          <a:xfrm>
            <a:off x="7381549" y="1972079"/>
            <a:ext cx="1111795" cy="1111795"/>
          </a:xfrm>
          <a:prstGeom prst="rect">
            <a:avLst/>
          </a:prstGeom>
          <a:solidFill>
            <a:srgbClr val="9F500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26" name="rep2_rank4_long_term_sick_disabled_pct"/>
          <p:cNvSpPr/>
          <p:nvPr/>
        </p:nvSpPr>
        <p:spPr>
          <a:xfrm>
            <a:off x="5922454" y="1611308"/>
            <a:ext cx="1081934" cy="1081934"/>
          </a:xfrm>
          <a:prstGeom prst="rect">
            <a:avLst/>
          </a:prstGeom>
          <a:solidFill>
            <a:srgbClr val="B1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27" name="rep2_rank5_owner_occupied_pct"/>
          <p:cNvSpPr/>
          <p:nvPr/>
        </p:nvSpPr>
        <p:spPr>
          <a:xfrm>
            <a:off x="4866051" y="1812248"/>
            <a:ext cx="981082" cy="981082"/>
          </a:xfrm>
          <a:prstGeom prst="rect">
            <a:avLst/>
          </a:prstGeom>
          <a:solidFill>
            <a:srgbClr val="D8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28" name="rep2_rank6_social_rented_pct"/>
          <p:cNvSpPr/>
          <p:nvPr/>
        </p:nvSpPr>
        <p:spPr>
          <a:xfrm>
            <a:off x="3720398" y="2482277"/>
            <a:ext cx="924892" cy="924892"/>
          </a:xfrm>
          <a:prstGeom prst="rect">
            <a:avLst/>
          </a:prstGeom>
          <a:solidFill>
            <a:srgbClr val="D58F5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29" name="rep2_rank7_crime_lag_2"/>
          <p:cNvSpPr/>
          <p:nvPr/>
        </p:nvSpPr>
        <p:spPr>
          <a:xfrm>
            <a:off x="3736626" y="3179000"/>
            <a:ext cx="880344" cy="880344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30" name="rep2_rank8_private_rented_pct"/>
          <p:cNvSpPr/>
          <p:nvPr/>
        </p:nvSpPr>
        <p:spPr>
          <a:xfrm>
            <a:off x="5064309" y="4171474"/>
            <a:ext cx="866753" cy="866753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1" name="rep2_rank9_nightlife_per_km2"/>
          <p:cNvSpPr/>
          <p:nvPr/>
        </p:nvSpPr>
        <p:spPr>
          <a:xfrm>
            <a:off x="6244156" y="4173762"/>
            <a:ext cx="853611" cy="853611"/>
          </a:xfrm>
          <a:prstGeom prst="rect">
            <a:avLst/>
          </a:prstGeom>
          <a:solidFill>
            <a:srgbClr val="08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2" name="rep2_rank10_crime_lag_1"/>
          <p:cNvSpPr/>
          <p:nvPr/>
        </p:nvSpPr>
        <p:spPr>
          <a:xfrm>
            <a:off x="7381549" y="3955648"/>
            <a:ext cx="831319" cy="831319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Crime lag 1
0.11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Each rectangle is an editable PowerPoint shape with editable text. Category hue is fixed; shade encodes |coef| within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 attribution stability — Rep 3</a:t>
            </a:r>
          </a:p>
        </p:txBody>
      </p:sp>
      <p:sp>
        <p:nvSpPr>
          <p:cNvPr id="3" name="rep3_neutral_crime_lag_1"/>
          <p:cNvSpPr/>
          <p:nvPr/>
        </p:nvSpPr>
        <p:spPr>
          <a:xfrm>
            <a:off x="5826101" y="3741403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p3_neutral_transit_stop_count"/>
          <p:cNvSpPr/>
          <p:nvPr/>
        </p:nvSpPr>
        <p:spPr>
          <a:xfrm>
            <a:off x="3490283" y="1996825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p3_neutral_older_adult_65_plus_pct"/>
          <p:cNvSpPr/>
          <p:nvPr/>
        </p:nvSpPr>
        <p:spPr>
          <a:xfrm>
            <a:off x="6011661" y="3650744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p3_neutral_month_cos"/>
          <p:cNvSpPr/>
          <p:nvPr/>
        </p:nvSpPr>
        <p:spPr>
          <a:xfrm>
            <a:off x="5212007" y="5444329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p3_neutral_economically_inactive_pct"/>
          <p:cNvSpPr/>
          <p:nvPr/>
        </p:nvSpPr>
        <p:spPr>
          <a:xfrm>
            <a:off x="6329218" y="3321591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3_neutral_transit_stop_per_km2"/>
          <p:cNvSpPr/>
          <p:nvPr/>
        </p:nvSpPr>
        <p:spPr>
          <a:xfrm>
            <a:off x="6150053" y="3754371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p3_neutral_retail_per_km2"/>
          <p:cNvSpPr/>
          <p:nvPr/>
        </p:nvSpPr>
        <p:spPr>
          <a:xfrm>
            <a:off x="7602493" y="2667018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p3_neutral_no_qualifications_pct"/>
          <p:cNvSpPr/>
          <p:nvPr/>
        </p:nvSpPr>
        <p:spPr>
          <a:xfrm>
            <a:off x="5922093" y="3534917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p3_neutral_crime_lag_3"/>
          <p:cNvSpPr/>
          <p:nvPr/>
        </p:nvSpPr>
        <p:spPr>
          <a:xfrm>
            <a:off x="7052283" y="4423765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p3_neutral_month_sin"/>
          <p:cNvSpPr/>
          <p:nvPr/>
        </p:nvSpPr>
        <p:spPr>
          <a:xfrm>
            <a:off x="6587425" y="2639241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3_neutral_nightlife_count"/>
          <p:cNvSpPr/>
          <p:nvPr/>
        </p:nvSpPr>
        <p:spPr>
          <a:xfrm>
            <a:off x="4931908" y="5170118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p3_neutral_intersection_per_km2"/>
          <p:cNvSpPr/>
          <p:nvPr/>
        </p:nvSpPr>
        <p:spPr>
          <a:xfrm>
            <a:off x="5633188" y="3274838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p3_neutral_road_length_km_per_km2"/>
          <p:cNvSpPr/>
          <p:nvPr/>
        </p:nvSpPr>
        <p:spPr>
          <a:xfrm>
            <a:off x="7453511" y="2787371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p3_neutral_young_adult_15_34_pct"/>
          <p:cNvSpPr/>
          <p:nvPr/>
        </p:nvSpPr>
        <p:spPr>
          <a:xfrm>
            <a:off x="5966259" y="3323142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p3_neutral_road_length_km"/>
          <p:cNvSpPr/>
          <p:nvPr/>
        </p:nvSpPr>
        <p:spPr>
          <a:xfrm>
            <a:off x="5426898" y="3200510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p3_neutral_level4_plus_qualification_pct"/>
          <p:cNvSpPr/>
          <p:nvPr/>
        </p:nvSpPr>
        <p:spPr>
          <a:xfrm>
            <a:off x="4077620" y="4278931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p3_neutral_population_density_per_km2"/>
          <p:cNvSpPr/>
          <p:nvPr/>
        </p:nvSpPr>
        <p:spPr>
          <a:xfrm>
            <a:off x="8433672" y="2462724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p3_neutral_intersection_count"/>
          <p:cNvSpPr/>
          <p:nvPr/>
        </p:nvSpPr>
        <p:spPr>
          <a:xfrm>
            <a:off x="6967744" y="3967893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p3_neutral_retail_count"/>
          <p:cNvSpPr/>
          <p:nvPr/>
        </p:nvSpPr>
        <p:spPr>
          <a:xfrm>
            <a:off x="8341560" y="4920067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p3_neutral_lsoa_area_km2"/>
          <p:cNvSpPr/>
          <p:nvPr/>
        </p:nvSpPr>
        <p:spPr>
          <a:xfrm>
            <a:off x="5511519" y="3497408"/>
            <a:ext cx="152927" cy="152927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p3_rank1_crime_rolling_mean_6"/>
          <p:cNvSpPr/>
          <p:nvPr/>
        </p:nvSpPr>
        <p:spPr>
          <a:xfrm>
            <a:off x="4831706" y="2225666"/>
            <a:ext cx="2498107" cy="2498107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Crime roll mean 6
5.05</a:t>
            </a:r>
          </a:p>
        </p:txBody>
      </p:sp>
      <p:sp>
        <p:nvSpPr>
          <p:cNvPr id="24" name="rep3_rank2_crime_rolling_mean_3"/>
          <p:cNvSpPr/>
          <p:nvPr/>
        </p:nvSpPr>
        <p:spPr>
          <a:xfrm>
            <a:off x="7329813" y="2625148"/>
            <a:ext cx="1508001" cy="1508001"/>
          </a:xfrm>
          <a:prstGeom prst="rect">
            <a:avLst/>
          </a:prstGeom>
          <a:solidFill>
            <a:srgbClr val="D567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25" name="rep3_rank3_unemployed_pct_age16plus"/>
          <p:cNvSpPr/>
          <p:nvPr/>
        </p:nvSpPr>
        <p:spPr>
          <a:xfrm>
            <a:off x="7329813" y="2003625"/>
            <a:ext cx="1070606" cy="1070606"/>
          </a:xfrm>
          <a:prstGeom prst="rect">
            <a:avLst/>
          </a:prstGeom>
          <a:solidFill>
            <a:srgbClr val="9F4F0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26" name="rep3_rank4_long_term_sick_disabled_pct"/>
          <p:cNvSpPr/>
          <p:nvPr/>
        </p:nvSpPr>
        <p:spPr>
          <a:xfrm>
            <a:off x="5505179" y="1187176"/>
            <a:ext cx="1037910" cy="1037910"/>
          </a:xfrm>
          <a:prstGeom prst="rect">
            <a:avLst/>
          </a:prstGeom>
          <a:solidFill>
            <a:srgbClr val="B25C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27" name="rep3_rank5_owner_occupied_pct"/>
          <p:cNvSpPr/>
          <p:nvPr/>
        </p:nvSpPr>
        <p:spPr>
          <a:xfrm>
            <a:off x="5310336" y="1879598"/>
            <a:ext cx="945859" cy="945859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28" name="rep3_rank6_social_rented_pct"/>
          <p:cNvSpPr/>
          <p:nvPr/>
        </p:nvSpPr>
        <p:spPr>
          <a:xfrm>
            <a:off x="3789870" y="2739810"/>
            <a:ext cx="889359" cy="889359"/>
          </a:xfrm>
          <a:prstGeom prst="rect">
            <a:avLst/>
          </a:prstGeom>
          <a:solidFill>
            <a:srgbClr val="D58F5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29" name="rep3_rank7_crime_lag_2"/>
          <p:cNvSpPr/>
          <p:nvPr/>
        </p:nvSpPr>
        <p:spPr>
          <a:xfrm>
            <a:off x="3837865" y="3327694"/>
            <a:ext cx="841693" cy="841693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30" name="rep3_rank8_private_rented_pct"/>
          <p:cNvSpPr/>
          <p:nvPr/>
        </p:nvSpPr>
        <p:spPr>
          <a:xfrm>
            <a:off x="4707158" y="4184236"/>
            <a:ext cx="834777" cy="834777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1" name="rep3_rank9_nightlife_per_km2"/>
          <p:cNvSpPr/>
          <p:nvPr/>
        </p:nvSpPr>
        <p:spPr>
          <a:xfrm>
            <a:off x="6345075" y="4186089"/>
            <a:ext cx="821852" cy="821852"/>
          </a:xfrm>
          <a:prstGeom prst="rect">
            <a:avLst/>
          </a:prstGeom>
          <a:solidFill>
            <a:srgbClr val="089B6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2" name="rep3_rank10_green_space_pct"/>
          <p:cNvSpPr/>
          <p:nvPr/>
        </p:nvSpPr>
        <p:spPr>
          <a:xfrm>
            <a:off x="7329813" y="3928217"/>
            <a:ext cx="793295" cy="793295"/>
          </a:xfrm>
          <a:prstGeom prst="rect">
            <a:avLst/>
          </a:prstGeom>
          <a:solidFill>
            <a:srgbClr val="089B2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Green space %
0.11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Each rectangle is an editable PowerPoint shape with editable text. Category hue is fixed; shade encodes |coef| within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 attribution stability — Rep 4</a:t>
            </a:r>
          </a:p>
        </p:txBody>
      </p:sp>
      <p:sp>
        <p:nvSpPr>
          <p:cNvPr id="3" name="rep4_neutral_green_space_pct"/>
          <p:cNvSpPr/>
          <p:nvPr/>
        </p:nvSpPr>
        <p:spPr>
          <a:xfrm>
            <a:off x="5218844" y="2400890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p4_neutral_transit_stop_count"/>
          <p:cNvSpPr/>
          <p:nvPr/>
        </p:nvSpPr>
        <p:spPr>
          <a:xfrm>
            <a:off x="6136839" y="3556845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p4_neutral_older_adult_65_plus_pct"/>
          <p:cNvSpPr/>
          <p:nvPr/>
        </p:nvSpPr>
        <p:spPr>
          <a:xfrm>
            <a:off x="4617754" y="2026129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p4_neutral_economically_inactive_pct"/>
          <p:cNvSpPr/>
          <p:nvPr/>
        </p:nvSpPr>
        <p:spPr>
          <a:xfrm>
            <a:off x="5344753" y="1548619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p4_neutral_transit_stop_per_km2"/>
          <p:cNvSpPr/>
          <p:nvPr/>
        </p:nvSpPr>
        <p:spPr>
          <a:xfrm>
            <a:off x="7403299" y="3935542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4_neutral_month_cos"/>
          <p:cNvSpPr/>
          <p:nvPr/>
        </p:nvSpPr>
        <p:spPr>
          <a:xfrm>
            <a:off x="6397301" y="3567899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p4_neutral_retail_per_km2"/>
          <p:cNvSpPr/>
          <p:nvPr/>
        </p:nvSpPr>
        <p:spPr>
          <a:xfrm>
            <a:off x="5322743" y="3415178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p4_neutral_no_qualifications_pct"/>
          <p:cNvSpPr/>
          <p:nvPr/>
        </p:nvSpPr>
        <p:spPr>
          <a:xfrm>
            <a:off x="7358807" y="5381272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p4_neutral_crime_lag_3"/>
          <p:cNvSpPr/>
          <p:nvPr/>
        </p:nvSpPr>
        <p:spPr>
          <a:xfrm>
            <a:off x="8629431" y="3990515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p4_neutral_month_sin"/>
          <p:cNvSpPr/>
          <p:nvPr/>
        </p:nvSpPr>
        <p:spPr>
          <a:xfrm>
            <a:off x="3924223" y="2063260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4_neutral_intersection_per_km2"/>
          <p:cNvSpPr/>
          <p:nvPr/>
        </p:nvSpPr>
        <p:spPr>
          <a:xfrm>
            <a:off x="3656833" y="2998752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p4_neutral_nightlife_count"/>
          <p:cNvSpPr/>
          <p:nvPr/>
        </p:nvSpPr>
        <p:spPr>
          <a:xfrm>
            <a:off x="7432908" y="2660957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p4_neutral_road_length_km_per_km2"/>
          <p:cNvSpPr/>
          <p:nvPr/>
        </p:nvSpPr>
        <p:spPr>
          <a:xfrm>
            <a:off x="4639692" y="3403848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p4_neutral_young_adult_15_34_pct"/>
          <p:cNvSpPr/>
          <p:nvPr/>
        </p:nvSpPr>
        <p:spPr>
          <a:xfrm>
            <a:off x="5921001" y="3368915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p4_neutral_road_length_km"/>
          <p:cNvSpPr/>
          <p:nvPr/>
        </p:nvSpPr>
        <p:spPr>
          <a:xfrm>
            <a:off x="6325560" y="1322142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p4_neutral_population_density_per_km2"/>
          <p:cNvSpPr/>
          <p:nvPr/>
        </p:nvSpPr>
        <p:spPr>
          <a:xfrm>
            <a:off x="6062679" y="2526936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p4_neutral_intersection_count"/>
          <p:cNvSpPr/>
          <p:nvPr/>
        </p:nvSpPr>
        <p:spPr>
          <a:xfrm>
            <a:off x="6386136" y="3219375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p4_neutral_level4_plus_qualification_pct"/>
          <p:cNvSpPr/>
          <p:nvPr/>
        </p:nvSpPr>
        <p:spPr>
          <a:xfrm>
            <a:off x="5994650" y="1274535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p4_neutral_retail_count"/>
          <p:cNvSpPr/>
          <p:nvPr/>
        </p:nvSpPr>
        <p:spPr>
          <a:xfrm>
            <a:off x="5984179" y="5464416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p4_neutral_lsoa_area_km2"/>
          <p:cNvSpPr/>
          <p:nvPr/>
        </p:nvSpPr>
        <p:spPr>
          <a:xfrm>
            <a:off x="5942232" y="3250667"/>
            <a:ext cx="158808" cy="158808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p4_rank1_crime_rolling_mean_6"/>
          <p:cNvSpPr/>
          <p:nvPr/>
        </p:nvSpPr>
        <p:spPr>
          <a:xfrm>
            <a:off x="4784973" y="2178933"/>
            <a:ext cx="2591573" cy="2591573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Crime roll mean 6
5.04</a:t>
            </a:r>
          </a:p>
        </p:txBody>
      </p:sp>
      <p:sp>
        <p:nvSpPr>
          <p:cNvPr id="24" name="rep4_rank2_crime_rolling_mean_3"/>
          <p:cNvSpPr/>
          <p:nvPr/>
        </p:nvSpPr>
        <p:spPr>
          <a:xfrm>
            <a:off x="7376546" y="2583364"/>
            <a:ext cx="1564381" cy="1564381"/>
          </a:xfrm>
          <a:prstGeom prst="rect">
            <a:avLst/>
          </a:prstGeom>
          <a:solidFill>
            <a:srgbClr val="D5687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25" name="rep4_rank3_unemployed_pct_age16plus"/>
          <p:cNvSpPr/>
          <p:nvPr/>
        </p:nvSpPr>
        <p:spPr>
          <a:xfrm>
            <a:off x="7376546" y="1932726"/>
            <a:ext cx="1117751" cy="1117751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3. Unemployment %
0.42</a:t>
            </a:r>
          </a:p>
        </p:txBody>
      </p:sp>
      <p:sp>
        <p:nvSpPr>
          <p:cNvPr id="26" name="rep4_rank4_long_term_sick_disabled_pct"/>
          <p:cNvSpPr/>
          <p:nvPr/>
        </p:nvSpPr>
        <p:spPr>
          <a:xfrm>
            <a:off x="6161814" y="1675943"/>
            <a:ext cx="1079077" cy="1079077"/>
          </a:xfrm>
          <a:prstGeom prst="rect">
            <a:avLst/>
          </a:prstGeom>
          <a:solidFill>
            <a:srgbClr val="B1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27" name="rep4_rank5_owner_occupied_pct"/>
          <p:cNvSpPr/>
          <p:nvPr/>
        </p:nvSpPr>
        <p:spPr>
          <a:xfrm>
            <a:off x="4845707" y="1822030"/>
            <a:ext cx="978689" cy="978689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28" name="rep4_rank6_social_rented_pct"/>
          <p:cNvSpPr/>
          <p:nvPr/>
        </p:nvSpPr>
        <p:spPr>
          <a:xfrm>
            <a:off x="3743723" y="2443707"/>
            <a:ext cx="925097" cy="925097"/>
          </a:xfrm>
          <a:prstGeom prst="rect">
            <a:avLst/>
          </a:prstGeom>
          <a:solidFill>
            <a:srgbClr val="D58F5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Social rented %
0.19</a:t>
            </a:r>
          </a:p>
        </p:txBody>
      </p:sp>
      <p:sp>
        <p:nvSpPr>
          <p:cNvPr id="29" name="rep4_rank7_crime_lag_2"/>
          <p:cNvSpPr/>
          <p:nvPr/>
        </p:nvSpPr>
        <p:spPr>
          <a:xfrm>
            <a:off x="3779083" y="3567521"/>
            <a:ext cx="880093" cy="880093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30" name="rep4_rank8_private_rented_pct"/>
          <p:cNvSpPr/>
          <p:nvPr/>
        </p:nvSpPr>
        <p:spPr>
          <a:xfrm>
            <a:off x="5029745" y="4170856"/>
            <a:ext cx="867557" cy="867557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1" name="rep4_rank9_nightlife_per_km2"/>
          <p:cNvSpPr/>
          <p:nvPr/>
        </p:nvSpPr>
        <p:spPr>
          <a:xfrm>
            <a:off x="6306136" y="4173260"/>
            <a:ext cx="851885" cy="851885"/>
          </a:xfrm>
          <a:prstGeom prst="rect">
            <a:avLst/>
          </a:prstGeom>
          <a:solidFill>
            <a:srgbClr val="099D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2" name="rep4_rank10_crime_lag_1"/>
          <p:cNvSpPr/>
          <p:nvPr/>
        </p:nvSpPr>
        <p:spPr>
          <a:xfrm>
            <a:off x="7376546" y="3860053"/>
            <a:ext cx="845260" cy="845260"/>
          </a:xfrm>
          <a:prstGeom prst="rect">
            <a:avLst/>
          </a:prstGeom>
          <a:solidFill>
            <a:srgbClr val="D794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Each rectangle is an editable PowerPoint shape with editable text. Category hue is fixed; shade encodes |coef| within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 attribution stability — Rep 5</a:t>
            </a:r>
          </a:p>
        </p:txBody>
      </p:sp>
      <p:sp>
        <p:nvSpPr>
          <p:cNvPr id="3" name="rep5_neutral_older_adult_65_plus_pct"/>
          <p:cNvSpPr/>
          <p:nvPr/>
        </p:nvSpPr>
        <p:spPr>
          <a:xfrm>
            <a:off x="5655812" y="3454842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p5_neutral_transit_stop_count"/>
          <p:cNvSpPr/>
          <p:nvPr/>
        </p:nvSpPr>
        <p:spPr>
          <a:xfrm>
            <a:off x="6256909" y="3231073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p5_neutral_green_space_pct"/>
          <p:cNvSpPr/>
          <p:nvPr/>
        </p:nvSpPr>
        <p:spPr>
          <a:xfrm>
            <a:off x="6757146" y="4371939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p5_neutral_month_cos"/>
          <p:cNvSpPr/>
          <p:nvPr/>
        </p:nvSpPr>
        <p:spPr>
          <a:xfrm>
            <a:off x="2724728" y="2981244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p5_neutral_economically_inactive_pct"/>
          <p:cNvSpPr/>
          <p:nvPr/>
        </p:nvSpPr>
        <p:spPr>
          <a:xfrm>
            <a:off x="7697042" y="4499698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5_neutral_transit_stop_per_km2"/>
          <p:cNvSpPr/>
          <p:nvPr/>
        </p:nvSpPr>
        <p:spPr>
          <a:xfrm>
            <a:off x="6889508" y="1483618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p5_neutral_retail_per_km2"/>
          <p:cNvSpPr/>
          <p:nvPr/>
        </p:nvSpPr>
        <p:spPr>
          <a:xfrm>
            <a:off x="4658024" y="4090051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p5_neutral_no_qualifications_pct"/>
          <p:cNvSpPr/>
          <p:nvPr/>
        </p:nvSpPr>
        <p:spPr>
          <a:xfrm>
            <a:off x="3535456" y="3925510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p5_neutral_month_sin"/>
          <p:cNvSpPr/>
          <p:nvPr/>
        </p:nvSpPr>
        <p:spPr>
          <a:xfrm>
            <a:off x="7972849" y="2998461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p5_neutral_nightlife_count"/>
          <p:cNvSpPr/>
          <p:nvPr/>
        </p:nvSpPr>
        <p:spPr>
          <a:xfrm>
            <a:off x="5712064" y="3255351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5_neutral_intersection_per_km2"/>
          <p:cNvSpPr/>
          <p:nvPr/>
        </p:nvSpPr>
        <p:spPr>
          <a:xfrm>
            <a:off x="6742514" y="1629997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p5_neutral_crime_lag_3"/>
          <p:cNvSpPr/>
          <p:nvPr/>
        </p:nvSpPr>
        <p:spPr>
          <a:xfrm>
            <a:off x="3592196" y="2057809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p5_neutral_road_length_km_per_km2"/>
          <p:cNvSpPr/>
          <p:nvPr/>
        </p:nvSpPr>
        <p:spPr>
          <a:xfrm>
            <a:off x="7337603" y="3381816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p5_neutral_young_adult_15_34_pct"/>
          <p:cNvSpPr/>
          <p:nvPr/>
        </p:nvSpPr>
        <p:spPr>
          <a:xfrm>
            <a:off x="6593090" y="2179920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p5_neutral_population_density_per_km2"/>
          <p:cNvSpPr/>
          <p:nvPr/>
        </p:nvSpPr>
        <p:spPr>
          <a:xfrm>
            <a:off x="6360478" y="2058573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p5_neutral_road_length_km"/>
          <p:cNvSpPr/>
          <p:nvPr/>
        </p:nvSpPr>
        <p:spPr>
          <a:xfrm>
            <a:off x="5979181" y="3448598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p5_neutral_intersection_count"/>
          <p:cNvSpPr/>
          <p:nvPr/>
        </p:nvSpPr>
        <p:spPr>
          <a:xfrm>
            <a:off x="6251767" y="3545801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p5_neutral_level4_plus_qualification_pct"/>
          <p:cNvSpPr/>
          <p:nvPr/>
        </p:nvSpPr>
        <p:spPr>
          <a:xfrm>
            <a:off x="8127743" y="2947913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p5_neutral_lsoa_area_km2"/>
          <p:cNvSpPr/>
          <p:nvPr/>
        </p:nvSpPr>
        <p:spPr>
          <a:xfrm>
            <a:off x="9257591" y="3637761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p5_neutral_retail_count"/>
          <p:cNvSpPr/>
          <p:nvPr/>
        </p:nvSpPr>
        <p:spPr>
          <a:xfrm>
            <a:off x="4285906" y="3436026"/>
            <a:ext cx="135729" cy="135729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p5_rank1_crime_rolling_mean_6"/>
          <p:cNvSpPr/>
          <p:nvPr/>
        </p:nvSpPr>
        <p:spPr>
          <a:xfrm>
            <a:off x="4975953" y="2369913"/>
            <a:ext cx="2209612" cy="2209612"/>
          </a:xfrm>
          <a:prstGeom prst="rect">
            <a:avLst/>
          </a:prstGeom>
          <a:solidFill>
            <a:srgbClr val="9D09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Crime roll mean 6
5.01</a:t>
            </a:r>
          </a:p>
        </p:txBody>
      </p:sp>
      <p:sp>
        <p:nvSpPr>
          <p:cNvPr id="24" name="rep5_rank2_crime_rolling_mean_3"/>
          <p:cNvSpPr/>
          <p:nvPr/>
        </p:nvSpPr>
        <p:spPr>
          <a:xfrm>
            <a:off x="7185566" y="2863702"/>
            <a:ext cx="1332650" cy="1332650"/>
          </a:xfrm>
          <a:prstGeom prst="rect">
            <a:avLst/>
          </a:prstGeom>
          <a:solidFill>
            <a:srgbClr val="D5687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
1.27</a:t>
            </a:r>
          </a:p>
        </p:txBody>
      </p:sp>
      <p:sp>
        <p:nvSpPr>
          <p:cNvPr id="25" name="rep5_rank3_unemployed_pct_age16plus"/>
          <p:cNvSpPr/>
          <p:nvPr/>
        </p:nvSpPr>
        <p:spPr>
          <a:xfrm>
            <a:off x="6424521" y="1973312"/>
            <a:ext cx="946211" cy="946211"/>
          </a:xfrm>
          <a:prstGeom prst="rect">
            <a:avLst/>
          </a:prstGeom>
          <a:solidFill>
            <a:srgbClr val="A2510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3. Unemployment %
0.40</a:t>
            </a:r>
          </a:p>
        </p:txBody>
      </p:sp>
      <p:sp>
        <p:nvSpPr>
          <p:cNvPr id="26" name="rep5_rank4_long_term_sick_disabled_pct"/>
          <p:cNvSpPr/>
          <p:nvPr/>
        </p:nvSpPr>
        <p:spPr>
          <a:xfrm>
            <a:off x="5443945" y="1441532"/>
            <a:ext cx="932875" cy="932875"/>
          </a:xfrm>
          <a:prstGeom prst="rect">
            <a:avLst/>
          </a:prstGeom>
          <a:solidFill>
            <a:srgbClr val="AB570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4. Long-term sick %
0.38</a:t>
            </a:r>
          </a:p>
        </p:txBody>
      </p:sp>
      <p:sp>
        <p:nvSpPr>
          <p:cNvPr id="27" name="rep5_rank5_owner_occupied_pct"/>
          <p:cNvSpPr/>
          <p:nvPr/>
        </p:nvSpPr>
        <p:spPr>
          <a:xfrm>
            <a:off x="5315236" y="2066884"/>
            <a:ext cx="832906" cy="832906"/>
          </a:xfrm>
          <a:prstGeom prst="rect">
            <a:avLst/>
          </a:prstGeom>
          <a:solidFill>
            <a:srgbClr val="D77F3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Owner occupied %
0.24</a:t>
            </a:r>
          </a:p>
        </p:txBody>
      </p:sp>
      <p:sp>
        <p:nvSpPr>
          <p:cNvPr id="28" name="rep5_rank6_social_rented_pct"/>
          <p:cNvSpPr/>
          <p:nvPr/>
        </p:nvSpPr>
        <p:spPr>
          <a:xfrm>
            <a:off x="4088643" y="2879855"/>
            <a:ext cx="793022" cy="793022"/>
          </a:xfrm>
          <a:prstGeom prst="rect">
            <a:avLst/>
          </a:prstGeom>
          <a:solidFill>
            <a:srgbClr val="D58E5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Social rented %
0.20</a:t>
            </a:r>
          </a:p>
        </p:txBody>
      </p:sp>
      <p:sp>
        <p:nvSpPr>
          <p:cNvPr id="29" name="rep5_rank7_crime_lag_2"/>
          <p:cNvSpPr/>
          <p:nvPr/>
        </p:nvSpPr>
        <p:spPr>
          <a:xfrm>
            <a:off x="4063001" y="3404519"/>
            <a:ext cx="747872" cy="747872"/>
          </a:xfrm>
          <a:prstGeom prst="rect">
            <a:avLst/>
          </a:prstGeom>
          <a:solidFill>
            <a:srgbClr val="D7939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Crime lag 2
0.15</a:t>
            </a:r>
          </a:p>
        </p:txBody>
      </p:sp>
      <p:sp>
        <p:nvSpPr>
          <p:cNvPr id="30" name="rep5_rank8_private_rented_pct"/>
          <p:cNvSpPr/>
          <p:nvPr/>
        </p:nvSpPr>
        <p:spPr>
          <a:xfrm>
            <a:off x="5003293" y="4120514"/>
            <a:ext cx="736593" cy="736593"/>
          </a:xfrm>
          <a:prstGeom prst="rect">
            <a:avLst/>
          </a:prstGeom>
          <a:solidFill>
            <a:srgbClr val="D5A07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1" name="rep5_rank9_nightlife_per_km2"/>
          <p:cNvSpPr/>
          <p:nvPr/>
        </p:nvSpPr>
        <p:spPr>
          <a:xfrm>
            <a:off x="5991872" y="4121510"/>
            <a:ext cx="728527" cy="728527"/>
          </a:xfrm>
          <a:prstGeom prst="rect">
            <a:avLst/>
          </a:prstGeom>
          <a:solidFill>
            <a:srgbClr val="08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2" name="rep5_rank10_crime_lag_1"/>
          <p:cNvSpPr/>
          <p:nvPr/>
        </p:nvSpPr>
        <p:spPr>
          <a:xfrm>
            <a:off x="7209746" y="3839323"/>
            <a:ext cx="717386" cy="717386"/>
          </a:xfrm>
          <a:prstGeom prst="rect">
            <a:avLst/>
          </a:prstGeom>
          <a:solidFill>
            <a:srgbClr val="D794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Each rectangle is an editable PowerPoint shape with editable text. Category hue is fixed; shade encodes |coef| within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 attribution stability — Rep 6</a:t>
            </a:r>
          </a:p>
        </p:txBody>
      </p:sp>
      <p:sp>
        <p:nvSpPr>
          <p:cNvPr id="3" name="rep6_neutral_older_adult_65_plus_pct"/>
          <p:cNvSpPr/>
          <p:nvPr/>
        </p:nvSpPr>
        <p:spPr>
          <a:xfrm>
            <a:off x="6791547" y="4376335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p6_neutral_transit_stop_count"/>
          <p:cNvSpPr/>
          <p:nvPr/>
        </p:nvSpPr>
        <p:spPr>
          <a:xfrm>
            <a:off x="6315758" y="3768076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p6_neutral_green_space_pct"/>
          <p:cNvSpPr/>
          <p:nvPr/>
        </p:nvSpPr>
        <p:spPr>
          <a:xfrm>
            <a:off x="5839675" y="3644644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p6_neutral_economically_inactive_pct"/>
          <p:cNvSpPr/>
          <p:nvPr/>
        </p:nvSpPr>
        <p:spPr>
          <a:xfrm>
            <a:off x="5953032" y="3218820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p6_neutral_month_cos"/>
          <p:cNvSpPr/>
          <p:nvPr/>
        </p:nvSpPr>
        <p:spPr>
          <a:xfrm>
            <a:off x="5305666" y="5245071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6_neutral_transit_stop_per_km2"/>
          <p:cNvSpPr/>
          <p:nvPr/>
        </p:nvSpPr>
        <p:spPr>
          <a:xfrm>
            <a:off x="3983138" y="3115222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p6_neutral_retail_per_km2"/>
          <p:cNvSpPr/>
          <p:nvPr/>
        </p:nvSpPr>
        <p:spPr>
          <a:xfrm>
            <a:off x="3765387" y="3505357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p6_neutral_no_qualifications_pct"/>
          <p:cNvSpPr/>
          <p:nvPr/>
        </p:nvSpPr>
        <p:spPr>
          <a:xfrm>
            <a:off x="4150217" y="2501252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p6_neutral_crime_lag_3"/>
          <p:cNvSpPr/>
          <p:nvPr/>
        </p:nvSpPr>
        <p:spPr>
          <a:xfrm>
            <a:off x="3622449" y="4010765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p6_neutral_intersection_per_km2"/>
          <p:cNvSpPr/>
          <p:nvPr/>
        </p:nvSpPr>
        <p:spPr>
          <a:xfrm>
            <a:off x="5605719" y="3683016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6_neutral_nightlife_count"/>
          <p:cNvSpPr/>
          <p:nvPr/>
        </p:nvSpPr>
        <p:spPr>
          <a:xfrm>
            <a:off x="7936859" y="3181251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p6_neutral_road_length_km_per_km2"/>
          <p:cNvSpPr/>
          <p:nvPr/>
        </p:nvSpPr>
        <p:spPr>
          <a:xfrm>
            <a:off x="5934589" y="4192685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p6_neutral_young_adult_15_34_pct"/>
          <p:cNvSpPr/>
          <p:nvPr/>
        </p:nvSpPr>
        <p:spPr>
          <a:xfrm>
            <a:off x="4201077" y="3926396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p6_neutral_population_density_per_km2"/>
          <p:cNvSpPr/>
          <p:nvPr/>
        </p:nvSpPr>
        <p:spPr>
          <a:xfrm>
            <a:off x="3009599" y="3001281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p6_neutral_month_sin"/>
          <p:cNvSpPr/>
          <p:nvPr/>
        </p:nvSpPr>
        <p:spPr>
          <a:xfrm>
            <a:off x="5757267" y="3334787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p6_neutral_intersection_count"/>
          <p:cNvSpPr/>
          <p:nvPr/>
        </p:nvSpPr>
        <p:spPr>
          <a:xfrm>
            <a:off x="4321965" y="4444630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p6_neutral_level4_plus_qualification_pct"/>
          <p:cNvSpPr/>
          <p:nvPr/>
        </p:nvSpPr>
        <p:spPr>
          <a:xfrm>
            <a:off x="6410542" y="4491250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p6_neutral_road_length_km"/>
          <p:cNvSpPr/>
          <p:nvPr/>
        </p:nvSpPr>
        <p:spPr>
          <a:xfrm>
            <a:off x="5250561" y="2608295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p6_neutral_lsoa_area_km2"/>
          <p:cNvSpPr/>
          <p:nvPr/>
        </p:nvSpPr>
        <p:spPr>
          <a:xfrm>
            <a:off x="6071092" y="3355349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p6_neutral_retail_count"/>
          <p:cNvSpPr/>
          <p:nvPr/>
        </p:nvSpPr>
        <p:spPr>
          <a:xfrm>
            <a:off x="9239278" y="2854847"/>
            <a:ext cx="152443" cy="152443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p6_rank1_crime_rolling_mean_6"/>
          <p:cNvSpPr/>
          <p:nvPr/>
        </p:nvSpPr>
        <p:spPr>
          <a:xfrm>
            <a:off x="4837684" y="2231644"/>
            <a:ext cx="2486150" cy="2486150"/>
          </a:xfrm>
          <a:prstGeom prst="rect">
            <a:avLst/>
          </a:prstGeom>
          <a:solidFill>
            <a:srgbClr val="9C09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Crime roll mean 6
5.03</a:t>
            </a:r>
          </a:p>
        </p:txBody>
      </p:sp>
      <p:sp>
        <p:nvSpPr>
          <p:cNvPr id="24" name="rep6_rank2_crime_rolling_mean_3"/>
          <p:cNvSpPr/>
          <p:nvPr/>
        </p:nvSpPr>
        <p:spPr>
          <a:xfrm>
            <a:off x="7323835" y="2756261"/>
            <a:ext cx="1502330" cy="1502330"/>
          </a:xfrm>
          <a:prstGeom prst="rect">
            <a:avLst/>
          </a:prstGeom>
          <a:solidFill>
            <a:srgbClr val="D5677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2. Crime roll mean 3
1.28</a:t>
            </a:r>
          </a:p>
        </p:txBody>
      </p:sp>
      <p:sp>
        <p:nvSpPr>
          <p:cNvPr id="25" name="rep6_rank3_unemployed_pct_age16plus"/>
          <p:cNvSpPr/>
          <p:nvPr/>
        </p:nvSpPr>
        <p:spPr>
          <a:xfrm>
            <a:off x="7323835" y="2137042"/>
            <a:ext cx="1066621" cy="1066621"/>
          </a:xfrm>
          <a:prstGeom prst="rect">
            <a:avLst/>
          </a:prstGeom>
          <a:solidFill>
            <a:srgbClr val="9F4F0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3. Unemployment %
0.41</a:t>
            </a:r>
          </a:p>
        </p:txBody>
      </p:sp>
      <p:sp>
        <p:nvSpPr>
          <p:cNvPr id="26" name="rep6_rank4_long_term_sick_disabled_pct"/>
          <p:cNvSpPr/>
          <p:nvPr/>
        </p:nvSpPr>
        <p:spPr>
          <a:xfrm>
            <a:off x="5761341" y="1678499"/>
            <a:ext cx="1038141" cy="1038141"/>
          </a:xfrm>
          <a:prstGeom prst="rect">
            <a:avLst/>
          </a:prstGeom>
          <a:solidFill>
            <a:srgbClr val="B05B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
0.37</a:t>
            </a:r>
          </a:p>
        </p:txBody>
      </p:sp>
      <p:sp>
        <p:nvSpPr>
          <p:cNvPr id="27" name="rep6_rank5_owner_occupied_pct"/>
          <p:cNvSpPr/>
          <p:nvPr/>
        </p:nvSpPr>
        <p:spPr>
          <a:xfrm>
            <a:off x="4821093" y="1883997"/>
            <a:ext cx="940248" cy="940248"/>
          </a:xfrm>
          <a:prstGeom prst="rect">
            <a:avLst/>
          </a:prstGeom>
          <a:solidFill>
            <a:srgbClr val="D7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5. Owner occupied %
0.25</a:t>
            </a:r>
          </a:p>
        </p:txBody>
      </p:sp>
      <p:sp>
        <p:nvSpPr>
          <p:cNvPr id="28" name="rep6_rank6_social_rented_pct"/>
          <p:cNvSpPr/>
          <p:nvPr/>
        </p:nvSpPr>
        <p:spPr>
          <a:xfrm>
            <a:off x="3850583" y="2486454"/>
            <a:ext cx="891852" cy="891852"/>
          </a:xfrm>
          <a:prstGeom prst="rect">
            <a:avLst/>
          </a:prstGeom>
          <a:solidFill>
            <a:srgbClr val="D58E5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6. Social rented %
0.20</a:t>
            </a:r>
          </a:p>
        </p:txBody>
      </p:sp>
      <p:sp>
        <p:nvSpPr>
          <p:cNvPr id="29" name="rep6_rank7_crime_lag_2"/>
          <p:cNvSpPr/>
          <p:nvPr/>
        </p:nvSpPr>
        <p:spPr>
          <a:xfrm>
            <a:off x="3825592" y="3307244"/>
            <a:ext cx="836127" cy="836127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7. Crime lag 2
0.14</a:t>
            </a:r>
          </a:p>
        </p:txBody>
      </p:sp>
      <p:sp>
        <p:nvSpPr>
          <p:cNvPr id="30" name="rep6_rank8_private_rented_pct"/>
          <p:cNvSpPr/>
          <p:nvPr/>
        </p:nvSpPr>
        <p:spPr>
          <a:xfrm>
            <a:off x="5038712" y="4139803"/>
            <a:ext cx="832641" cy="832641"/>
          </a:xfrm>
          <a:prstGeom prst="rect">
            <a:avLst/>
          </a:prstGeom>
          <a:solidFill>
            <a:srgbClr val="D59F7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8. Private rented %
0.14</a:t>
            </a:r>
          </a:p>
        </p:txBody>
      </p:sp>
      <p:sp>
        <p:nvSpPr>
          <p:cNvPr id="31" name="rep6_rank9_nightlife_per_km2"/>
          <p:cNvSpPr/>
          <p:nvPr/>
        </p:nvSpPr>
        <p:spPr>
          <a:xfrm>
            <a:off x="6025922" y="4167407"/>
            <a:ext cx="818923" cy="818923"/>
          </a:xfrm>
          <a:prstGeom prst="rect">
            <a:avLst/>
          </a:prstGeom>
          <a:solidFill>
            <a:srgbClr val="089B6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 Nightlife density
0.13</a:t>
            </a:r>
          </a:p>
        </p:txBody>
      </p:sp>
      <p:sp>
        <p:nvSpPr>
          <p:cNvPr id="32" name="rep6_rank10_crime_lag_1"/>
          <p:cNvSpPr/>
          <p:nvPr/>
        </p:nvSpPr>
        <p:spPr>
          <a:xfrm>
            <a:off x="7323835" y="3856895"/>
            <a:ext cx="804190" cy="804190"/>
          </a:xfrm>
          <a:prstGeom prst="rect">
            <a:avLst/>
          </a:prstGeom>
          <a:solidFill>
            <a:srgbClr val="D794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Crime lag 1
0.12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Each rectangle is an editable PowerPoint shape with editable text. Category hue is fixed; shade encodes |coef| within category.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Category colour legend (one hue per category; darker = stronger |coef|)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Crime / temporal</a:t>
            </a:r>
          </a:p>
        </p:txBody>
      </p:sp>
      <p:sp>
        <p:nvSpPr>
          <p:cNvPr id="4" name="legend_Crime / temporal_0"/>
          <p:cNvSpPr/>
          <p:nvPr/>
        </p:nvSpPr>
        <p:spPr>
          <a:xfrm>
            <a:off x="4572000" y="777240"/>
            <a:ext cx="502920" cy="502920"/>
          </a:xfrm>
          <a:prstGeom prst="rect">
            <a:avLst/>
          </a:prstGeom>
          <a:solidFill>
            <a:srgbClr val="D8979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gend_Crime / temporal_1"/>
          <p:cNvSpPr/>
          <p:nvPr/>
        </p:nvSpPr>
        <p:spPr>
          <a:xfrm>
            <a:off x="5212080" y="777240"/>
            <a:ext cx="502920" cy="502920"/>
          </a:xfrm>
          <a:prstGeom prst="rect">
            <a:avLst/>
          </a:prstGeom>
          <a:solidFill>
            <a:srgbClr val="D5687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gend_Crime / temporal_2"/>
          <p:cNvSpPr/>
          <p:nvPr/>
        </p:nvSpPr>
        <p:spPr>
          <a:xfrm>
            <a:off x="5852160" y="777240"/>
            <a:ext cx="502920" cy="502920"/>
          </a:xfrm>
          <a:prstGeom prst="rect">
            <a:avLst/>
          </a:prstGeom>
          <a:solidFill>
            <a:srgbClr val="D732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gend_Crime / temporal_3"/>
          <p:cNvSpPr/>
          <p:nvPr/>
        </p:nvSpPr>
        <p:spPr>
          <a:xfrm>
            <a:off x="6492240" y="777240"/>
            <a:ext cx="502920" cy="502920"/>
          </a:xfrm>
          <a:prstGeom prst="rect">
            <a:avLst/>
          </a:prstGeom>
          <a:solidFill>
            <a:srgbClr val="BF172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_Crime / temporal_4"/>
          <p:cNvSpPr/>
          <p:nvPr/>
        </p:nvSpPr>
        <p:spPr>
          <a:xfrm>
            <a:off x="7132320" y="777240"/>
            <a:ext cx="502920" cy="502920"/>
          </a:xfrm>
          <a:prstGeom prst="rect">
            <a:avLst/>
          </a:prstGeom>
          <a:solidFill>
            <a:srgbClr val="9B08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Economic / labour &amp; tenure</a:t>
            </a:r>
          </a:p>
        </p:txBody>
      </p:sp>
      <p:sp>
        <p:nvSpPr>
          <p:cNvPr id="10" name="legend_Economic / labour &amp; tenure_0"/>
          <p:cNvSpPr/>
          <p:nvPr/>
        </p:nvSpPr>
        <p:spPr>
          <a:xfrm>
            <a:off x="4572000" y="1463040"/>
            <a:ext cx="502920" cy="502920"/>
          </a:xfrm>
          <a:prstGeom prst="rect">
            <a:avLst/>
          </a:prstGeom>
          <a:solidFill>
            <a:srgbClr val="D8B59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gend_Economic / labour &amp; tenure_1"/>
          <p:cNvSpPr/>
          <p:nvPr/>
        </p:nvSpPr>
        <p:spPr>
          <a:xfrm>
            <a:off x="5212080" y="1463040"/>
            <a:ext cx="502920" cy="502920"/>
          </a:xfrm>
          <a:prstGeom prst="rect">
            <a:avLst/>
          </a:prstGeom>
          <a:solidFill>
            <a:srgbClr val="D59A6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gend_Economic / labour &amp; tenure_2"/>
          <p:cNvSpPr/>
          <p:nvPr/>
        </p:nvSpPr>
        <p:spPr>
          <a:xfrm>
            <a:off x="5852160" y="1463040"/>
            <a:ext cx="502920" cy="502920"/>
          </a:xfrm>
          <a:prstGeom prst="rect">
            <a:avLst/>
          </a:prstGeom>
          <a:solidFill>
            <a:srgbClr val="D77F3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gend_Economic / labour &amp; tenure_3"/>
          <p:cNvSpPr/>
          <p:nvPr/>
        </p:nvSpPr>
        <p:spPr>
          <a:xfrm>
            <a:off x="6492240" y="1463040"/>
            <a:ext cx="502920" cy="502920"/>
          </a:xfrm>
          <a:prstGeom prst="rect">
            <a:avLst/>
          </a:prstGeom>
          <a:solidFill>
            <a:srgbClr val="BF651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gend_Economic / labour &amp; tenure_4"/>
          <p:cNvSpPr/>
          <p:nvPr/>
        </p:nvSpPr>
        <p:spPr>
          <a:xfrm>
            <a:off x="7132320" y="1463040"/>
            <a:ext cx="502920" cy="502920"/>
          </a:xfrm>
          <a:prstGeom prst="rect">
            <a:avLst/>
          </a:prstGeom>
          <a:solidFill>
            <a:srgbClr val="9B4D0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Social / demographic</a:t>
            </a:r>
          </a:p>
        </p:txBody>
      </p:sp>
      <p:sp>
        <p:nvSpPr>
          <p:cNvPr id="16" name="legend_Social / demographic_0"/>
          <p:cNvSpPr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solidFill>
            <a:srgbClr val="97B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gend_Social / demographic_1"/>
          <p:cNvSpPr/>
          <p:nvPr/>
        </p:nvSpPr>
        <p:spPr>
          <a:xfrm>
            <a:off x="5212080" y="2148840"/>
            <a:ext cx="502920" cy="502920"/>
          </a:xfrm>
          <a:prstGeom prst="rect">
            <a:avLst/>
          </a:prstGeom>
          <a:solidFill>
            <a:srgbClr val="689E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gend_Social / demographic_2"/>
          <p:cNvSpPr/>
          <p:nvPr/>
        </p:nvSpPr>
        <p:spPr>
          <a:xfrm>
            <a:off x="5852160" y="2148840"/>
            <a:ext cx="502920" cy="502920"/>
          </a:xfrm>
          <a:prstGeom prst="rect">
            <a:avLst/>
          </a:prstGeom>
          <a:solidFill>
            <a:srgbClr val="3285D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gend_Social / demographic_3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solidFill>
            <a:srgbClr val="176BB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gend_Social / demographic_4"/>
          <p:cNvSpPr/>
          <p:nvPr/>
        </p:nvSpPr>
        <p:spPr>
          <a:xfrm>
            <a:off x="7132320" y="2148840"/>
            <a:ext cx="502920" cy="502920"/>
          </a:xfrm>
          <a:prstGeom prst="rect">
            <a:avLst/>
          </a:prstGeom>
          <a:solidFill>
            <a:srgbClr val="0852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Built environment / activity</a:t>
            </a:r>
          </a:p>
        </p:txBody>
      </p:sp>
      <p:sp>
        <p:nvSpPr>
          <p:cNvPr id="22" name="legend_Built environment / activity_0"/>
          <p:cNvSpPr/>
          <p:nvPr/>
        </p:nvSpPr>
        <p:spPr>
          <a:xfrm>
            <a:off x="4572000" y="2834640"/>
            <a:ext cx="502920" cy="502920"/>
          </a:xfrm>
          <a:prstGeom prst="rect">
            <a:avLst/>
          </a:prstGeom>
          <a:solidFill>
            <a:srgbClr val="97D8C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egend_Built environment / activity_1"/>
          <p:cNvSpPr/>
          <p:nvPr/>
        </p:nvSpPr>
        <p:spPr>
          <a:xfrm>
            <a:off x="5212080" y="2834640"/>
            <a:ext cx="502920" cy="502920"/>
          </a:xfrm>
          <a:prstGeom prst="rect">
            <a:avLst/>
          </a:prstGeom>
          <a:solidFill>
            <a:srgbClr val="68D5B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gend_Built environment / activity_2"/>
          <p:cNvSpPr/>
          <p:nvPr/>
        </p:nvSpPr>
        <p:spPr>
          <a:xfrm>
            <a:off x="5852160" y="2834640"/>
            <a:ext cx="502920" cy="502920"/>
          </a:xfrm>
          <a:prstGeom prst="rect">
            <a:avLst/>
          </a:prstGeom>
          <a:solidFill>
            <a:srgbClr val="32D7A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gend_Built environment / activity_3"/>
          <p:cNvSpPr/>
          <p:nvPr/>
        </p:nvSpPr>
        <p:spPr>
          <a:xfrm>
            <a:off x="6492240" y="2834640"/>
            <a:ext cx="502920" cy="502920"/>
          </a:xfrm>
          <a:prstGeom prst="rect">
            <a:avLst/>
          </a:prstGeom>
          <a:solidFill>
            <a:srgbClr val="17BF8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Built environment / activity_4"/>
          <p:cNvSpPr/>
          <p:nvPr/>
        </p:nvSpPr>
        <p:spPr>
          <a:xfrm>
            <a:off x="7132320" y="2834640"/>
            <a:ext cx="502920" cy="502920"/>
          </a:xfrm>
          <a:prstGeom prst="rect">
            <a:avLst/>
          </a:prstGeom>
          <a:solidFill>
            <a:srgbClr val="089B6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Transport / accessibility</a:t>
            </a:r>
          </a:p>
        </p:txBody>
      </p:sp>
      <p:sp>
        <p:nvSpPr>
          <p:cNvPr id="28" name="legend_Transport / accessibility_0"/>
          <p:cNvSpPr/>
          <p:nvPr/>
        </p:nvSpPr>
        <p:spPr>
          <a:xfrm>
            <a:off x="4572000" y="3520440"/>
            <a:ext cx="502920" cy="502920"/>
          </a:xfrm>
          <a:prstGeom prst="rect">
            <a:avLst/>
          </a:prstGeom>
          <a:solidFill>
            <a:srgbClr val="BD97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ransport / accessibility_1"/>
          <p:cNvSpPr/>
          <p:nvPr/>
        </p:nvSpPr>
        <p:spPr>
          <a:xfrm>
            <a:off x="5212080" y="3520440"/>
            <a:ext cx="502920" cy="502920"/>
          </a:xfrm>
          <a:prstGeom prst="rect">
            <a:avLst/>
          </a:prstGeom>
          <a:solidFill>
            <a:srgbClr val="A768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gend_Transport / accessibility_2"/>
          <p:cNvSpPr/>
          <p:nvPr/>
        </p:nvSpPr>
        <p:spPr>
          <a:xfrm>
            <a:off x="5852160" y="3520440"/>
            <a:ext cx="502920" cy="502920"/>
          </a:xfrm>
          <a:prstGeom prst="rect">
            <a:avLst/>
          </a:prstGeom>
          <a:solidFill>
            <a:srgbClr val="9232D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ransport / accessibility_3"/>
          <p:cNvSpPr/>
          <p:nvPr/>
        </p:nvSpPr>
        <p:spPr>
          <a:xfrm>
            <a:off x="6492240" y="3520440"/>
            <a:ext cx="502920" cy="502920"/>
          </a:xfrm>
          <a:prstGeom prst="rect">
            <a:avLst/>
          </a:prstGeom>
          <a:solidFill>
            <a:srgbClr val="7917B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gend_Transport / accessibility_4"/>
          <p:cNvSpPr/>
          <p:nvPr/>
        </p:nvSpPr>
        <p:spPr>
          <a:xfrm>
            <a:off x="7132320" y="3520440"/>
            <a:ext cx="502920" cy="502920"/>
          </a:xfrm>
          <a:prstGeom prst="rect">
            <a:avLst/>
          </a:prstGeom>
          <a:solidFill>
            <a:srgbClr val="5E08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062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34" name="legend_Environmental_0"/>
          <p:cNvSpPr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solidFill>
            <a:srgbClr val="97D8A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egend_Environmental_1"/>
          <p:cNvSpPr/>
          <p:nvPr/>
        </p:nvSpPr>
        <p:spPr>
          <a:xfrm>
            <a:off x="5212080" y="4206240"/>
            <a:ext cx="502920" cy="502920"/>
          </a:xfrm>
          <a:prstGeom prst="rect">
            <a:avLst/>
          </a:prstGeom>
          <a:solidFill>
            <a:srgbClr val="68D57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egend_Environmental_2"/>
          <p:cNvSpPr/>
          <p:nvPr/>
        </p:nvSpPr>
        <p:spPr>
          <a:xfrm>
            <a:off x="5852160" y="4206240"/>
            <a:ext cx="502920" cy="502920"/>
          </a:xfrm>
          <a:prstGeom prst="rect">
            <a:avLst/>
          </a:prstGeom>
          <a:solidFill>
            <a:srgbClr val="32D74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gend_Environmental_3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solidFill>
            <a:srgbClr val="17BF3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egend_Environmental_4"/>
          <p:cNvSpPr/>
          <p:nvPr/>
        </p:nvSpPr>
        <p:spPr>
          <a:xfrm>
            <a:off x="7132320" y="4206240"/>
            <a:ext cx="502920" cy="502920"/>
          </a:xfrm>
          <a:prstGeom prst="rect">
            <a:avLst/>
          </a:prstGeom>
          <a:solidFill>
            <a:srgbClr val="089B2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Structural/control</a:t>
            </a:r>
          </a:p>
        </p:txBody>
      </p:sp>
      <p:sp>
        <p:nvSpPr>
          <p:cNvPr id="40" name="legend_Structural/control_0"/>
          <p:cNvSpPr/>
          <p:nvPr/>
        </p:nvSpPr>
        <p:spPr>
          <a:xfrm>
            <a:off x="4572000" y="4892040"/>
            <a:ext cx="502920" cy="502920"/>
          </a:xfrm>
          <a:prstGeom prst="rect">
            <a:avLst/>
          </a:prstGeom>
          <a:solidFill>
            <a:srgbClr val="BBB4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gend_Structural/control_1"/>
          <p:cNvSpPr/>
          <p:nvPr/>
        </p:nvSpPr>
        <p:spPr>
          <a:xfrm>
            <a:off x="5212080" y="4892040"/>
            <a:ext cx="502920" cy="502920"/>
          </a:xfrm>
          <a:prstGeom prst="rect">
            <a:avLst/>
          </a:prstGeom>
          <a:solidFill>
            <a:srgbClr val="A49B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egend_Structural/control_2"/>
          <p:cNvSpPr/>
          <p:nvPr/>
        </p:nvSpPr>
        <p:spPr>
          <a:xfrm>
            <a:off x="5852160" y="4892040"/>
            <a:ext cx="502920" cy="502920"/>
          </a:xfrm>
          <a:prstGeom prst="rect">
            <a:avLst/>
          </a:prstGeom>
          <a:solidFill>
            <a:srgbClr val="8D818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gend_Structural/control_3"/>
          <p:cNvSpPr/>
          <p:nvPr/>
        </p:nvSpPr>
        <p:spPr>
          <a:xfrm>
            <a:off x="6492240" y="4892040"/>
            <a:ext cx="502920" cy="502920"/>
          </a:xfrm>
          <a:prstGeom prst="rect">
            <a:avLst/>
          </a:prstGeom>
          <a:solidFill>
            <a:srgbClr val="74696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gend_Structural/control_4"/>
          <p:cNvSpPr/>
          <p:nvPr/>
        </p:nvSpPr>
        <p:spPr>
          <a:xfrm>
            <a:off x="7132320" y="4892040"/>
            <a:ext cx="502920" cy="502920"/>
          </a:xfrm>
          <a:prstGeom prst="rect">
            <a:avLst/>
          </a:prstGeom>
          <a:solidFill>
            <a:srgbClr val="5B525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0B8C0"/>
                </a:solidFill>
                <a:latin typeface="Calibri"/>
              </a:rPr>
              <a:t>Shade scale within each row: light (weaker |coef|) → dark (stronger |coef|).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