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Direction additions — Geo ranking maps and Feature coefficients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108960"/>
            <a:ext cx="109728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B0B8C0"/>
                </a:solidFill>
                <a:latin typeface="Calibri"/>
              </a:rPr>
              <a:t>Four one-at-a-time cardinal-neighbor LSOA additions (N / E / S / W).
Geo: top-20 LSOAs by |SMILE coefficient|, ranks labelled on the map.
Feature: top-10 predictors as sized rectangles with rank, name, and |coefficient|.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12171C"/>
                </a:solidFill>
                <a:latin typeface="Calibri"/>
              </a:rPr>
              <a:t>ATT stability — four direction additions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658368"/>
          <a:ext cx="10881360" cy="553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965960"/>
                <a:gridCol w="960120"/>
                <a:gridCol w="1234440"/>
                <a:gridCol w="1371600"/>
                <a:gridCol w="1280160"/>
                <a:gridCol w="960120"/>
                <a:gridCol w="1051560"/>
                <a:gridCol w="100584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Addition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Added LSOA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Branch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Top-k Jaccard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|coef| Spearman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Pred. Spearman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Accepted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Extra rank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In top-20</a:t>
                      </a:r>
                    </a:p>
                  </a:txBody>
                  <a:tcPr>
                    <a:solidFill>
                      <a:srgbClr val="12171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E01012953  023A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E01012953  023A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E01013094  029A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E01013094  029A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E01013009  034B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E01013009  034B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E01013112  025D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E01013112  025D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Geo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12171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Four additions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Four additions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Geo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0.999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4/4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2171C"/>
                          </a:solidFill>
                          <a:latin typeface="Calibri"/>
                        </a:rPr>
                        <a:t>0/4</a:t>
                      </a:r>
                    </a:p>
                  </a:txBody>
                  <a:tcPr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291072"/>
            <a:ext cx="11430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7646D"/>
                </a:solidFill>
                <a:latin typeface="Calibri"/>
              </a:rPr>
              <a:t>Accepted if Hull-row prediction Spearman ≥ 0.99. Feature k=10, Geo k=20. Same SMILE seed (42) as the Hull-only baseline. Added LSOA is a real Geo player (fitted coefficient). One addition at a time. Models remain Hull-trained. Not causal.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Hull-only baseline — Feature SMILE importance ranking (top-10 highlighted)</a:t>
            </a:r>
          </a:p>
        </p:txBody>
      </p:sp>
      <p:pic>
        <p:nvPicPr>
          <p:cNvPr id="3" name="Picture 2" descr="feature_importance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459" y="438912"/>
            <a:ext cx="5058776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7646D"/>
                </a:solidFill>
                <a:latin typeface="Calibri"/>
              </a:rPr>
              <a:t>Horizontal bars are |SMILE coefficient| for all Feature players. Pink bars are the top-10 set used in the Jaccard comparison. Not causal.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Hull-only baseline — Feature top-10</a:t>
            </a:r>
          </a:p>
        </p:txBody>
      </p:sp>
      <p:sp>
        <p:nvSpPr>
          <p:cNvPr id="3" name="baseline_rank1_crime_rolling_mean_6"/>
          <p:cNvSpPr/>
          <p:nvPr/>
        </p:nvSpPr>
        <p:spPr>
          <a:xfrm>
            <a:off x="4571102" y="1914770"/>
            <a:ext cx="3019314" cy="3019314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5.22</a:t>
            </a:r>
          </a:p>
        </p:txBody>
      </p:sp>
      <p:sp>
        <p:nvSpPr>
          <p:cNvPr id="4" name="baseline_rank2_crime_rolling_mean_3"/>
          <p:cNvSpPr/>
          <p:nvPr/>
        </p:nvSpPr>
        <p:spPr>
          <a:xfrm>
            <a:off x="7590417" y="2447165"/>
            <a:ext cx="1796027" cy="1796027"/>
          </a:xfrm>
          <a:prstGeom prst="rect">
            <a:avLst/>
          </a:prstGeom>
          <a:solidFill>
            <a:srgbClr val="D5697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2. Crime roll mean 3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1.27</a:t>
            </a:r>
          </a:p>
        </p:txBody>
      </p:sp>
      <p:sp>
        <p:nvSpPr>
          <p:cNvPr id="5" name="baseline_rank3_unemployed_pct_age16plus"/>
          <p:cNvSpPr/>
          <p:nvPr/>
        </p:nvSpPr>
        <p:spPr>
          <a:xfrm>
            <a:off x="7590417" y="1711204"/>
            <a:ext cx="1347131" cy="1347131"/>
          </a:xfrm>
          <a:prstGeom prst="rect">
            <a:avLst/>
          </a:prstGeom>
          <a:solidFill>
            <a:srgbClr val="9C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0.49</a:t>
            </a:r>
          </a:p>
        </p:txBody>
      </p:sp>
      <p:sp>
        <p:nvSpPr>
          <p:cNvPr id="6" name="baseline_rank4_long_term_sick_disabled_pct"/>
          <p:cNvSpPr/>
          <p:nvPr/>
        </p:nvSpPr>
        <p:spPr>
          <a:xfrm>
            <a:off x="5726326" y="1471058"/>
            <a:ext cx="1170142" cy="1170142"/>
          </a:xfrm>
          <a:prstGeom prst="rect">
            <a:avLst/>
          </a:prstGeom>
          <a:solidFill>
            <a:srgbClr val="D7782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0.29</a:t>
            </a:r>
          </a:p>
        </p:txBody>
      </p:sp>
      <p:sp>
        <p:nvSpPr>
          <p:cNvPr id="7" name="baseline_rank5_owner_occupied_pct"/>
          <p:cNvSpPr/>
          <p:nvPr/>
        </p:nvSpPr>
        <p:spPr>
          <a:xfrm>
            <a:off x="4568551" y="1569207"/>
            <a:ext cx="1157775" cy="1157775"/>
          </a:xfrm>
          <a:prstGeom prst="rect">
            <a:avLst/>
          </a:prstGeom>
          <a:solidFill>
            <a:srgbClr val="D87B2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5. Owner occupied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0.27</a:t>
            </a:r>
          </a:p>
        </p:txBody>
      </p:sp>
      <p:sp>
        <p:nvSpPr>
          <p:cNvPr id="8" name="baseline_rank6_crime_lag_2"/>
          <p:cNvSpPr/>
          <p:nvPr/>
        </p:nvSpPr>
        <p:spPr>
          <a:xfrm>
            <a:off x="3268780" y="2513990"/>
            <a:ext cx="1106352" cy="1106352"/>
          </a:xfrm>
          <a:prstGeom prst="rect">
            <a:avLst/>
          </a:prstGeom>
          <a:solidFill>
            <a:srgbClr val="D79096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6. Crime lag 2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0.23</a:t>
            </a:r>
          </a:p>
        </p:txBody>
      </p:sp>
      <p:sp>
        <p:nvSpPr>
          <p:cNvPr id="9" name="baseline_rank7_social_rented_pct"/>
          <p:cNvSpPr/>
          <p:nvPr/>
        </p:nvSpPr>
        <p:spPr>
          <a:xfrm>
            <a:off x="3387172" y="3268812"/>
            <a:ext cx="976884" cy="976884"/>
          </a:xfrm>
          <a:prstGeom prst="rect">
            <a:avLst/>
          </a:prstGeom>
          <a:solidFill>
            <a:srgbClr val="D59D6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7. Social rented %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0.12</a:t>
            </a:r>
          </a:p>
        </p:txBody>
      </p:sp>
      <p:sp>
        <p:nvSpPr>
          <p:cNvPr id="10" name="baseline_rank8_crime_lag_1"/>
          <p:cNvSpPr/>
          <p:nvPr/>
        </p:nvSpPr>
        <p:spPr>
          <a:xfrm>
            <a:off x="4971553" y="4172141"/>
            <a:ext cx="954707" cy="954707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8. Crime lag 1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0.11</a:t>
            </a:r>
          </a:p>
        </p:txBody>
      </p:sp>
      <p:sp>
        <p:nvSpPr>
          <p:cNvPr id="11" name="baseline_rank9_population_density_per_km2"/>
          <p:cNvSpPr/>
          <p:nvPr/>
        </p:nvSpPr>
        <p:spPr>
          <a:xfrm>
            <a:off x="5926261" y="4173648"/>
            <a:ext cx="953331" cy="953331"/>
          </a:xfrm>
          <a:prstGeom prst="rect">
            <a:avLst/>
          </a:prstGeom>
          <a:solidFill>
            <a:srgbClr val="08529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9. Population density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12" name="baseline_rank10_transit_stop_per_km2"/>
          <p:cNvSpPr/>
          <p:nvPr/>
        </p:nvSpPr>
        <p:spPr>
          <a:xfrm>
            <a:off x="7590417" y="3710011"/>
            <a:ext cx="946051" cy="946051"/>
          </a:xfrm>
          <a:prstGeom prst="rect">
            <a:avLst/>
          </a:prstGeom>
          <a:solidFill>
            <a:srgbClr val="660CA7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10. Transit density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0B8C0"/>
                </a:solidFill>
                <a:latin typeface="Calibri"/>
              </a:rPr>
              <a:t>Hull-only baseline (no added LSOA). Each rectangle is an editable PowerPoint shape. Size = |SMILE coefficient|. Number on the box is the rank. Not causal.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Geo SMILE top-20 ranking maps — all four direction additions</a:t>
            </a:r>
          </a:p>
        </p:txBody>
      </p:sp>
      <p:pic>
        <p:nvPicPr>
          <p:cNvPr id="3" name="Picture 2" descr="geo_top20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30352"/>
            <a:ext cx="4565388" cy="3063240"/>
          </a:xfrm>
          <a:prstGeom prst="rect">
            <a:avLst/>
          </a:prstGeom>
        </p:spPr>
      </p:pic>
      <p:pic>
        <p:nvPicPr>
          <p:cNvPr id="4" name="Picture 3" descr="geo_top20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530352"/>
            <a:ext cx="4754196" cy="3063240"/>
          </a:xfrm>
          <a:prstGeom prst="rect">
            <a:avLst/>
          </a:prstGeom>
        </p:spPr>
      </p:pic>
      <p:pic>
        <p:nvPicPr>
          <p:cNvPr id="5" name="Picture 4" descr="geo_top20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703320"/>
            <a:ext cx="4773648" cy="3063240"/>
          </a:xfrm>
          <a:prstGeom prst="rect">
            <a:avLst/>
          </a:prstGeom>
        </p:spPr>
      </p:pic>
      <p:pic>
        <p:nvPicPr>
          <p:cNvPr id="6" name="Picture 5" descr="geo_top20_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703320"/>
            <a:ext cx="471995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Direction 1 — North addition  ·  E01012953  ·  East Riding of Yorkshire 023A  —  Geo top-20 ranking  ·  extra rank 120 (out of top-20)</a:t>
            </a:r>
          </a:p>
        </p:txBody>
      </p:sp>
      <p:pic>
        <p:nvPicPr>
          <p:cNvPr id="3" name="Picture 2" descr="geo_top20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669" y="438912"/>
            <a:ext cx="8926356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7646D"/>
                </a:solidFill>
                <a:latin typeface="Calibri"/>
              </a:rPr>
              <a:t>Coloured LSOAs are the 20 most important by |Geo SMILE coefficient|. Numbers on the map are ranks 1–20. Not causal.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Direction 2 — East addition  ·  E01013094  ·  East Riding of Yorkshire 029A  —  Geo top-20 ranking  ·  extra rank 110 (out of top-20)</a:t>
            </a:r>
          </a:p>
        </p:txBody>
      </p:sp>
      <p:pic>
        <p:nvPicPr>
          <p:cNvPr id="3" name="Picture 2" descr="geo_top20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088" y="438912"/>
            <a:ext cx="9295518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7646D"/>
                </a:solidFill>
                <a:latin typeface="Calibri"/>
              </a:rPr>
              <a:t>Coloured LSOAs are the 20 most important by |Geo SMILE coefficient|. Numbers on the map are ranks 1–20. Not causal.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Direction 3 — South addition  ·  E01013009  ·  East Riding of Yorkshire 034B  —  Geo top-20 ranking  ·  extra rank 112 (out of top-20)</a:t>
            </a:r>
          </a:p>
        </p:txBody>
      </p:sp>
      <p:pic>
        <p:nvPicPr>
          <p:cNvPr id="3" name="Picture 2" descr="geo_top20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071" y="438912"/>
            <a:ext cx="9333552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7646D"/>
                </a:solidFill>
                <a:latin typeface="Calibri"/>
              </a:rPr>
              <a:t>Coloured LSOAs are the 20 most important by |Geo SMILE coefficient|. Numbers on the map are ranks 1–20. Not causal.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Direction 4 — West addition  ·  E01013112  ·  East Riding of Yorkshire 025D  —  Geo top-20 ranking  ·  extra rank 46 (out of top-20)</a:t>
            </a:r>
          </a:p>
        </p:txBody>
      </p:sp>
      <p:pic>
        <p:nvPicPr>
          <p:cNvPr id="3" name="Picture 2" descr="geo_top20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567" y="438912"/>
            <a:ext cx="922856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510528"/>
            <a:ext cx="11430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57646D"/>
                </a:solidFill>
                <a:latin typeface="Calibri"/>
              </a:rPr>
              <a:t>Coloured LSOAs are the 20 most important by |Geo SMILE coefficient|. Numbers on the map are ranks 1–20. Not causal.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09728"/>
            <a:ext cx="11612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Feature top-10 — Hull-only baseline and four direction additions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420624"/>
            <a:ext cx="2306665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  <p:sp>
        <p:nvSpPr>
          <p:cNvPr id="4" name="overview_baseline_rank1_crime_rolling_mean_6"/>
          <p:cNvSpPr/>
          <p:nvPr/>
        </p:nvSpPr>
        <p:spPr>
          <a:xfrm>
            <a:off x="914963" y="2957459"/>
            <a:ext cx="769345" cy="769345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1. Crime roll mean…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5.22</a:t>
            </a:r>
          </a:p>
        </p:txBody>
      </p:sp>
      <p:sp>
        <p:nvSpPr>
          <p:cNvPr id="5" name="overview_baseline_rank2_crime_rolling_mean_3"/>
          <p:cNvSpPr/>
          <p:nvPr/>
        </p:nvSpPr>
        <p:spPr>
          <a:xfrm>
            <a:off x="1684309" y="3037991"/>
            <a:ext cx="457642" cy="457642"/>
          </a:xfrm>
          <a:prstGeom prst="rect">
            <a:avLst/>
          </a:prstGeom>
          <a:solidFill>
            <a:srgbClr val="D56972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2. Crime roll me…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1.27</a:t>
            </a:r>
          </a:p>
        </p:txBody>
      </p:sp>
      <p:sp>
        <p:nvSpPr>
          <p:cNvPr id="6" name="overview_baseline_rank3_unemployed_pct_age16plus"/>
          <p:cNvSpPr/>
          <p:nvPr/>
        </p:nvSpPr>
        <p:spPr>
          <a:xfrm>
            <a:off x="1684309" y="2182397"/>
            <a:ext cx="343259" cy="343259"/>
          </a:xfrm>
          <a:prstGeom prst="rect">
            <a:avLst/>
          </a:prstGeom>
          <a:solidFill>
            <a:srgbClr val="9C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0.49</a:t>
            </a:r>
          </a:p>
        </p:txBody>
      </p:sp>
      <p:sp>
        <p:nvSpPr>
          <p:cNvPr id="7" name="overview_baseline_rank4_long_term_sick_disabled_pct"/>
          <p:cNvSpPr/>
          <p:nvPr/>
        </p:nvSpPr>
        <p:spPr>
          <a:xfrm>
            <a:off x="1209324" y="1892601"/>
            <a:ext cx="298161" cy="298161"/>
          </a:xfrm>
          <a:prstGeom prst="rect">
            <a:avLst/>
          </a:prstGeom>
          <a:solidFill>
            <a:srgbClr val="D7782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4. Long-term sic…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0.29</a:t>
            </a:r>
          </a:p>
        </p:txBody>
      </p:sp>
      <p:sp>
        <p:nvSpPr>
          <p:cNvPr id="8" name="overview_baseline_rank5_owner_occupied_pct"/>
          <p:cNvSpPr/>
          <p:nvPr/>
        </p:nvSpPr>
        <p:spPr>
          <a:xfrm>
            <a:off x="914313" y="1981582"/>
            <a:ext cx="295010" cy="295010"/>
          </a:xfrm>
          <a:prstGeom prst="rect">
            <a:avLst/>
          </a:prstGeom>
          <a:solidFill>
            <a:srgbClr val="D87B2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5. Owner occupie…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0.27</a:t>
            </a:r>
          </a:p>
        </p:txBody>
      </p:sp>
      <p:sp>
        <p:nvSpPr>
          <p:cNvPr id="9" name="overview_baseline_rank6_crime_lag_2"/>
          <p:cNvSpPr/>
          <p:nvPr/>
        </p:nvSpPr>
        <p:spPr>
          <a:xfrm>
            <a:off x="583121" y="2861632"/>
            <a:ext cx="281907" cy="281907"/>
          </a:xfrm>
          <a:prstGeom prst="rect">
            <a:avLst/>
          </a:prstGeom>
          <a:solidFill>
            <a:srgbClr val="D79096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6. Crime lag 2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0.23</a:t>
            </a:r>
          </a:p>
        </p:txBody>
      </p:sp>
      <p:sp>
        <p:nvSpPr>
          <p:cNvPr id="10" name="overview_baseline_rank7_social_rented_pct"/>
          <p:cNvSpPr/>
          <p:nvPr/>
        </p:nvSpPr>
        <p:spPr>
          <a:xfrm>
            <a:off x="613288" y="3533995"/>
            <a:ext cx="248917" cy="248917"/>
          </a:xfrm>
          <a:prstGeom prst="rect">
            <a:avLst/>
          </a:prstGeom>
          <a:solidFill>
            <a:srgbClr val="D59D6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7. Social rented…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0.12</a:t>
            </a:r>
          </a:p>
        </p:txBody>
      </p:sp>
      <p:sp>
        <p:nvSpPr>
          <p:cNvPr id="11" name="overview_baseline_rank8_crime_lag_1"/>
          <p:cNvSpPr/>
          <p:nvPr/>
        </p:nvSpPr>
        <p:spPr>
          <a:xfrm>
            <a:off x="1017001" y="4384818"/>
            <a:ext cx="243267" cy="243267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8. Crime lag 1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0.11</a:t>
            </a:r>
          </a:p>
        </p:txBody>
      </p:sp>
      <p:sp>
        <p:nvSpPr>
          <p:cNvPr id="12" name="overview_baseline_rank9_population_density_per_km2"/>
          <p:cNvSpPr/>
          <p:nvPr/>
        </p:nvSpPr>
        <p:spPr>
          <a:xfrm>
            <a:off x="1260269" y="4385772"/>
            <a:ext cx="242916" cy="242916"/>
          </a:xfrm>
          <a:prstGeom prst="rect">
            <a:avLst/>
          </a:prstGeom>
          <a:solidFill>
            <a:srgbClr val="08529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9. Population de…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13" name="overview_baseline_rank10_transit_stop_per_km2"/>
          <p:cNvSpPr/>
          <p:nvPr/>
        </p:nvSpPr>
        <p:spPr>
          <a:xfrm>
            <a:off x="1684309" y="3942593"/>
            <a:ext cx="241061" cy="241061"/>
          </a:xfrm>
          <a:prstGeom prst="rect">
            <a:avLst/>
          </a:prstGeom>
          <a:solidFill>
            <a:srgbClr val="660CA7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10. Transit densi…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4409" y="420624"/>
            <a:ext cx="2306665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North</a:t>
            </a:r>
          </a:p>
        </p:txBody>
      </p:sp>
      <p:sp>
        <p:nvSpPr>
          <p:cNvPr id="15" name="overview_north_rank1_crime_rolling_mean_6"/>
          <p:cNvSpPr/>
          <p:nvPr/>
        </p:nvSpPr>
        <p:spPr>
          <a:xfrm>
            <a:off x="3340814" y="2985204"/>
            <a:ext cx="713854" cy="713854"/>
          </a:xfrm>
          <a:prstGeom prst="rect">
            <a:avLst/>
          </a:prstGeom>
          <a:solidFill>
            <a:srgbClr val="9B08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1. Crime roll mean…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5.21</a:t>
            </a:r>
          </a:p>
        </p:txBody>
      </p:sp>
      <p:sp>
        <p:nvSpPr>
          <p:cNvPr id="16" name="overview_north_rank2_crime_rolling_mean_3"/>
          <p:cNvSpPr/>
          <p:nvPr/>
        </p:nvSpPr>
        <p:spPr>
          <a:xfrm>
            <a:off x="4054669" y="3119488"/>
            <a:ext cx="424457" cy="424457"/>
          </a:xfrm>
          <a:prstGeom prst="rect">
            <a:avLst/>
          </a:prstGeom>
          <a:solidFill>
            <a:srgbClr val="D56A7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2. Crime roll me…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1.27</a:t>
            </a:r>
          </a:p>
        </p:txBody>
      </p:sp>
      <p:sp>
        <p:nvSpPr>
          <p:cNvPr id="17" name="overview_north_rank3_unemployed_pct_age16plus"/>
          <p:cNvSpPr/>
          <p:nvPr/>
        </p:nvSpPr>
        <p:spPr>
          <a:xfrm>
            <a:off x="4054669" y="2324543"/>
            <a:ext cx="319218" cy="319218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0.50</a:t>
            </a:r>
          </a:p>
        </p:txBody>
      </p:sp>
      <p:sp>
        <p:nvSpPr>
          <p:cNvPr id="18" name="overview_north_rank4_long_term_sick_disabled_pct"/>
          <p:cNvSpPr/>
          <p:nvPr/>
        </p:nvSpPr>
        <p:spPr>
          <a:xfrm>
            <a:off x="3727998" y="2001939"/>
            <a:ext cx="277651" cy="277651"/>
          </a:xfrm>
          <a:prstGeom prst="rect">
            <a:avLst/>
          </a:prstGeom>
          <a:solidFill>
            <a:srgbClr val="D6772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4. Long-term sic…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0.29</a:t>
            </a:r>
          </a:p>
        </p:txBody>
      </p:sp>
      <p:sp>
        <p:nvSpPr>
          <p:cNvPr id="19" name="overview_north_rank5_owner_occupied_pct"/>
          <p:cNvSpPr/>
          <p:nvPr/>
        </p:nvSpPr>
        <p:spPr>
          <a:xfrm>
            <a:off x="3322860" y="2078765"/>
            <a:ext cx="274311" cy="274311"/>
          </a:xfrm>
          <a:prstGeom prst="rect">
            <a:avLst/>
          </a:prstGeom>
          <a:solidFill>
            <a:srgbClr val="D87A2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5. Owner occupie…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0.28</a:t>
            </a:r>
          </a:p>
        </p:txBody>
      </p:sp>
      <p:sp>
        <p:nvSpPr>
          <p:cNvPr id="20" name="overview_north_rank6_crime_lag_2"/>
          <p:cNvSpPr/>
          <p:nvPr/>
        </p:nvSpPr>
        <p:spPr>
          <a:xfrm>
            <a:off x="3050608" y="2686163"/>
            <a:ext cx="261435" cy="261435"/>
          </a:xfrm>
          <a:prstGeom prst="rect">
            <a:avLst/>
          </a:prstGeom>
          <a:solidFill>
            <a:srgbClr val="D79096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6. Crime lag 2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0.22</a:t>
            </a:r>
          </a:p>
        </p:txBody>
      </p:sp>
      <p:sp>
        <p:nvSpPr>
          <p:cNvPr id="21" name="overview_north_rank7_social_rented_pct"/>
          <p:cNvSpPr/>
          <p:nvPr/>
        </p:nvSpPr>
        <p:spPr>
          <a:xfrm>
            <a:off x="3057258" y="3443443"/>
            <a:ext cx="231728" cy="231728"/>
          </a:xfrm>
          <a:prstGeom prst="rect">
            <a:avLst/>
          </a:prstGeom>
          <a:solidFill>
            <a:srgbClr val="D59C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7. Social rented…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0.13</a:t>
            </a:r>
          </a:p>
        </p:txBody>
      </p:sp>
      <p:sp>
        <p:nvSpPr>
          <p:cNvPr id="22" name="overview_north_rank8_crime_lag_1"/>
          <p:cNvSpPr/>
          <p:nvPr/>
        </p:nvSpPr>
        <p:spPr>
          <a:xfrm>
            <a:off x="3335789" y="4322291"/>
            <a:ext cx="225275" cy="225275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8. Crime lag 1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0.11</a:t>
            </a:r>
          </a:p>
        </p:txBody>
      </p:sp>
      <p:sp>
        <p:nvSpPr>
          <p:cNvPr id="23" name="overview_north_rank9_population_density_per_km2"/>
          <p:cNvSpPr/>
          <p:nvPr/>
        </p:nvSpPr>
        <p:spPr>
          <a:xfrm>
            <a:off x="3589428" y="4325456"/>
            <a:ext cx="225257" cy="225257"/>
          </a:xfrm>
          <a:prstGeom prst="rect">
            <a:avLst/>
          </a:prstGeom>
          <a:solidFill>
            <a:srgbClr val="09539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9. Population de…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24" name="overview_north_rank10_transit_stop_per_km2"/>
          <p:cNvSpPr/>
          <p:nvPr/>
        </p:nvSpPr>
        <p:spPr>
          <a:xfrm>
            <a:off x="4054669" y="3959393"/>
            <a:ext cx="224987" cy="224987"/>
          </a:xfrm>
          <a:prstGeom prst="rect">
            <a:avLst/>
          </a:prstGeom>
          <a:solidFill>
            <a:srgbClr val="5E089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10. Transit densi…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42514" y="420624"/>
            <a:ext cx="2306665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East</a:t>
            </a:r>
          </a:p>
        </p:txBody>
      </p:sp>
      <p:sp>
        <p:nvSpPr>
          <p:cNvPr id="26" name="overview_east_rank1_crime_rolling_mean_6"/>
          <p:cNvSpPr/>
          <p:nvPr/>
        </p:nvSpPr>
        <p:spPr>
          <a:xfrm>
            <a:off x="5727606" y="2973891"/>
            <a:ext cx="736481" cy="736481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1. Crime roll mean…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5.22</a:t>
            </a:r>
          </a:p>
        </p:txBody>
      </p:sp>
      <p:sp>
        <p:nvSpPr>
          <p:cNvPr id="27" name="overview_east_rank2_crime_rolling_mean_3"/>
          <p:cNvSpPr/>
          <p:nvPr/>
        </p:nvSpPr>
        <p:spPr>
          <a:xfrm>
            <a:off x="6464088" y="3057494"/>
            <a:ext cx="437712" cy="437712"/>
          </a:xfrm>
          <a:prstGeom prst="rect">
            <a:avLst/>
          </a:prstGeom>
          <a:solidFill>
            <a:srgbClr val="D56A7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2. Crime roll me…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1.27</a:t>
            </a:r>
          </a:p>
        </p:txBody>
      </p:sp>
      <p:sp>
        <p:nvSpPr>
          <p:cNvPr id="28" name="overview_east_rank3_unemployed_pct_age16plus"/>
          <p:cNvSpPr/>
          <p:nvPr/>
        </p:nvSpPr>
        <p:spPr>
          <a:xfrm>
            <a:off x="6464088" y="2237675"/>
            <a:ext cx="329216" cy="329216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0.50</a:t>
            </a:r>
          </a:p>
        </p:txBody>
      </p:sp>
      <p:sp>
        <p:nvSpPr>
          <p:cNvPr id="29" name="overview_east_rank4_long_term_sick_disabled_pct"/>
          <p:cNvSpPr/>
          <p:nvPr/>
        </p:nvSpPr>
        <p:spPr>
          <a:xfrm>
            <a:off x="6060329" y="1899556"/>
            <a:ext cx="286416" cy="286416"/>
          </a:xfrm>
          <a:prstGeom prst="rect">
            <a:avLst/>
          </a:prstGeom>
          <a:solidFill>
            <a:srgbClr val="D6772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4. Long-term sic…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0.29</a:t>
            </a:r>
          </a:p>
        </p:txBody>
      </p:sp>
      <p:sp>
        <p:nvSpPr>
          <p:cNvPr id="30" name="overview_east_rank5_owner_occupied_pct"/>
          <p:cNvSpPr/>
          <p:nvPr/>
        </p:nvSpPr>
        <p:spPr>
          <a:xfrm>
            <a:off x="5749004" y="2037895"/>
            <a:ext cx="282704" cy="282704"/>
          </a:xfrm>
          <a:prstGeom prst="rect">
            <a:avLst/>
          </a:prstGeom>
          <a:solidFill>
            <a:srgbClr val="D87A2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5. Owner occupie…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0.28</a:t>
            </a:r>
          </a:p>
        </p:txBody>
      </p:sp>
      <p:sp>
        <p:nvSpPr>
          <p:cNvPr id="31" name="overview_east_rank6_crime_lag_2"/>
          <p:cNvSpPr/>
          <p:nvPr/>
        </p:nvSpPr>
        <p:spPr>
          <a:xfrm>
            <a:off x="5419221" y="2680443"/>
            <a:ext cx="270178" cy="270178"/>
          </a:xfrm>
          <a:prstGeom prst="rect">
            <a:avLst/>
          </a:prstGeom>
          <a:solidFill>
            <a:srgbClr val="D79096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6. Crime lag 2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0.23</a:t>
            </a:r>
          </a:p>
        </p:txBody>
      </p:sp>
      <p:sp>
        <p:nvSpPr>
          <p:cNvPr id="32" name="overview_east_rank7_social_rented_pct"/>
          <p:cNvSpPr/>
          <p:nvPr/>
        </p:nvSpPr>
        <p:spPr>
          <a:xfrm>
            <a:off x="5439659" y="3365158"/>
            <a:ext cx="238966" cy="238966"/>
          </a:xfrm>
          <a:prstGeom prst="rect">
            <a:avLst/>
          </a:prstGeom>
          <a:solidFill>
            <a:srgbClr val="D59C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7. Social rented…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0.13</a:t>
            </a:r>
          </a:p>
        </p:txBody>
      </p:sp>
      <p:sp>
        <p:nvSpPr>
          <p:cNvPr id="33" name="overview_east_rank8_population_density_per_km2"/>
          <p:cNvSpPr/>
          <p:nvPr/>
        </p:nvSpPr>
        <p:spPr>
          <a:xfrm>
            <a:off x="5815600" y="4330110"/>
            <a:ext cx="232318" cy="232318"/>
          </a:xfrm>
          <a:prstGeom prst="rect">
            <a:avLst/>
          </a:prstGeom>
          <a:solidFill>
            <a:srgbClr val="08529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8. Population de…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34" name="overview_east_rank9_crime_lag_1"/>
          <p:cNvSpPr/>
          <p:nvPr/>
        </p:nvSpPr>
        <p:spPr>
          <a:xfrm>
            <a:off x="6146108" y="4329960"/>
            <a:ext cx="232083" cy="232083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9. Crime lag 1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0.11</a:t>
            </a:r>
          </a:p>
        </p:txBody>
      </p:sp>
      <p:sp>
        <p:nvSpPr>
          <p:cNvPr id="35" name="overview_east_rank10_transit_stop_per_km2"/>
          <p:cNvSpPr/>
          <p:nvPr/>
        </p:nvSpPr>
        <p:spPr>
          <a:xfrm>
            <a:off x="6464088" y="4112782"/>
            <a:ext cx="231544" cy="231544"/>
          </a:xfrm>
          <a:prstGeom prst="rect">
            <a:avLst/>
          </a:prstGeom>
          <a:solidFill>
            <a:srgbClr val="61099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10. Transit densi…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40620" y="420624"/>
            <a:ext cx="2306665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South</a:t>
            </a:r>
          </a:p>
        </p:txBody>
      </p:sp>
      <p:sp>
        <p:nvSpPr>
          <p:cNvPr id="37" name="overview_south_rank1_crime_rolling_mean_6"/>
          <p:cNvSpPr/>
          <p:nvPr/>
        </p:nvSpPr>
        <p:spPr>
          <a:xfrm>
            <a:off x="8132518" y="2980697"/>
            <a:ext cx="722869" cy="722869"/>
          </a:xfrm>
          <a:prstGeom prst="rect">
            <a:avLst/>
          </a:prstGeom>
          <a:solidFill>
            <a:srgbClr val="9C08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1. Crime roll mean…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5.20</a:t>
            </a:r>
          </a:p>
        </p:txBody>
      </p:sp>
      <p:sp>
        <p:nvSpPr>
          <p:cNvPr id="38" name="overview_south_rank2_crime_rolling_mean_3"/>
          <p:cNvSpPr/>
          <p:nvPr/>
        </p:nvSpPr>
        <p:spPr>
          <a:xfrm>
            <a:off x="8855387" y="3039407"/>
            <a:ext cx="429985" cy="429985"/>
          </a:xfrm>
          <a:prstGeom prst="rect">
            <a:avLst/>
          </a:prstGeom>
          <a:solidFill>
            <a:srgbClr val="D56A7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2. Crime roll me…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1.27</a:t>
            </a:r>
          </a:p>
        </p:txBody>
      </p:sp>
      <p:sp>
        <p:nvSpPr>
          <p:cNvPr id="39" name="overview_south_rank3_unemployed_pct_age16plus"/>
          <p:cNvSpPr/>
          <p:nvPr/>
        </p:nvSpPr>
        <p:spPr>
          <a:xfrm>
            <a:off x="8855387" y="2234588"/>
            <a:ext cx="323083" cy="323083"/>
          </a:xfrm>
          <a:prstGeom prst="rect">
            <a:avLst/>
          </a:prstGeom>
          <a:solidFill>
            <a:srgbClr val="9C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0.49</a:t>
            </a:r>
          </a:p>
        </p:txBody>
      </p:sp>
      <p:sp>
        <p:nvSpPr>
          <p:cNvPr id="40" name="overview_south_rank4_long_term_sick_disabled_pct"/>
          <p:cNvSpPr/>
          <p:nvPr/>
        </p:nvSpPr>
        <p:spPr>
          <a:xfrm>
            <a:off x="8337651" y="1426350"/>
            <a:ext cx="280380" cy="280380"/>
          </a:xfrm>
          <a:prstGeom prst="rect">
            <a:avLst/>
          </a:prstGeom>
          <a:solidFill>
            <a:srgbClr val="D7782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4. Long-term sic…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0.29</a:t>
            </a:r>
          </a:p>
        </p:txBody>
      </p:sp>
      <p:sp>
        <p:nvSpPr>
          <p:cNvPr id="41" name="overview_south_rank5_owner_occupied_pct"/>
          <p:cNvSpPr/>
          <p:nvPr/>
        </p:nvSpPr>
        <p:spPr>
          <a:xfrm>
            <a:off x="8268952" y="2063509"/>
            <a:ext cx="277349" cy="277349"/>
          </a:xfrm>
          <a:prstGeom prst="rect">
            <a:avLst/>
          </a:prstGeom>
          <a:solidFill>
            <a:srgbClr val="D87B2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5. Owner occupie…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0.27</a:t>
            </a:r>
          </a:p>
        </p:txBody>
      </p:sp>
      <p:sp>
        <p:nvSpPr>
          <p:cNvPr id="42" name="overview_south_rank6_crime_lag_2"/>
          <p:cNvSpPr/>
          <p:nvPr/>
        </p:nvSpPr>
        <p:spPr>
          <a:xfrm>
            <a:off x="7823296" y="2917908"/>
            <a:ext cx="264866" cy="264866"/>
          </a:xfrm>
          <a:prstGeom prst="rect">
            <a:avLst/>
          </a:prstGeom>
          <a:solidFill>
            <a:srgbClr val="D79096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6. Crime lag 2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0.22</a:t>
            </a:r>
          </a:p>
        </p:txBody>
      </p:sp>
      <p:sp>
        <p:nvSpPr>
          <p:cNvPr id="43" name="overview_south_rank7_social_rented_pct"/>
          <p:cNvSpPr/>
          <p:nvPr/>
        </p:nvSpPr>
        <p:spPr>
          <a:xfrm>
            <a:off x="7853369" y="3502242"/>
            <a:ext cx="234538" cy="234538"/>
          </a:xfrm>
          <a:prstGeom prst="rect">
            <a:avLst/>
          </a:prstGeom>
          <a:solidFill>
            <a:srgbClr val="D59C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7. Social rented…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0.13</a:t>
            </a:r>
          </a:p>
        </p:txBody>
      </p:sp>
      <p:sp>
        <p:nvSpPr>
          <p:cNvPr id="44" name="overview_south_rank8_crime_lag_1"/>
          <p:cNvSpPr/>
          <p:nvPr/>
        </p:nvSpPr>
        <p:spPr>
          <a:xfrm>
            <a:off x="8104585" y="4353718"/>
            <a:ext cx="228911" cy="228911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8. Crime lag 1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0.11</a:t>
            </a:r>
          </a:p>
        </p:txBody>
      </p:sp>
      <p:sp>
        <p:nvSpPr>
          <p:cNvPr id="45" name="overview_south_rank9_population_density_per_km2"/>
          <p:cNvSpPr/>
          <p:nvPr/>
        </p:nvSpPr>
        <p:spPr>
          <a:xfrm>
            <a:off x="8577234" y="4353134"/>
            <a:ext cx="228464" cy="228464"/>
          </a:xfrm>
          <a:prstGeom prst="rect">
            <a:avLst/>
          </a:prstGeom>
          <a:solidFill>
            <a:srgbClr val="08529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9. Population de…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46" name="overview_south_rank10_transit_stop_per_km2"/>
          <p:cNvSpPr/>
          <p:nvPr/>
        </p:nvSpPr>
        <p:spPr>
          <a:xfrm>
            <a:off x="8855387" y="4088008"/>
            <a:ext cx="227786" cy="227786"/>
          </a:xfrm>
          <a:prstGeom prst="rect">
            <a:avLst/>
          </a:prstGeom>
          <a:solidFill>
            <a:srgbClr val="5F099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10. Transit densi…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38725" y="420624"/>
            <a:ext cx="2306665" cy="25603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4. West</a:t>
            </a:r>
          </a:p>
        </p:txBody>
      </p:sp>
      <p:sp>
        <p:nvSpPr>
          <p:cNvPr id="48" name="overview_west_rank1_crime_rolling_mean_6"/>
          <p:cNvSpPr/>
          <p:nvPr/>
        </p:nvSpPr>
        <p:spPr>
          <a:xfrm>
            <a:off x="10528096" y="2978170"/>
            <a:ext cx="727923" cy="727923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1. Crime roll mean…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5.22</a:t>
            </a:r>
          </a:p>
        </p:txBody>
      </p:sp>
      <p:sp>
        <p:nvSpPr>
          <p:cNvPr id="49" name="overview_west_rank2_crime_rolling_mean_3"/>
          <p:cNvSpPr/>
          <p:nvPr/>
        </p:nvSpPr>
        <p:spPr>
          <a:xfrm>
            <a:off x="11256019" y="3025065"/>
            <a:ext cx="432468" cy="432468"/>
          </a:xfrm>
          <a:prstGeom prst="rect">
            <a:avLst/>
          </a:prstGeom>
          <a:solidFill>
            <a:srgbClr val="D56A7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2. Crime roll me…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1.27</a:t>
            </a:r>
          </a:p>
        </p:txBody>
      </p:sp>
      <p:sp>
        <p:nvSpPr>
          <p:cNvPr id="50" name="overview_west_rank3_unemployed_pct_age16plus"/>
          <p:cNvSpPr/>
          <p:nvPr/>
        </p:nvSpPr>
        <p:spPr>
          <a:xfrm>
            <a:off x="11256019" y="2215079"/>
            <a:ext cx="325265" cy="325265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0.50</a:t>
            </a:r>
          </a:p>
        </p:txBody>
      </p:sp>
      <p:sp>
        <p:nvSpPr>
          <p:cNvPr id="51" name="overview_west_rank4_long_term_sick_disabled_pct"/>
          <p:cNvSpPr/>
          <p:nvPr/>
        </p:nvSpPr>
        <p:spPr>
          <a:xfrm>
            <a:off x="10927743" y="1973567"/>
            <a:ext cx="283325" cy="283325"/>
          </a:xfrm>
          <a:prstGeom prst="rect">
            <a:avLst/>
          </a:prstGeom>
          <a:solidFill>
            <a:srgbClr val="D5772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4. Long-term sic…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0.29</a:t>
            </a:r>
          </a:p>
        </p:txBody>
      </p:sp>
      <p:sp>
        <p:nvSpPr>
          <p:cNvPr id="52" name="overview_west_rank5_owner_occupied_pct"/>
          <p:cNvSpPr/>
          <p:nvPr/>
        </p:nvSpPr>
        <p:spPr>
          <a:xfrm>
            <a:off x="10543499" y="2054014"/>
            <a:ext cx="279628" cy="279628"/>
          </a:xfrm>
          <a:prstGeom prst="rect">
            <a:avLst/>
          </a:prstGeom>
          <a:solidFill>
            <a:srgbClr val="D87A2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5. Owner occupie…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0.28</a:t>
            </a:r>
          </a:p>
        </p:txBody>
      </p:sp>
      <p:sp>
        <p:nvSpPr>
          <p:cNvPr id="53" name="overview_west_rank6_crime_lag_2"/>
          <p:cNvSpPr/>
          <p:nvPr/>
        </p:nvSpPr>
        <p:spPr>
          <a:xfrm>
            <a:off x="10227604" y="2648418"/>
            <a:ext cx="266833" cy="266833"/>
          </a:xfrm>
          <a:prstGeom prst="rect">
            <a:avLst/>
          </a:prstGeom>
          <a:solidFill>
            <a:srgbClr val="D79096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6. Crime lag 2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0.23</a:t>
            </a:r>
          </a:p>
        </p:txBody>
      </p:sp>
      <p:sp>
        <p:nvSpPr>
          <p:cNvPr id="54" name="overview_west_rank7_social_rented_pct"/>
          <p:cNvSpPr/>
          <p:nvPr/>
        </p:nvSpPr>
        <p:spPr>
          <a:xfrm>
            <a:off x="10255435" y="3744871"/>
            <a:ext cx="236221" cy="236221"/>
          </a:xfrm>
          <a:prstGeom prst="rect">
            <a:avLst/>
          </a:prstGeom>
          <a:solidFill>
            <a:srgbClr val="D59C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7. Social rented…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0.13</a:t>
            </a:r>
          </a:p>
        </p:txBody>
      </p:sp>
      <p:sp>
        <p:nvSpPr>
          <p:cNvPr id="55" name="overview_west_rank8_crime_lag_1"/>
          <p:cNvSpPr/>
          <p:nvPr/>
        </p:nvSpPr>
        <p:spPr>
          <a:xfrm>
            <a:off x="10604890" y="4325640"/>
            <a:ext cx="230108" cy="230108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12171C"/>
                </a:solidFill>
                <a:latin typeface="Calibri"/>
              </a:rPr>
              <a:t>8. Crime lag 1</a:t>
            </a:r>
          </a:p>
          <a:p>
            <a:pPr algn="ctr"/>
            <a:r>
              <a:rPr sz="1000" b="1">
                <a:solidFill>
                  <a:srgbClr val="12171C"/>
                </a:solidFill>
                <a:latin typeface="Calibri"/>
              </a:rPr>
              <a:t>0.11</a:t>
            </a:r>
          </a:p>
        </p:txBody>
      </p:sp>
      <p:sp>
        <p:nvSpPr>
          <p:cNvPr id="56" name="overview_west_rank9_population_density_per_km2"/>
          <p:cNvSpPr/>
          <p:nvPr/>
        </p:nvSpPr>
        <p:spPr>
          <a:xfrm>
            <a:off x="10961346" y="4324725"/>
            <a:ext cx="229645" cy="229645"/>
          </a:xfrm>
          <a:prstGeom prst="rect">
            <a:avLst/>
          </a:prstGeom>
          <a:solidFill>
            <a:srgbClr val="08529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9. Population de…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57" name="overview_west_rank10_transit_stop_per_km2"/>
          <p:cNvSpPr/>
          <p:nvPr/>
        </p:nvSpPr>
        <p:spPr>
          <a:xfrm>
            <a:off x="11256019" y="4018108"/>
            <a:ext cx="228771" cy="228771"/>
          </a:xfrm>
          <a:prstGeom prst="rect">
            <a:avLst/>
          </a:prstGeom>
          <a:solidFill>
            <a:srgbClr val="610AA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  <a:latin typeface="Calibri"/>
              </a:rPr>
              <a:t>10. Transit densi…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4320" y="6473952"/>
            <a:ext cx="1161288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B0B8C0"/>
                </a:solidFill>
                <a:latin typeface="Calibri"/>
              </a:rPr>
              <a:t>Box size encodes |SMILE coefficient| (shared scale across directions). Each box: rank, feature name, coefficient. Editable shapes — not an image. Not causal.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Direction 1 — North addition  ·  E01012953  ·  East Riding of Yorkshire 023A  —  Feature top-10</a:t>
            </a:r>
          </a:p>
        </p:txBody>
      </p:sp>
      <p:sp>
        <p:nvSpPr>
          <p:cNvPr id="3" name="north_rank1_crime_rolling_mean_6"/>
          <p:cNvSpPr/>
          <p:nvPr/>
        </p:nvSpPr>
        <p:spPr>
          <a:xfrm>
            <a:off x="4679991" y="2023659"/>
            <a:ext cx="2801537" cy="2801537"/>
          </a:xfrm>
          <a:prstGeom prst="rect">
            <a:avLst/>
          </a:prstGeom>
          <a:solidFill>
            <a:srgbClr val="9B08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5.21</a:t>
            </a:r>
          </a:p>
        </p:txBody>
      </p:sp>
      <p:sp>
        <p:nvSpPr>
          <p:cNvPr id="4" name="north_rank2_crime_rolling_mean_3"/>
          <p:cNvSpPr/>
          <p:nvPr/>
        </p:nvSpPr>
        <p:spPr>
          <a:xfrm>
            <a:off x="7481528" y="2580573"/>
            <a:ext cx="1665791" cy="1665791"/>
          </a:xfrm>
          <a:prstGeom prst="rect">
            <a:avLst/>
          </a:prstGeom>
          <a:solidFill>
            <a:srgbClr val="D56A7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2. Crime roll mean 3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1.27</a:t>
            </a:r>
          </a:p>
        </p:txBody>
      </p:sp>
      <p:sp>
        <p:nvSpPr>
          <p:cNvPr id="5" name="north_rank3_unemployed_pct_age16plus"/>
          <p:cNvSpPr/>
          <p:nvPr/>
        </p:nvSpPr>
        <p:spPr>
          <a:xfrm>
            <a:off x="7481528" y="1895294"/>
            <a:ext cx="1252779" cy="1252779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0.50</a:t>
            </a:r>
          </a:p>
        </p:txBody>
      </p:sp>
      <p:sp>
        <p:nvSpPr>
          <p:cNvPr id="6" name="north_rank4_long_term_sick_disabled_pct"/>
          <p:cNvSpPr/>
          <p:nvPr/>
        </p:nvSpPr>
        <p:spPr>
          <a:xfrm>
            <a:off x="6199500" y="1615555"/>
            <a:ext cx="1089651" cy="1089651"/>
          </a:xfrm>
          <a:prstGeom prst="rect">
            <a:avLst/>
          </a:prstGeom>
          <a:solidFill>
            <a:srgbClr val="D6772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0.29</a:t>
            </a:r>
          </a:p>
        </p:txBody>
      </p:sp>
      <p:sp>
        <p:nvSpPr>
          <p:cNvPr id="7" name="north_rank5_owner_occupied_pct"/>
          <p:cNvSpPr/>
          <p:nvPr/>
        </p:nvSpPr>
        <p:spPr>
          <a:xfrm>
            <a:off x="4609529" y="1701187"/>
            <a:ext cx="1076542" cy="1076542"/>
          </a:xfrm>
          <a:prstGeom prst="rect">
            <a:avLst/>
          </a:prstGeom>
          <a:solidFill>
            <a:srgbClr val="D87A2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5. Owner occupied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0.28</a:t>
            </a:r>
          </a:p>
        </p:txBody>
      </p:sp>
      <p:sp>
        <p:nvSpPr>
          <p:cNvPr id="8" name="north_rank6_crime_lag_2"/>
          <p:cNvSpPr/>
          <p:nvPr/>
        </p:nvSpPr>
        <p:spPr>
          <a:xfrm>
            <a:off x="3541070" y="2358768"/>
            <a:ext cx="1026007" cy="1026007"/>
          </a:xfrm>
          <a:prstGeom prst="rect">
            <a:avLst/>
          </a:prstGeom>
          <a:solidFill>
            <a:srgbClr val="D79096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6. Crime lag 2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0.22</a:t>
            </a:r>
          </a:p>
        </p:txBody>
      </p:sp>
      <p:sp>
        <p:nvSpPr>
          <p:cNvPr id="9" name="north_rank7_social_rented_pct"/>
          <p:cNvSpPr/>
          <p:nvPr/>
        </p:nvSpPr>
        <p:spPr>
          <a:xfrm>
            <a:off x="3567168" y="3198222"/>
            <a:ext cx="909424" cy="909424"/>
          </a:xfrm>
          <a:prstGeom prst="rect">
            <a:avLst/>
          </a:prstGeom>
          <a:solidFill>
            <a:srgbClr val="D59C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7. Social rented %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0.13</a:t>
            </a:r>
          </a:p>
        </p:txBody>
      </p:sp>
      <p:sp>
        <p:nvSpPr>
          <p:cNvPr id="10" name="north_rank8_crime_lag_1"/>
          <p:cNvSpPr/>
          <p:nvPr/>
        </p:nvSpPr>
        <p:spPr>
          <a:xfrm>
            <a:off x="4660267" y="4132191"/>
            <a:ext cx="884098" cy="884098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8. Crime lag 1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0.11</a:t>
            </a:r>
          </a:p>
        </p:txBody>
      </p:sp>
      <p:sp>
        <p:nvSpPr>
          <p:cNvPr id="11" name="north_rank9_population_density_per_km2"/>
          <p:cNvSpPr/>
          <p:nvPr/>
        </p:nvSpPr>
        <p:spPr>
          <a:xfrm>
            <a:off x="5655680" y="4135546"/>
            <a:ext cx="884029" cy="884029"/>
          </a:xfrm>
          <a:prstGeom prst="rect">
            <a:avLst/>
          </a:prstGeom>
          <a:solidFill>
            <a:srgbClr val="09539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9. Population density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12" name="north_rank10_transit_stop_per_km2"/>
          <p:cNvSpPr/>
          <p:nvPr/>
        </p:nvSpPr>
        <p:spPr>
          <a:xfrm>
            <a:off x="7481528" y="3750772"/>
            <a:ext cx="882969" cy="882969"/>
          </a:xfrm>
          <a:prstGeom prst="rect">
            <a:avLst/>
          </a:prstGeom>
          <a:solidFill>
            <a:srgbClr val="5E089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10. Transit density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0B8C0"/>
                </a:solidFill>
                <a:latin typeface="Calibri"/>
              </a:rPr>
              <a:t>Each rectangle is an editable PowerPoint shape. Size = |SMILE coefficient|. Number on the box is the rank; value underneath is the coefficient. Not causal.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Direction 2 — East addition  ·  E01013094  ·  East Riding of Yorkshire 029A  —  Feature top-10</a:t>
            </a:r>
          </a:p>
        </p:txBody>
      </p:sp>
      <p:sp>
        <p:nvSpPr>
          <p:cNvPr id="3" name="east_rank1_crime_rolling_mean_6"/>
          <p:cNvSpPr/>
          <p:nvPr/>
        </p:nvSpPr>
        <p:spPr>
          <a:xfrm>
            <a:off x="4635591" y="1979259"/>
            <a:ext cx="2890336" cy="2890336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5.22</a:t>
            </a:r>
          </a:p>
        </p:txBody>
      </p:sp>
      <p:sp>
        <p:nvSpPr>
          <p:cNvPr id="4" name="east_rank2_crime_rolling_mean_3"/>
          <p:cNvSpPr/>
          <p:nvPr/>
        </p:nvSpPr>
        <p:spPr>
          <a:xfrm>
            <a:off x="7525928" y="2496308"/>
            <a:ext cx="1717811" cy="1717811"/>
          </a:xfrm>
          <a:prstGeom prst="rect">
            <a:avLst/>
          </a:prstGeom>
          <a:solidFill>
            <a:srgbClr val="D56A7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2. Crime roll mean 3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1.27</a:t>
            </a:r>
          </a:p>
        </p:txBody>
      </p:sp>
      <p:sp>
        <p:nvSpPr>
          <p:cNvPr id="5" name="east_rank3_unemployed_pct_age16plus"/>
          <p:cNvSpPr/>
          <p:nvPr/>
        </p:nvSpPr>
        <p:spPr>
          <a:xfrm>
            <a:off x="7525928" y="1789534"/>
            <a:ext cx="1292018" cy="1292018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0.50</a:t>
            </a:r>
          </a:p>
        </p:txBody>
      </p:sp>
      <p:sp>
        <p:nvSpPr>
          <p:cNvPr id="6" name="east_rank4_long_term_sick_disabled_pct"/>
          <p:cNvSpPr/>
          <p:nvPr/>
        </p:nvSpPr>
        <p:spPr>
          <a:xfrm>
            <a:off x="5941368" y="1495243"/>
            <a:ext cx="1124049" cy="1124049"/>
          </a:xfrm>
          <a:prstGeom prst="rect">
            <a:avLst/>
          </a:prstGeom>
          <a:solidFill>
            <a:srgbClr val="D6772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0.29</a:t>
            </a:r>
          </a:p>
        </p:txBody>
      </p:sp>
      <p:sp>
        <p:nvSpPr>
          <p:cNvPr id="7" name="east_rank5_owner_occupied_pct"/>
          <p:cNvSpPr/>
          <p:nvPr/>
        </p:nvSpPr>
        <p:spPr>
          <a:xfrm>
            <a:off x="4719568" y="1646131"/>
            <a:ext cx="1109478" cy="1109478"/>
          </a:xfrm>
          <a:prstGeom prst="rect">
            <a:avLst/>
          </a:prstGeom>
          <a:solidFill>
            <a:srgbClr val="D87A2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5. Owner occupied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0.28</a:t>
            </a:r>
          </a:p>
        </p:txBody>
      </p:sp>
      <p:sp>
        <p:nvSpPr>
          <p:cNvPr id="8" name="east_rank6_crime_lag_2"/>
          <p:cNvSpPr/>
          <p:nvPr/>
        </p:nvSpPr>
        <p:spPr>
          <a:xfrm>
            <a:off x="3425326" y="2340193"/>
            <a:ext cx="1060320" cy="1060320"/>
          </a:xfrm>
          <a:prstGeom prst="rect">
            <a:avLst/>
          </a:prstGeom>
          <a:solidFill>
            <a:srgbClr val="D79096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6. Crime lag 2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0.23</a:t>
            </a:r>
          </a:p>
        </p:txBody>
      </p:sp>
      <p:sp>
        <p:nvSpPr>
          <p:cNvPr id="9" name="east_rank7_social_rented_pct"/>
          <p:cNvSpPr/>
          <p:nvPr/>
        </p:nvSpPr>
        <p:spPr>
          <a:xfrm>
            <a:off x="3505536" y="3105458"/>
            <a:ext cx="937828" cy="937828"/>
          </a:xfrm>
          <a:prstGeom prst="rect">
            <a:avLst/>
          </a:prstGeom>
          <a:solidFill>
            <a:srgbClr val="D59C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7. Social rented %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0.13</a:t>
            </a:r>
          </a:p>
        </p:txBody>
      </p:sp>
      <p:sp>
        <p:nvSpPr>
          <p:cNvPr id="10" name="east_rank8_population_density_per_km2"/>
          <p:cNvSpPr/>
          <p:nvPr/>
        </p:nvSpPr>
        <p:spPr>
          <a:xfrm>
            <a:off x="4980922" y="4130304"/>
            <a:ext cx="911737" cy="911737"/>
          </a:xfrm>
          <a:prstGeom prst="rect">
            <a:avLst/>
          </a:prstGeom>
          <a:solidFill>
            <a:srgbClr val="08529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8. Population density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11" name="east_rank9_crime_lag_1"/>
          <p:cNvSpPr/>
          <p:nvPr/>
        </p:nvSpPr>
        <p:spPr>
          <a:xfrm>
            <a:off x="6278008" y="4130483"/>
            <a:ext cx="910816" cy="910816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9. Crime lag 1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0.11</a:t>
            </a:r>
          </a:p>
        </p:txBody>
      </p:sp>
      <p:sp>
        <p:nvSpPr>
          <p:cNvPr id="12" name="east_rank10_transit_stop_per_km2"/>
          <p:cNvSpPr/>
          <p:nvPr/>
        </p:nvSpPr>
        <p:spPr>
          <a:xfrm>
            <a:off x="7525928" y="3902747"/>
            <a:ext cx="908703" cy="908703"/>
          </a:xfrm>
          <a:prstGeom prst="rect">
            <a:avLst/>
          </a:prstGeom>
          <a:solidFill>
            <a:srgbClr val="61099F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10. Transit density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0B8C0"/>
                </a:solidFill>
                <a:latin typeface="Calibri"/>
              </a:rPr>
              <a:t>Each rectangle is an editable PowerPoint shape. Size = |SMILE coefficient|. Number on the box is the rank; value underneath is the coefficient. Not causal.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Direction 3 — South addition  ·  E01013009  ·  East Riding of Yorkshire 034B  —  Feature top-10</a:t>
            </a:r>
          </a:p>
        </p:txBody>
      </p:sp>
      <p:sp>
        <p:nvSpPr>
          <p:cNvPr id="3" name="south_rank1_crime_rolling_mean_6"/>
          <p:cNvSpPr/>
          <p:nvPr/>
        </p:nvSpPr>
        <p:spPr>
          <a:xfrm>
            <a:off x="4662301" y="2005969"/>
            <a:ext cx="2836917" cy="2836917"/>
          </a:xfrm>
          <a:prstGeom prst="rect">
            <a:avLst/>
          </a:prstGeom>
          <a:solidFill>
            <a:srgbClr val="9C081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5.20</a:t>
            </a:r>
          </a:p>
        </p:txBody>
      </p:sp>
      <p:sp>
        <p:nvSpPr>
          <p:cNvPr id="4" name="south_rank2_crime_rolling_mean_3"/>
          <p:cNvSpPr/>
          <p:nvPr/>
        </p:nvSpPr>
        <p:spPr>
          <a:xfrm>
            <a:off x="7499218" y="2488376"/>
            <a:ext cx="1687485" cy="1687485"/>
          </a:xfrm>
          <a:prstGeom prst="rect">
            <a:avLst/>
          </a:prstGeom>
          <a:solidFill>
            <a:srgbClr val="D56A7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2. Crime roll mean 3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1.27</a:t>
            </a:r>
          </a:p>
        </p:txBody>
      </p:sp>
      <p:sp>
        <p:nvSpPr>
          <p:cNvPr id="5" name="south_rank3_unemployed_pct_age16plus"/>
          <p:cNvSpPr/>
          <p:nvPr/>
        </p:nvSpPr>
        <p:spPr>
          <a:xfrm>
            <a:off x="7499218" y="1795094"/>
            <a:ext cx="1267949" cy="1267949"/>
          </a:xfrm>
          <a:prstGeom prst="rect">
            <a:avLst/>
          </a:prstGeom>
          <a:solidFill>
            <a:srgbClr val="9C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0.49</a:t>
            </a:r>
          </a:p>
        </p:txBody>
      </p:sp>
      <p:sp>
        <p:nvSpPr>
          <p:cNvPr id="6" name="south_rank4_long_term_sick_disabled_pct"/>
          <p:cNvSpPr/>
          <p:nvPr/>
        </p:nvSpPr>
        <p:spPr>
          <a:xfrm>
            <a:off x="5467350" y="1006017"/>
            <a:ext cx="1100360" cy="1100360"/>
          </a:xfrm>
          <a:prstGeom prst="rect">
            <a:avLst/>
          </a:prstGeom>
          <a:solidFill>
            <a:srgbClr val="D77825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0.29</a:t>
            </a:r>
          </a:p>
        </p:txBody>
      </p:sp>
      <p:sp>
        <p:nvSpPr>
          <p:cNvPr id="7" name="south_rank5_owner_occupied_pct"/>
          <p:cNvSpPr/>
          <p:nvPr/>
        </p:nvSpPr>
        <p:spPr>
          <a:xfrm>
            <a:off x="5197741" y="1680772"/>
            <a:ext cx="1088465" cy="1088465"/>
          </a:xfrm>
          <a:prstGeom prst="rect">
            <a:avLst/>
          </a:prstGeom>
          <a:solidFill>
            <a:srgbClr val="D87B29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5. Owner occupied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0.27</a:t>
            </a:r>
          </a:p>
        </p:txBody>
      </p:sp>
      <p:sp>
        <p:nvSpPr>
          <p:cNvPr id="8" name="south_rank6_crime_lag_2"/>
          <p:cNvSpPr/>
          <p:nvPr/>
        </p:nvSpPr>
        <p:spPr>
          <a:xfrm>
            <a:off x="3448754" y="2597676"/>
            <a:ext cx="1039474" cy="1039474"/>
          </a:xfrm>
          <a:prstGeom prst="rect">
            <a:avLst/>
          </a:prstGeom>
          <a:solidFill>
            <a:srgbClr val="D79096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6. Crime lag 2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0.22</a:t>
            </a:r>
          </a:p>
        </p:txBody>
      </p:sp>
      <p:sp>
        <p:nvSpPr>
          <p:cNvPr id="9" name="south_rank7_social_rented_pct"/>
          <p:cNvSpPr/>
          <p:nvPr/>
        </p:nvSpPr>
        <p:spPr>
          <a:xfrm>
            <a:off x="3566774" y="3256054"/>
            <a:ext cx="920450" cy="920450"/>
          </a:xfrm>
          <a:prstGeom prst="rect">
            <a:avLst/>
          </a:prstGeom>
          <a:solidFill>
            <a:srgbClr val="D59C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7. Social rented %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0.13</a:t>
            </a:r>
          </a:p>
        </p:txBody>
      </p:sp>
      <p:sp>
        <p:nvSpPr>
          <p:cNvPr id="10" name="south_rank8_crime_lag_1"/>
          <p:cNvSpPr/>
          <p:nvPr/>
        </p:nvSpPr>
        <p:spPr>
          <a:xfrm>
            <a:off x="4552677" y="4160035"/>
            <a:ext cx="898367" cy="898367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8. Crime lag 1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0.11</a:t>
            </a:r>
          </a:p>
        </p:txBody>
      </p:sp>
      <p:sp>
        <p:nvSpPr>
          <p:cNvPr id="11" name="south_rank9_population_density_per_km2"/>
          <p:cNvSpPr/>
          <p:nvPr/>
        </p:nvSpPr>
        <p:spPr>
          <a:xfrm>
            <a:off x="6407600" y="4160064"/>
            <a:ext cx="896612" cy="896612"/>
          </a:xfrm>
          <a:prstGeom prst="rect">
            <a:avLst/>
          </a:prstGeom>
          <a:solidFill>
            <a:srgbClr val="08529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9. Population density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12" name="south_rank10_transit_stop_per_km2"/>
          <p:cNvSpPr/>
          <p:nvPr/>
        </p:nvSpPr>
        <p:spPr>
          <a:xfrm>
            <a:off x="7499218" y="3882078"/>
            <a:ext cx="893953" cy="893953"/>
          </a:xfrm>
          <a:prstGeom prst="rect">
            <a:avLst/>
          </a:prstGeom>
          <a:solidFill>
            <a:srgbClr val="5F099D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10. Transit density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0B8C0"/>
                </a:solidFill>
                <a:latin typeface="Calibri"/>
              </a:rPr>
              <a:t>Each rectangle is an editable PowerPoint shape. Size = |SMILE coefficient|. Number on the box is the rank; value underneath is the coefficient. Not causal.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Direction 4 — West addition  ·  E01013112  ·  East Riding of Yorkshire 025D  —  Feature top-10</a:t>
            </a:r>
          </a:p>
        </p:txBody>
      </p:sp>
      <p:sp>
        <p:nvSpPr>
          <p:cNvPr id="3" name="west_rank1_crime_rolling_mean_6"/>
          <p:cNvSpPr/>
          <p:nvPr/>
        </p:nvSpPr>
        <p:spPr>
          <a:xfrm>
            <a:off x="4652384" y="1996052"/>
            <a:ext cx="2856751" cy="2856751"/>
          </a:xfrm>
          <a:prstGeom prst="rect">
            <a:avLst/>
          </a:prstGeom>
          <a:solidFill>
            <a:srgbClr val="9B081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1. Crime roll mean 6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5.22</a:t>
            </a:r>
          </a:p>
        </p:txBody>
      </p:sp>
      <p:sp>
        <p:nvSpPr>
          <p:cNvPr id="4" name="west_rank2_crime_rolling_mean_3"/>
          <p:cNvSpPr/>
          <p:nvPr/>
        </p:nvSpPr>
        <p:spPr>
          <a:xfrm>
            <a:off x="7509135" y="2469718"/>
            <a:ext cx="1697233" cy="1697233"/>
          </a:xfrm>
          <a:prstGeom prst="rect">
            <a:avLst/>
          </a:prstGeom>
          <a:solidFill>
            <a:srgbClr val="D56A73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2. Crime roll mean 3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1.27</a:t>
            </a:r>
          </a:p>
        </p:txBody>
      </p:sp>
      <p:sp>
        <p:nvSpPr>
          <p:cNvPr id="5" name="west_rank3_unemployed_pct_age16plus"/>
          <p:cNvSpPr/>
          <p:nvPr/>
        </p:nvSpPr>
        <p:spPr>
          <a:xfrm>
            <a:off x="7509135" y="1771434"/>
            <a:ext cx="1276512" cy="1276512"/>
          </a:xfrm>
          <a:prstGeom prst="rect">
            <a:avLst/>
          </a:prstGeom>
          <a:solidFill>
            <a:srgbClr val="9B4D0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3. Unemployment %</a:t>
            </a:r>
          </a:p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0.50</a:t>
            </a:r>
          </a:p>
        </p:txBody>
      </p:sp>
      <p:sp>
        <p:nvSpPr>
          <p:cNvPr id="6" name="west_rank4_long_term_sick_disabled_pct"/>
          <p:cNvSpPr/>
          <p:nvPr/>
        </p:nvSpPr>
        <p:spPr>
          <a:xfrm>
            <a:off x="6220806" y="1577555"/>
            <a:ext cx="1111919" cy="1111919"/>
          </a:xfrm>
          <a:prstGeom prst="rect">
            <a:avLst/>
          </a:prstGeom>
          <a:solidFill>
            <a:srgbClr val="D57724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4. Long-term sick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0.29</a:t>
            </a:r>
          </a:p>
        </p:txBody>
      </p:sp>
      <p:sp>
        <p:nvSpPr>
          <p:cNvPr id="7" name="west_rank5_owner_occupied_pct"/>
          <p:cNvSpPr/>
          <p:nvPr/>
        </p:nvSpPr>
        <p:spPr>
          <a:xfrm>
            <a:off x="4712832" y="1667509"/>
            <a:ext cx="1097407" cy="1097407"/>
          </a:xfrm>
          <a:prstGeom prst="rect">
            <a:avLst/>
          </a:prstGeom>
          <a:solidFill>
            <a:srgbClr val="D87A28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5. Owner occupied %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0.28</a:t>
            </a:r>
          </a:p>
        </p:txBody>
      </p:sp>
      <p:sp>
        <p:nvSpPr>
          <p:cNvPr id="8" name="west_rank6_crime_lag_2"/>
          <p:cNvSpPr/>
          <p:nvPr/>
        </p:nvSpPr>
        <p:spPr>
          <a:xfrm>
            <a:off x="3473095" y="2311301"/>
            <a:ext cx="1047192" cy="1047192"/>
          </a:xfrm>
          <a:prstGeom prst="rect">
            <a:avLst/>
          </a:prstGeom>
          <a:solidFill>
            <a:srgbClr val="D79096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6. Crime lag 2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0.23</a:t>
            </a:r>
          </a:p>
        </p:txBody>
      </p:sp>
      <p:sp>
        <p:nvSpPr>
          <p:cNvPr id="9" name="west_rank7_social_rented_pct"/>
          <p:cNvSpPr/>
          <p:nvPr/>
        </p:nvSpPr>
        <p:spPr>
          <a:xfrm>
            <a:off x="3582320" y="3508925"/>
            <a:ext cx="927056" cy="927056"/>
          </a:xfrm>
          <a:prstGeom prst="rect">
            <a:avLst/>
          </a:prstGeom>
          <a:solidFill>
            <a:srgbClr val="D59C6B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7. Social rented %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0.13</a:t>
            </a:r>
          </a:p>
        </p:txBody>
      </p:sp>
      <p:sp>
        <p:nvSpPr>
          <p:cNvPr id="10" name="west_rank8_crime_lag_1"/>
          <p:cNvSpPr/>
          <p:nvPr/>
        </p:nvSpPr>
        <p:spPr>
          <a:xfrm>
            <a:off x="4953764" y="4128773"/>
            <a:ext cx="903066" cy="903066"/>
          </a:xfrm>
          <a:prstGeom prst="rect">
            <a:avLst/>
          </a:prstGeom>
          <a:solidFill>
            <a:srgbClr val="D7949A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12171C"/>
                </a:solidFill>
                <a:latin typeface="Calibri"/>
              </a:rPr>
              <a:t>8. Crime lag 1</a:t>
            </a:r>
          </a:p>
          <a:p>
            <a:pPr algn="ctr"/>
            <a:r>
              <a:rPr sz="1800" b="1">
                <a:solidFill>
                  <a:srgbClr val="12171C"/>
                </a:solidFill>
                <a:latin typeface="Calibri"/>
              </a:rPr>
              <a:t>0.11</a:t>
            </a:r>
          </a:p>
        </p:txBody>
      </p:sp>
      <p:sp>
        <p:nvSpPr>
          <p:cNvPr id="11" name="west_rank9_population_density_per_km2"/>
          <p:cNvSpPr/>
          <p:nvPr/>
        </p:nvSpPr>
        <p:spPr>
          <a:xfrm>
            <a:off x="6352682" y="4128476"/>
            <a:ext cx="901248" cy="901248"/>
          </a:xfrm>
          <a:prstGeom prst="rect">
            <a:avLst/>
          </a:prstGeom>
          <a:solidFill>
            <a:srgbClr val="08529C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9. Population density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12" name="west_rank10_transit_stop_per_km2"/>
          <p:cNvSpPr/>
          <p:nvPr/>
        </p:nvSpPr>
        <p:spPr>
          <a:xfrm>
            <a:off x="7509135" y="3807117"/>
            <a:ext cx="897819" cy="897819"/>
          </a:xfrm>
          <a:prstGeom prst="rect">
            <a:avLst/>
          </a:prstGeom>
          <a:solidFill>
            <a:srgbClr val="610AA0"/>
          </a:solidFill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10. Transit density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0.11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114300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B0B8C0"/>
                </a:solidFill>
                <a:latin typeface="Calibri"/>
              </a:rPr>
              <a:t>Each rectangle is an editable PowerPoint shape. Size = |SMILE coefficient|. Number on the box is the rank; value underneath is the coefficient. Not causal.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Feature category colour legend (one hue per category; darker = stronger |coef|)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Crime / temporal</a:t>
            </a:r>
          </a:p>
        </p:txBody>
      </p:sp>
      <p:sp>
        <p:nvSpPr>
          <p:cNvPr id="4" name="legend_Crime / temporal_0"/>
          <p:cNvSpPr/>
          <p:nvPr/>
        </p:nvSpPr>
        <p:spPr>
          <a:xfrm>
            <a:off x="4572000" y="777240"/>
            <a:ext cx="502920" cy="502920"/>
          </a:xfrm>
          <a:prstGeom prst="rect">
            <a:avLst/>
          </a:prstGeom>
          <a:solidFill>
            <a:srgbClr val="D8979D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egend_Crime / temporal_1"/>
          <p:cNvSpPr/>
          <p:nvPr/>
        </p:nvSpPr>
        <p:spPr>
          <a:xfrm>
            <a:off x="5212080" y="777240"/>
            <a:ext cx="502920" cy="502920"/>
          </a:xfrm>
          <a:prstGeom prst="rect">
            <a:avLst/>
          </a:prstGeom>
          <a:solidFill>
            <a:srgbClr val="D56871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gend_Crime / temporal_2"/>
          <p:cNvSpPr/>
          <p:nvPr/>
        </p:nvSpPr>
        <p:spPr>
          <a:xfrm>
            <a:off x="5852160" y="777240"/>
            <a:ext cx="502920" cy="502920"/>
          </a:xfrm>
          <a:prstGeom prst="rect">
            <a:avLst/>
          </a:prstGeom>
          <a:solidFill>
            <a:srgbClr val="D7324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gend_Crime / temporal_3"/>
          <p:cNvSpPr/>
          <p:nvPr/>
        </p:nvSpPr>
        <p:spPr>
          <a:xfrm>
            <a:off x="6492240" y="777240"/>
            <a:ext cx="502920" cy="502920"/>
          </a:xfrm>
          <a:prstGeom prst="rect">
            <a:avLst/>
          </a:prstGeom>
          <a:solidFill>
            <a:srgbClr val="BF172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gend_Crime / temporal_4"/>
          <p:cNvSpPr/>
          <p:nvPr/>
        </p:nvSpPr>
        <p:spPr>
          <a:xfrm>
            <a:off x="7132320" y="777240"/>
            <a:ext cx="502920" cy="502920"/>
          </a:xfrm>
          <a:prstGeom prst="rect">
            <a:avLst/>
          </a:prstGeom>
          <a:solidFill>
            <a:srgbClr val="9B081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Economic / labour &amp; tenure</a:t>
            </a:r>
          </a:p>
        </p:txBody>
      </p:sp>
      <p:sp>
        <p:nvSpPr>
          <p:cNvPr id="10" name="legend_Economic / labour &amp; tenure_0"/>
          <p:cNvSpPr/>
          <p:nvPr/>
        </p:nvSpPr>
        <p:spPr>
          <a:xfrm>
            <a:off x="4572000" y="1463040"/>
            <a:ext cx="502920" cy="502920"/>
          </a:xfrm>
          <a:prstGeom prst="rect">
            <a:avLst/>
          </a:prstGeom>
          <a:solidFill>
            <a:srgbClr val="D8B59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gend_Economic / labour &amp; tenure_1"/>
          <p:cNvSpPr/>
          <p:nvPr/>
        </p:nvSpPr>
        <p:spPr>
          <a:xfrm>
            <a:off x="5212080" y="1463040"/>
            <a:ext cx="502920" cy="502920"/>
          </a:xfrm>
          <a:prstGeom prst="rect">
            <a:avLst/>
          </a:prstGeom>
          <a:solidFill>
            <a:srgbClr val="D59A6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gend_Economic / labour &amp; tenure_2"/>
          <p:cNvSpPr/>
          <p:nvPr/>
        </p:nvSpPr>
        <p:spPr>
          <a:xfrm>
            <a:off x="5852160" y="1463040"/>
            <a:ext cx="502920" cy="502920"/>
          </a:xfrm>
          <a:prstGeom prst="rect">
            <a:avLst/>
          </a:prstGeom>
          <a:solidFill>
            <a:srgbClr val="D77F3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gend_Economic / labour &amp; tenure_3"/>
          <p:cNvSpPr/>
          <p:nvPr/>
        </p:nvSpPr>
        <p:spPr>
          <a:xfrm>
            <a:off x="6492240" y="1463040"/>
            <a:ext cx="502920" cy="502920"/>
          </a:xfrm>
          <a:prstGeom prst="rect">
            <a:avLst/>
          </a:prstGeom>
          <a:solidFill>
            <a:srgbClr val="BF651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gend_Economic / labour &amp; tenure_4"/>
          <p:cNvSpPr/>
          <p:nvPr/>
        </p:nvSpPr>
        <p:spPr>
          <a:xfrm>
            <a:off x="7132320" y="1463040"/>
            <a:ext cx="502920" cy="502920"/>
          </a:xfrm>
          <a:prstGeom prst="rect">
            <a:avLst/>
          </a:prstGeom>
          <a:solidFill>
            <a:srgbClr val="9B4D0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488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Social / demographic</a:t>
            </a:r>
          </a:p>
        </p:txBody>
      </p:sp>
      <p:sp>
        <p:nvSpPr>
          <p:cNvPr id="16" name="legend_Social / demographic_0"/>
          <p:cNvSpPr/>
          <p:nvPr/>
        </p:nvSpPr>
        <p:spPr>
          <a:xfrm>
            <a:off x="4572000" y="2148840"/>
            <a:ext cx="502920" cy="502920"/>
          </a:xfrm>
          <a:prstGeom prst="rect">
            <a:avLst/>
          </a:prstGeom>
          <a:solidFill>
            <a:srgbClr val="97B8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gend_Social / demographic_1"/>
          <p:cNvSpPr/>
          <p:nvPr/>
        </p:nvSpPr>
        <p:spPr>
          <a:xfrm>
            <a:off x="5212080" y="2148840"/>
            <a:ext cx="502920" cy="502920"/>
          </a:xfrm>
          <a:prstGeom prst="rect">
            <a:avLst/>
          </a:prstGeom>
          <a:solidFill>
            <a:srgbClr val="689ED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gend_Social / demographic_2"/>
          <p:cNvSpPr/>
          <p:nvPr/>
        </p:nvSpPr>
        <p:spPr>
          <a:xfrm>
            <a:off x="5852160" y="2148840"/>
            <a:ext cx="502920" cy="502920"/>
          </a:xfrm>
          <a:prstGeom prst="rect">
            <a:avLst/>
          </a:prstGeom>
          <a:solidFill>
            <a:srgbClr val="3285D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gend_Social / demographic_3"/>
          <p:cNvSpPr/>
          <p:nvPr/>
        </p:nvSpPr>
        <p:spPr>
          <a:xfrm>
            <a:off x="6492240" y="2148840"/>
            <a:ext cx="502920" cy="502920"/>
          </a:xfrm>
          <a:prstGeom prst="rect">
            <a:avLst/>
          </a:prstGeom>
          <a:solidFill>
            <a:srgbClr val="176BB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gend_Social / demographic_4"/>
          <p:cNvSpPr/>
          <p:nvPr/>
        </p:nvSpPr>
        <p:spPr>
          <a:xfrm>
            <a:off x="7132320" y="2148840"/>
            <a:ext cx="502920" cy="502920"/>
          </a:xfrm>
          <a:prstGeom prst="rect">
            <a:avLst/>
          </a:prstGeom>
          <a:solidFill>
            <a:srgbClr val="08529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8346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Built environment / activity</a:t>
            </a:r>
          </a:p>
        </p:txBody>
      </p:sp>
      <p:sp>
        <p:nvSpPr>
          <p:cNvPr id="22" name="legend_Built environment / activity_0"/>
          <p:cNvSpPr/>
          <p:nvPr/>
        </p:nvSpPr>
        <p:spPr>
          <a:xfrm>
            <a:off x="4572000" y="2834640"/>
            <a:ext cx="502920" cy="502920"/>
          </a:xfrm>
          <a:prstGeom prst="rect">
            <a:avLst/>
          </a:prstGeom>
          <a:solidFill>
            <a:srgbClr val="97D8C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legend_Built environment / activity_1"/>
          <p:cNvSpPr/>
          <p:nvPr/>
        </p:nvSpPr>
        <p:spPr>
          <a:xfrm>
            <a:off x="5212080" y="2834640"/>
            <a:ext cx="502920" cy="502920"/>
          </a:xfrm>
          <a:prstGeom prst="rect">
            <a:avLst/>
          </a:prstGeom>
          <a:solidFill>
            <a:srgbClr val="68D5B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egend_Built environment / activity_2"/>
          <p:cNvSpPr/>
          <p:nvPr/>
        </p:nvSpPr>
        <p:spPr>
          <a:xfrm>
            <a:off x="5852160" y="2834640"/>
            <a:ext cx="502920" cy="502920"/>
          </a:xfrm>
          <a:prstGeom prst="rect">
            <a:avLst/>
          </a:prstGeom>
          <a:solidFill>
            <a:srgbClr val="32D7A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egend_Built environment / activity_3"/>
          <p:cNvSpPr/>
          <p:nvPr/>
        </p:nvSpPr>
        <p:spPr>
          <a:xfrm>
            <a:off x="6492240" y="2834640"/>
            <a:ext cx="502920" cy="502920"/>
          </a:xfrm>
          <a:prstGeom prst="rect">
            <a:avLst/>
          </a:prstGeom>
          <a:solidFill>
            <a:srgbClr val="17BF8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legend_Built environment / activity_4"/>
          <p:cNvSpPr/>
          <p:nvPr/>
        </p:nvSpPr>
        <p:spPr>
          <a:xfrm>
            <a:off x="7132320" y="2834640"/>
            <a:ext cx="502920" cy="502920"/>
          </a:xfrm>
          <a:prstGeom prst="rect">
            <a:avLst/>
          </a:prstGeom>
          <a:solidFill>
            <a:srgbClr val="089B6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5204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Transport / accessibility</a:t>
            </a:r>
          </a:p>
        </p:txBody>
      </p:sp>
      <p:sp>
        <p:nvSpPr>
          <p:cNvPr id="28" name="legend_Transport / accessibility_0"/>
          <p:cNvSpPr/>
          <p:nvPr/>
        </p:nvSpPr>
        <p:spPr>
          <a:xfrm>
            <a:off x="4572000" y="3520440"/>
            <a:ext cx="502920" cy="502920"/>
          </a:xfrm>
          <a:prstGeom prst="rect">
            <a:avLst/>
          </a:prstGeom>
          <a:solidFill>
            <a:srgbClr val="BD97D8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legend_Transport / accessibility_1"/>
          <p:cNvSpPr/>
          <p:nvPr/>
        </p:nvSpPr>
        <p:spPr>
          <a:xfrm>
            <a:off x="5212080" y="3520440"/>
            <a:ext cx="502920" cy="502920"/>
          </a:xfrm>
          <a:prstGeom prst="rect">
            <a:avLst/>
          </a:prstGeom>
          <a:solidFill>
            <a:srgbClr val="A768D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egend_Transport / accessibility_2"/>
          <p:cNvSpPr/>
          <p:nvPr/>
        </p:nvSpPr>
        <p:spPr>
          <a:xfrm>
            <a:off x="5852160" y="3520440"/>
            <a:ext cx="502920" cy="502920"/>
          </a:xfrm>
          <a:prstGeom prst="rect">
            <a:avLst/>
          </a:prstGeom>
          <a:solidFill>
            <a:srgbClr val="9232D7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legend_Transport / accessibility_3"/>
          <p:cNvSpPr/>
          <p:nvPr/>
        </p:nvSpPr>
        <p:spPr>
          <a:xfrm>
            <a:off x="6492240" y="3520440"/>
            <a:ext cx="502920" cy="502920"/>
          </a:xfrm>
          <a:prstGeom prst="rect">
            <a:avLst/>
          </a:prstGeom>
          <a:solidFill>
            <a:srgbClr val="7917B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legend_Transport / accessibility_4"/>
          <p:cNvSpPr/>
          <p:nvPr/>
        </p:nvSpPr>
        <p:spPr>
          <a:xfrm>
            <a:off x="7132320" y="3520440"/>
            <a:ext cx="502920" cy="502920"/>
          </a:xfrm>
          <a:prstGeom prst="rect">
            <a:avLst/>
          </a:prstGeom>
          <a:solidFill>
            <a:srgbClr val="5E089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062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Environmental</a:t>
            </a:r>
          </a:p>
        </p:txBody>
      </p:sp>
      <p:sp>
        <p:nvSpPr>
          <p:cNvPr id="34" name="legend_Environmental_0"/>
          <p:cNvSpPr/>
          <p:nvPr/>
        </p:nvSpPr>
        <p:spPr>
          <a:xfrm>
            <a:off x="4572000" y="4206240"/>
            <a:ext cx="502920" cy="502920"/>
          </a:xfrm>
          <a:prstGeom prst="rect">
            <a:avLst/>
          </a:prstGeom>
          <a:solidFill>
            <a:srgbClr val="97D8A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legend_Environmental_1"/>
          <p:cNvSpPr/>
          <p:nvPr/>
        </p:nvSpPr>
        <p:spPr>
          <a:xfrm>
            <a:off x="5212080" y="4206240"/>
            <a:ext cx="502920" cy="502920"/>
          </a:xfrm>
          <a:prstGeom prst="rect">
            <a:avLst/>
          </a:prstGeom>
          <a:solidFill>
            <a:srgbClr val="68D57A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legend_Environmental_2"/>
          <p:cNvSpPr/>
          <p:nvPr/>
        </p:nvSpPr>
        <p:spPr>
          <a:xfrm>
            <a:off x="5852160" y="4206240"/>
            <a:ext cx="502920" cy="502920"/>
          </a:xfrm>
          <a:prstGeom prst="rect">
            <a:avLst/>
          </a:prstGeom>
          <a:solidFill>
            <a:srgbClr val="32D74E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legend_Environmental_3"/>
          <p:cNvSpPr/>
          <p:nvPr/>
        </p:nvSpPr>
        <p:spPr>
          <a:xfrm>
            <a:off x="6492240" y="4206240"/>
            <a:ext cx="502920" cy="502920"/>
          </a:xfrm>
          <a:prstGeom prst="rect">
            <a:avLst/>
          </a:prstGeom>
          <a:solidFill>
            <a:srgbClr val="17BF33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legend_Environmental_4"/>
          <p:cNvSpPr/>
          <p:nvPr/>
        </p:nvSpPr>
        <p:spPr>
          <a:xfrm>
            <a:off x="7132320" y="4206240"/>
            <a:ext cx="502920" cy="502920"/>
          </a:xfrm>
          <a:prstGeom prst="rect">
            <a:avLst/>
          </a:prstGeom>
          <a:solidFill>
            <a:srgbClr val="089B21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892040"/>
            <a:ext cx="38404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Structural/control</a:t>
            </a:r>
          </a:p>
        </p:txBody>
      </p:sp>
      <p:sp>
        <p:nvSpPr>
          <p:cNvPr id="40" name="legend_Structural/control_0"/>
          <p:cNvSpPr/>
          <p:nvPr/>
        </p:nvSpPr>
        <p:spPr>
          <a:xfrm>
            <a:off x="4572000" y="4892040"/>
            <a:ext cx="502920" cy="502920"/>
          </a:xfrm>
          <a:prstGeom prst="rect">
            <a:avLst/>
          </a:prstGeom>
          <a:solidFill>
            <a:srgbClr val="BBB4B4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legend_Structural/control_1"/>
          <p:cNvSpPr/>
          <p:nvPr/>
        </p:nvSpPr>
        <p:spPr>
          <a:xfrm>
            <a:off x="5212080" y="4892040"/>
            <a:ext cx="502920" cy="502920"/>
          </a:xfrm>
          <a:prstGeom prst="rect">
            <a:avLst/>
          </a:prstGeom>
          <a:solidFill>
            <a:srgbClr val="A49B9B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legend_Structural/control_2"/>
          <p:cNvSpPr/>
          <p:nvPr/>
        </p:nvSpPr>
        <p:spPr>
          <a:xfrm>
            <a:off x="5852160" y="4892040"/>
            <a:ext cx="502920" cy="502920"/>
          </a:xfrm>
          <a:prstGeom prst="rect">
            <a:avLst/>
          </a:prstGeom>
          <a:solidFill>
            <a:srgbClr val="8D8181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legend_Structural/control_3"/>
          <p:cNvSpPr/>
          <p:nvPr/>
        </p:nvSpPr>
        <p:spPr>
          <a:xfrm>
            <a:off x="6492240" y="4892040"/>
            <a:ext cx="502920" cy="502920"/>
          </a:xfrm>
          <a:prstGeom prst="rect">
            <a:avLst/>
          </a:prstGeom>
          <a:solidFill>
            <a:srgbClr val="746969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legend_Structural/control_4"/>
          <p:cNvSpPr/>
          <p:nvPr/>
        </p:nvSpPr>
        <p:spPr>
          <a:xfrm>
            <a:off x="7132320" y="4892040"/>
            <a:ext cx="502920" cy="502920"/>
          </a:xfrm>
          <a:prstGeom prst="rect">
            <a:avLst/>
          </a:prstGeom>
          <a:solidFill>
            <a:srgbClr val="5B5252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30936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B0B8C0"/>
                </a:solidFill>
                <a:latin typeface="Calibri"/>
              </a:rPr>
              <a:t>Shade scale within each row: light (weaker |coef|) → dark (stronger |coef|).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