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Direction additions — Geo ranking maps and Feature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0B8C0"/>
                </a:solidFill>
                <a:latin typeface="Calibri"/>
              </a:rPr>
              <a:t>Four one-at-a-time cardinal-neighbor LSOA additions (N / E / S / W).
Geo: top-20 LSOAs by |SMILE coefficient|, ranks labelled on the map.
Feature: top-10 predictors as sized rectangles with rank, name, and |coefficient|.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12171C"/>
                </a:solidFill>
                <a:latin typeface="Calibri"/>
              </a:rPr>
              <a:t>ATT stability — four direction additions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658368"/>
          <a:ext cx="1088136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965960"/>
                <a:gridCol w="960120"/>
                <a:gridCol w="1234440"/>
                <a:gridCol w="1371600"/>
                <a:gridCol w="1280160"/>
                <a:gridCol w="960120"/>
                <a:gridCol w="10515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Addition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Added LSOA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Top-k Jaccard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|coef| Spearman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Pred. Spearman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Extra rank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top-20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E01012953  023A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E01012953  023A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E01013094  029A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E01013094  029A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E01013009  034B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E01013009  034B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E01013112  025D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E01013112  025D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Four additions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Four additions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9107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646D"/>
                </a:solidFill>
                <a:latin typeface="Calibri"/>
              </a:rPr>
              <a:t>Accepted if Hull-row prediction Spearman ≥ 0.99. Feature k=10, Geo k=20. Same SMILE seed (42) as the Hull-only baseline. Added LSOA is a real Geo player (fitted coefficient). One addition at a time. Models remain Hull-trained. Not causal.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Geo SMILE top-20 ranking maps — all four direction additions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0352"/>
            <a:ext cx="4565388" cy="3063240"/>
          </a:xfrm>
          <a:prstGeom prst="rect">
            <a:avLst/>
          </a:prstGeom>
        </p:spPr>
      </p:pic>
      <p:pic>
        <p:nvPicPr>
          <p:cNvPr id="4" name="Picture 3" descr="geo_top20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30352"/>
            <a:ext cx="4754196" cy="3063240"/>
          </a:xfrm>
          <a:prstGeom prst="rect">
            <a:avLst/>
          </a:prstGeom>
        </p:spPr>
      </p:pic>
      <p:pic>
        <p:nvPicPr>
          <p:cNvPr id="5" name="Picture 4" descr="geo_top20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703320"/>
            <a:ext cx="4773648" cy="3063240"/>
          </a:xfrm>
          <a:prstGeom prst="rect">
            <a:avLst/>
          </a:prstGeom>
        </p:spPr>
      </p:pic>
      <p:pic>
        <p:nvPicPr>
          <p:cNvPr id="6" name="Picture 5" descr="geo_top20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03320"/>
            <a:ext cx="471995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1 — North addition  ·  E01012953  ·  East Riding of Yorkshire 023A  —  Geo top-20 ranking  ·  extra rank 162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69" y="438912"/>
            <a:ext cx="8926356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2 — East addition  ·  E01013094  ·  East Riding of Yorkshire 029A  —  Geo top-20 ranking  ·  extra rank 143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088" y="438912"/>
            <a:ext cx="9295518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3 — South addition  ·  E01013009  ·  East Riding of Yorkshire 034B  —  Geo top-20 ranking  ·  extra rank 85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71" y="438912"/>
            <a:ext cx="9333552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4 — West addition  ·  E01013112  ·  East Riding of Yorkshire 025D  —  Geo top-20 ranking  ·  extra rank 30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567" y="438912"/>
            <a:ext cx="922856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top-10 — |SMILE coefficient| clusters (all four additions)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" y="420624"/>
            <a:ext cx="2865043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North</a:t>
            </a:r>
          </a:p>
        </p:txBody>
      </p:sp>
      <p:sp>
        <p:nvSpPr>
          <p:cNvPr id="4" name="overview_north_rank1_crime_rolling_mean_6"/>
          <p:cNvSpPr/>
          <p:nvPr/>
        </p:nvSpPr>
        <p:spPr>
          <a:xfrm>
            <a:off x="1188018" y="2896460"/>
            <a:ext cx="891342" cy="891342"/>
          </a:xfrm>
          <a:prstGeom prst="rect">
            <a:avLst/>
          </a:prstGeom>
          <a:solidFill>
            <a:srgbClr val="9B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5.14</a:t>
            </a:r>
          </a:p>
        </p:txBody>
      </p:sp>
      <p:sp>
        <p:nvSpPr>
          <p:cNvPr id="5" name="overview_north_rank2_crime_rolling_mean_3"/>
          <p:cNvSpPr/>
          <p:nvPr/>
        </p:nvSpPr>
        <p:spPr>
          <a:xfrm>
            <a:off x="2079361" y="3071443"/>
            <a:ext cx="524790" cy="524790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6" name="overview_north_rank3_unemployed_pct_age16plus"/>
          <p:cNvSpPr/>
          <p:nvPr/>
        </p:nvSpPr>
        <p:spPr>
          <a:xfrm>
            <a:off x="2079361" y="2288832"/>
            <a:ext cx="397488" cy="397488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7" name="overview_north_rank4_long_term_sick_disabled_pct"/>
          <p:cNvSpPr/>
          <p:nvPr/>
        </p:nvSpPr>
        <p:spPr>
          <a:xfrm>
            <a:off x="1678258" y="1970215"/>
            <a:ext cx="336285" cy="336285"/>
          </a:xfrm>
          <a:prstGeom prst="rect">
            <a:avLst/>
          </a:prstGeom>
          <a:solidFill>
            <a:srgbClr val="D87D2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8" name="overview_north_rank5_owner_occupied_pct"/>
          <p:cNvSpPr/>
          <p:nvPr/>
        </p:nvSpPr>
        <p:spPr>
          <a:xfrm>
            <a:off x="1165363" y="2048699"/>
            <a:ext cx="335471" cy="335471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9" name="overview_north_rank6_crime_lag_1"/>
          <p:cNvSpPr/>
          <p:nvPr/>
        </p:nvSpPr>
        <p:spPr>
          <a:xfrm>
            <a:off x="851192" y="2669912"/>
            <a:ext cx="299787" cy="299787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0" name="overview_north_rank7_crime_lag_2"/>
          <p:cNvSpPr/>
          <p:nvPr/>
        </p:nvSpPr>
        <p:spPr>
          <a:xfrm>
            <a:off x="826833" y="3411450"/>
            <a:ext cx="299222" cy="299222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1" name="overview_north_rank8_private_rented_pct"/>
          <p:cNvSpPr/>
          <p:nvPr/>
        </p:nvSpPr>
        <p:spPr>
          <a:xfrm>
            <a:off x="1173166" y="4301604"/>
            <a:ext cx="294966" cy="294966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Private rente…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12" name="overview_north_rank9_social_rented_pct"/>
          <p:cNvSpPr/>
          <p:nvPr/>
        </p:nvSpPr>
        <p:spPr>
          <a:xfrm>
            <a:off x="1494745" y="4301707"/>
            <a:ext cx="288616" cy="288616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3" name="overview_north_rank10_older_adult_65_plus_pct"/>
          <p:cNvSpPr/>
          <p:nvPr/>
        </p:nvSpPr>
        <p:spPr>
          <a:xfrm>
            <a:off x="2079361" y="3928077"/>
            <a:ext cx="269895" cy="269895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939" y="420624"/>
            <a:ext cx="2865043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East</a:t>
            </a:r>
          </a:p>
        </p:txBody>
      </p:sp>
      <p:sp>
        <p:nvSpPr>
          <p:cNvPr id="15" name="overview_east_rank1_crime_rolling_mean_6"/>
          <p:cNvSpPr/>
          <p:nvPr/>
        </p:nvSpPr>
        <p:spPr>
          <a:xfrm>
            <a:off x="4150072" y="2883743"/>
            <a:ext cx="916777" cy="916777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5.15</a:t>
            </a:r>
          </a:p>
        </p:txBody>
      </p:sp>
      <p:sp>
        <p:nvSpPr>
          <p:cNvPr id="16" name="overview_east_rank2_crime_rolling_mean_3"/>
          <p:cNvSpPr/>
          <p:nvPr/>
        </p:nvSpPr>
        <p:spPr>
          <a:xfrm>
            <a:off x="5066850" y="3004753"/>
            <a:ext cx="539593" cy="539593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1.22</a:t>
            </a:r>
          </a:p>
        </p:txBody>
      </p:sp>
      <p:sp>
        <p:nvSpPr>
          <p:cNvPr id="17" name="overview_east_rank3_unemployed_pct_age16plus"/>
          <p:cNvSpPr/>
          <p:nvPr/>
        </p:nvSpPr>
        <p:spPr>
          <a:xfrm>
            <a:off x="5066850" y="2200172"/>
            <a:ext cx="408625" cy="408625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18" name="overview_east_rank4_long_term_sick_disabled_pct"/>
          <p:cNvSpPr/>
          <p:nvPr/>
        </p:nvSpPr>
        <p:spPr>
          <a:xfrm>
            <a:off x="4569252" y="1871380"/>
            <a:ext cx="345829" cy="345829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19" name="overview_east_rank5_owner_occupied_pct"/>
          <p:cNvSpPr/>
          <p:nvPr/>
        </p:nvSpPr>
        <p:spPr>
          <a:xfrm>
            <a:off x="4181019" y="2008166"/>
            <a:ext cx="344701" cy="344701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20" name="overview_east_rank6_crime_lag_2"/>
          <p:cNvSpPr/>
          <p:nvPr/>
        </p:nvSpPr>
        <p:spPr>
          <a:xfrm>
            <a:off x="3792799" y="2664934"/>
            <a:ext cx="308576" cy="308576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21" name="overview_east_rank7_crime_lag_1"/>
          <p:cNvSpPr/>
          <p:nvPr/>
        </p:nvSpPr>
        <p:spPr>
          <a:xfrm>
            <a:off x="3784223" y="3331517"/>
            <a:ext cx="307715" cy="307715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22" name="overview_east_rank8_private_rented_pct"/>
          <p:cNvSpPr/>
          <p:nvPr/>
        </p:nvSpPr>
        <p:spPr>
          <a:xfrm>
            <a:off x="4251647" y="4309891"/>
            <a:ext cx="303043" cy="303043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Private rente…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23" name="overview_east_rank9_social_rented_pct"/>
          <p:cNvSpPr/>
          <p:nvPr/>
        </p:nvSpPr>
        <p:spPr>
          <a:xfrm>
            <a:off x="4667840" y="4307162"/>
            <a:ext cx="296508" cy="296508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24" name="overview_east_rank10_older_adult_65_plus_pct"/>
          <p:cNvSpPr/>
          <p:nvPr/>
        </p:nvSpPr>
        <p:spPr>
          <a:xfrm>
            <a:off x="5066850" y="4088790"/>
            <a:ext cx="276857" cy="276857"/>
          </a:xfrm>
          <a:prstGeom prst="rect">
            <a:avLst/>
          </a:prstGeom>
          <a:solidFill>
            <a:srgbClr val="09549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0711" y="420624"/>
            <a:ext cx="2865043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South</a:t>
            </a:r>
          </a:p>
        </p:txBody>
      </p:sp>
      <p:sp>
        <p:nvSpPr>
          <p:cNvPr id="26" name="overview_south_rank1_crime_rolling_mean_6"/>
          <p:cNvSpPr/>
          <p:nvPr/>
        </p:nvSpPr>
        <p:spPr>
          <a:xfrm>
            <a:off x="7126852" y="2885751"/>
            <a:ext cx="912761" cy="912761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5.13</a:t>
            </a:r>
          </a:p>
        </p:txBody>
      </p:sp>
      <p:sp>
        <p:nvSpPr>
          <p:cNvPr id="27" name="overview_south_rank2_crime_rolling_mean_3"/>
          <p:cNvSpPr/>
          <p:nvPr/>
        </p:nvSpPr>
        <p:spPr>
          <a:xfrm>
            <a:off x="8039614" y="2982930"/>
            <a:ext cx="537622" cy="537622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28" name="overview_south_rank3_unemployed_pct_age16plus"/>
          <p:cNvSpPr/>
          <p:nvPr/>
        </p:nvSpPr>
        <p:spPr>
          <a:xfrm>
            <a:off x="8039614" y="2181661"/>
            <a:ext cx="406869" cy="406869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0.48</a:t>
            </a:r>
          </a:p>
        </p:txBody>
      </p:sp>
      <p:sp>
        <p:nvSpPr>
          <p:cNvPr id="29" name="overview_south_rank4_long_term_sick_disabled_pct"/>
          <p:cNvSpPr/>
          <p:nvPr/>
        </p:nvSpPr>
        <p:spPr>
          <a:xfrm>
            <a:off x="7391345" y="1388534"/>
            <a:ext cx="343381" cy="343381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30" name="overview_south_rank5_owner_occupied_pct"/>
          <p:cNvSpPr/>
          <p:nvPr/>
        </p:nvSpPr>
        <p:spPr>
          <a:xfrm>
            <a:off x="7303241" y="2018496"/>
            <a:ext cx="342912" cy="342912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31" name="overview_south_rank6_crime_lag_1"/>
          <p:cNvSpPr/>
          <p:nvPr/>
        </p:nvSpPr>
        <p:spPr>
          <a:xfrm>
            <a:off x="6762470" y="2896857"/>
            <a:ext cx="307907" cy="307907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32" name="overview_south_rank7_crime_lag_2"/>
          <p:cNvSpPr/>
          <p:nvPr/>
        </p:nvSpPr>
        <p:spPr>
          <a:xfrm>
            <a:off x="6764113" y="3461379"/>
            <a:ext cx="306625" cy="306625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33" name="overview_south_rank8_private_rented_pct"/>
          <p:cNvSpPr/>
          <p:nvPr/>
        </p:nvSpPr>
        <p:spPr>
          <a:xfrm>
            <a:off x="7083466" y="4341893"/>
            <a:ext cx="301708" cy="301708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Private rente…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34" name="overview_south_rank9_social_rented_pct"/>
          <p:cNvSpPr/>
          <p:nvPr/>
        </p:nvSpPr>
        <p:spPr>
          <a:xfrm>
            <a:off x="7684415" y="4338849"/>
            <a:ext cx="295205" cy="295205"/>
          </a:xfrm>
          <a:prstGeom prst="rect">
            <a:avLst/>
          </a:prstGeom>
          <a:solidFill>
            <a:srgbClr val="D59A6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35" name="overview_south_rank10_older_adult_65_plus_pct"/>
          <p:cNvSpPr/>
          <p:nvPr/>
        </p:nvSpPr>
        <p:spPr>
          <a:xfrm>
            <a:off x="8039614" y="4074644"/>
            <a:ext cx="276507" cy="276507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483" y="420624"/>
            <a:ext cx="2865043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West</a:t>
            </a:r>
          </a:p>
        </p:txBody>
      </p:sp>
      <p:sp>
        <p:nvSpPr>
          <p:cNvPr id="37" name="overview_west_rank1_crime_rolling_mean_6"/>
          <p:cNvSpPr/>
          <p:nvPr/>
        </p:nvSpPr>
        <p:spPr>
          <a:xfrm>
            <a:off x="10104908" y="2889035"/>
            <a:ext cx="906192" cy="906192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5.15</a:t>
            </a:r>
          </a:p>
        </p:txBody>
      </p:sp>
      <p:sp>
        <p:nvSpPr>
          <p:cNvPr id="38" name="overview_west_rank2_crime_rolling_mean_3"/>
          <p:cNvSpPr/>
          <p:nvPr/>
        </p:nvSpPr>
        <p:spPr>
          <a:xfrm>
            <a:off x="11011101" y="2973059"/>
            <a:ext cx="533169" cy="533169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39" name="overview_west_rank3_unemployed_pct_age16plus"/>
          <p:cNvSpPr/>
          <p:nvPr/>
        </p:nvSpPr>
        <p:spPr>
          <a:xfrm>
            <a:off x="11011101" y="2178092"/>
            <a:ext cx="403736" cy="403736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40" name="overview_west_rank4_long_term_sick_disabled_pct"/>
          <p:cNvSpPr/>
          <p:nvPr/>
        </p:nvSpPr>
        <p:spPr>
          <a:xfrm>
            <a:off x="10610126" y="1945399"/>
            <a:ext cx="342166" cy="342166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41" name="overview_west_rank5_owner_occupied_pct"/>
          <p:cNvSpPr/>
          <p:nvPr/>
        </p:nvSpPr>
        <p:spPr>
          <a:xfrm>
            <a:off x="10125378" y="2027205"/>
            <a:ext cx="341021" cy="341021"/>
          </a:xfrm>
          <a:prstGeom prst="rect">
            <a:avLst/>
          </a:prstGeom>
          <a:solidFill>
            <a:srgbClr val="D87D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42" name="overview_west_rank6_crime_lag_1"/>
          <p:cNvSpPr/>
          <p:nvPr/>
        </p:nvSpPr>
        <p:spPr>
          <a:xfrm>
            <a:off x="9756784" y="2634103"/>
            <a:ext cx="304978" cy="304978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43" name="overview_west_rank7_crime_lag_2"/>
          <p:cNvSpPr/>
          <p:nvPr/>
        </p:nvSpPr>
        <p:spPr>
          <a:xfrm>
            <a:off x="9753942" y="3713588"/>
            <a:ext cx="304726" cy="304726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44" name="overview_west_rank8_private_rented_pct"/>
          <p:cNvSpPr/>
          <p:nvPr/>
        </p:nvSpPr>
        <p:spPr>
          <a:xfrm>
            <a:off x="10193208" y="4301861"/>
            <a:ext cx="298789" cy="298789"/>
          </a:xfrm>
          <a:prstGeom prst="rect">
            <a:avLst/>
          </a:prstGeom>
          <a:solidFill>
            <a:srgbClr val="D597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Private rente…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45" name="overview_west_rank9_social_rented_pct"/>
          <p:cNvSpPr/>
          <p:nvPr/>
        </p:nvSpPr>
        <p:spPr>
          <a:xfrm>
            <a:off x="10640661" y="4299098"/>
            <a:ext cx="293107" cy="293107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46" name="overview_west_rank10_older_adult_65_plus_pct"/>
          <p:cNvSpPr/>
          <p:nvPr/>
        </p:nvSpPr>
        <p:spPr>
          <a:xfrm>
            <a:off x="11011101" y="3994282"/>
            <a:ext cx="273726" cy="273726"/>
          </a:xfrm>
          <a:prstGeom prst="rect">
            <a:avLst/>
          </a:prstGeom>
          <a:solidFill>
            <a:srgbClr val="09549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Box size encodes |SMILE coefficient| (shared scale across directions). Each box: rank, feature name, coefficient. Editable shapes — not an image. Not causal.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1 — North addition  ·  E01012953  ·  East Riding of Yorkshire 023A  —  Feature top-10</a:t>
            </a:r>
          </a:p>
        </p:txBody>
      </p:sp>
      <p:sp>
        <p:nvSpPr>
          <p:cNvPr id="3" name="north_rank1_crime_rolling_mean_6"/>
          <p:cNvSpPr/>
          <p:nvPr/>
        </p:nvSpPr>
        <p:spPr>
          <a:xfrm>
            <a:off x="4672590" y="2016258"/>
            <a:ext cx="2816338" cy="2816338"/>
          </a:xfrm>
          <a:prstGeom prst="rect">
            <a:avLst/>
          </a:prstGeom>
          <a:solidFill>
            <a:srgbClr val="9B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5.14</a:t>
            </a:r>
          </a:p>
        </p:txBody>
      </p:sp>
      <p:sp>
        <p:nvSpPr>
          <p:cNvPr id="4" name="north_rank2_crime_rolling_mean_3"/>
          <p:cNvSpPr/>
          <p:nvPr/>
        </p:nvSpPr>
        <p:spPr>
          <a:xfrm>
            <a:off x="7488929" y="2586623"/>
            <a:ext cx="1658158" cy="1658158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5" name="north_rank3_unemployed_pct_age16plus"/>
          <p:cNvSpPr/>
          <p:nvPr/>
        </p:nvSpPr>
        <p:spPr>
          <a:xfrm>
            <a:off x="7488929" y="1897322"/>
            <a:ext cx="1255928" cy="1255928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6" name="north_rank4_long_term_sick_disabled_pct"/>
          <p:cNvSpPr/>
          <p:nvPr/>
        </p:nvSpPr>
        <p:spPr>
          <a:xfrm>
            <a:off x="6221583" y="1626575"/>
            <a:ext cx="1062545" cy="1062545"/>
          </a:xfrm>
          <a:prstGeom prst="rect">
            <a:avLst/>
          </a:prstGeom>
          <a:solidFill>
            <a:srgbClr val="D87D2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7" name="north_rank5_owner_occupied_pct"/>
          <p:cNvSpPr/>
          <p:nvPr/>
        </p:nvSpPr>
        <p:spPr>
          <a:xfrm>
            <a:off x="4601007" y="1710011"/>
            <a:ext cx="1059974" cy="1059974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8" name="north_rank6_crime_lag_1"/>
          <p:cNvSpPr/>
          <p:nvPr/>
        </p:nvSpPr>
        <p:spPr>
          <a:xfrm>
            <a:off x="3608334" y="2401237"/>
            <a:ext cx="947227" cy="947227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9" name="north_rank7_crime_lag_2"/>
          <p:cNvSpPr/>
          <p:nvPr/>
        </p:nvSpPr>
        <p:spPr>
          <a:xfrm>
            <a:off x="3531370" y="3182059"/>
            <a:ext cx="945441" cy="945441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0" name="north_rank8_private_rented_pct"/>
          <p:cNvSpPr/>
          <p:nvPr/>
        </p:nvSpPr>
        <p:spPr>
          <a:xfrm>
            <a:off x="4625661" y="4123142"/>
            <a:ext cx="931992" cy="931992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Private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11" name="north_rank9_social_rented_pct"/>
          <p:cNvSpPr/>
          <p:nvPr/>
        </p:nvSpPr>
        <p:spPr>
          <a:xfrm>
            <a:off x="5641743" y="4129941"/>
            <a:ext cx="911929" cy="911929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9.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2" name="north_rank10_older_adult_65_plus_pct"/>
          <p:cNvSpPr/>
          <p:nvPr/>
        </p:nvSpPr>
        <p:spPr>
          <a:xfrm>
            <a:off x="7488929" y="3756543"/>
            <a:ext cx="852778" cy="852778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2 — East addition  ·  E01013094  ·  East Riding of Yorkshire 029A  —  Feature top-10</a:t>
            </a:r>
          </a:p>
        </p:txBody>
      </p:sp>
      <p:sp>
        <p:nvSpPr>
          <p:cNvPr id="3" name="east_rank1_crime_rolling_mean_6"/>
          <p:cNvSpPr/>
          <p:nvPr/>
        </p:nvSpPr>
        <p:spPr>
          <a:xfrm>
            <a:off x="4632407" y="1976075"/>
            <a:ext cx="2896704" cy="2896704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5.15</a:t>
            </a:r>
          </a:p>
        </p:txBody>
      </p:sp>
      <p:sp>
        <p:nvSpPr>
          <p:cNvPr id="4" name="east_rank2_crime_rolling_mean_3"/>
          <p:cNvSpPr/>
          <p:nvPr/>
        </p:nvSpPr>
        <p:spPr>
          <a:xfrm>
            <a:off x="7529112" y="2500854"/>
            <a:ext cx="1704932" cy="1704932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1.22</a:t>
            </a:r>
          </a:p>
        </p:txBody>
      </p:sp>
      <p:sp>
        <p:nvSpPr>
          <p:cNvPr id="5" name="east_rank3_unemployed_pct_age16plus"/>
          <p:cNvSpPr/>
          <p:nvPr/>
        </p:nvSpPr>
        <p:spPr>
          <a:xfrm>
            <a:off x="7529112" y="1792302"/>
            <a:ext cx="1291117" cy="1291117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6" name="east_rank4_long_term_sick_disabled_pct"/>
          <p:cNvSpPr/>
          <p:nvPr/>
        </p:nvSpPr>
        <p:spPr>
          <a:xfrm>
            <a:off x="5956873" y="1512527"/>
            <a:ext cx="1092701" cy="1092701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7" name="east_rank5_owner_occupied_pct"/>
          <p:cNvSpPr/>
          <p:nvPr/>
        </p:nvSpPr>
        <p:spPr>
          <a:xfrm>
            <a:off x="4730188" y="1657636"/>
            <a:ext cx="1089139" cy="1089139"/>
          </a:xfrm>
          <a:prstGeom prst="rect">
            <a:avLst/>
          </a:prstGeom>
          <a:solidFill>
            <a:srgbClr val="D87E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8" name="east_rank6_crime_lag_2"/>
          <p:cNvSpPr/>
          <p:nvPr/>
        </p:nvSpPr>
        <p:spPr>
          <a:xfrm>
            <a:off x="3503545" y="2386738"/>
            <a:ext cx="974996" cy="974996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9" name="east_rank7_crime_lag_1"/>
          <p:cNvSpPr/>
          <p:nvPr/>
        </p:nvSpPr>
        <p:spPr>
          <a:xfrm>
            <a:off x="3476448" y="3089006"/>
            <a:ext cx="972277" cy="972277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0" name="east_rank8_private_rented_pct"/>
          <p:cNvSpPr/>
          <p:nvPr/>
        </p:nvSpPr>
        <p:spPr>
          <a:xfrm>
            <a:off x="4953349" y="4123348"/>
            <a:ext cx="957515" cy="957515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Private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11" name="east_rank9_social_rented_pct"/>
          <p:cNvSpPr/>
          <p:nvPr/>
        </p:nvSpPr>
        <p:spPr>
          <a:xfrm>
            <a:off x="6268376" y="4127363"/>
            <a:ext cx="936866" cy="936866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9.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2" name="east_rank10_older_adult_65_plus_pct"/>
          <p:cNvSpPr/>
          <p:nvPr/>
        </p:nvSpPr>
        <p:spPr>
          <a:xfrm>
            <a:off x="7529112" y="3918306"/>
            <a:ext cx="874775" cy="874775"/>
          </a:xfrm>
          <a:prstGeom prst="rect">
            <a:avLst/>
          </a:prstGeom>
          <a:solidFill>
            <a:srgbClr val="09549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3 — South addition  ·  E01013009  ·  East Riding of Yorkshire 034B  —  Feature top-10</a:t>
            </a:r>
          </a:p>
        </p:txBody>
      </p:sp>
      <p:sp>
        <p:nvSpPr>
          <p:cNvPr id="3" name="south_rank1_crime_rolling_mean_6"/>
          <p:cNvSpPr/>
          <p:nvPr/>
        </p:nvSpPr>
        <p:spPr>
          <a:xfrm>
            <a:off x="4638751" y="1982419"/>
            <a:ext cx="2884016" cy="2884016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5.13</a:t>
            </a:r>
          </a:p>
        </p:txBody>
      </p:sp>
      <p:sp>
        <p:nvSpPr>
          <p:cNvPr id="4" name="south_rank2_crime_rolling_mean_3"/>
          <p:cNvSpPr/>
          <p:nvPr/>
        </p:nvSpPr>
        <p:spPr>
          <a:xfrm>
            <a:off x="7522768" y="2479970"/>
            <a:ext cx="1698702" cy="1698702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5" name="south_rank3_unemployed_pct_age16plus"/>
          <p:cNvSpPr/>
          <p:nvPr/>
        </p:nvSpPr>
        <p:spPr>
          <a:xfrm>
            <a:off x="7522768" y="1774675"/>
            <a:ext cx="1285569" cy="1285569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0.48</a:t>
            </a:r>
          </a:p>
        </p:txBody>
      </p:sp>
      <p:sp>
        <p:nvSpPr>
          <p:cNvPr id="6" name="south_rank4_long_term_sick_disabled_pct"/>
          <p:cNvSpPr/>
          <p:nvPr/>
        </p:nvSpPr>
        <p:spPr>
          <a:xfrm>
            <a:off x="5474460" y="1007068"/>
            <a:ext cx="1084967" cy="1084967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7" name="south_rank5_owner_occupied_pct"/>
          <p:cNvSpPr/>
          <p:nvPr/>
        </p:nvSpPr>
        <p:spPr>
          <a:xfrm>
            <a:off x="5196080" y="1670391"/>
            <a:ext cx="1083487" cy="1083487"/>
          </a:xfrm>
          <a:prstGeom prst="rect">
            <a:avLst/>
          </a:prstGeom>
          <a:solidFill>
            <a:srgbClr val="D77E3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8" name="south_rank6_crime_lag_1"/>
          <p:cNvSpPr/>
          <p:nvPr/>
        </p:nvSpPr>
        <p:spPr>
          <a:xfrm>
            <a:off x="3487428" y="2631466"/>
            <a:ext cx="972881" cy="972881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9" name="south_rank7_crime_lag_2"/>
          <p:cNvSpPr/>
          <p:nvPr/>
        </p:nvSpPr>
        <p:spPr>
          <a:xfrm>
            <a:off x="3492622" y="3226792"/>
            <a:ext cx="968832" cy="968832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0" name="south_rank8_private_rented_pct"/>
          <p:cNvSpPr/>
          <p:nvPr/>
        </p:nvSpPr>
        <p:spPr>
          <a:xfrm>
            <a:off x="4501668" y="4158427"/>
            <a:ext cx="953296" cy="953296"/>
          </a:xfrm>
          <a:prstGeom prst="rect">
            <a:avLst/>
          </a:prstGeom>
          <a:solidFill>
            <a:srgbClr val="D59761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Private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11" name="south_rank9_social_rented_pct"/>
          <p:cNvSpPr/>
          <p:nvPr/>
        </p:nvSpPr>
        <p:spPr>
          <a:xfrm>
            <a:off x="6400461" y="4162077"/>
            <a:ext cx="932749" cy="932749"/>
          </a:xfrm>
          <a:prstGeom prst="rect">
            <a:avLst/>
          </a:prstGeom>
          <a:solidFill>
            <a:srgbClr val="D59A6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9.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2" name="south_rank10_older_adult_65_plus_pct"/>
          <p:cNvSpPr/>
          <p:nvPr/>
        </p:nvSpPr>
        <p:spPr>
          <a:xfrm>
            <a:off x="7522768" y="3903790"/>
            <a:ext cx="873670" cy="873670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4 — West addition  ·  E01013112  ·  East Riding of Yorkshire 025D  —  Feature top-10</a:t>
            </a:r>
          </a:p>
        </p:txBody>
      </p:sp>
      <p:sp>
        <p:nvSpPr>
          <p:cNvPr id="3" name="west_rank1_crime_rolling_mean_6"/>
          <p:cNvSpPr/>
          <p:nvPr/>
        </p:nvSpPr>
        <p:spPr>
          <a:xfrm>
            <a:off x="4649130" y="1992798"/>
            <a:ext cx="2863259" cy="2863259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5.15</a:t>
            </a:r>
          </a:p>
        </p:txBody>
      </p:sp>
      <p:sp>
        <p:nvSpPr>
          <p:cNvPr id="4" name="west_rank2_crime_rolling_mean_3"/>
          <p:cNvSpPr/>
          <p:nvPr/>
        </p:nvSpPr>
        <p:spPr>
          <a:xfrm>
            <a:off x="7512389" y="2474276"/>
            <a:ext cx="1684634" cy="1684634"/>
          </a:xfrm>
          <a:prstGeom prst="rect">
            <a:avLst/>
          </a:prstGeom>
          <a:solidFill>
            <a:srgbClr val="D56B7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1.21</a:t>
            </a:r>
          </a:p>
        </p:txBody>
      </p:sp>
      <p:sp>
        <p:nvSpPr>
          <p:cNvPr id="5" name="west_rank3_unemployed_pct_age16plus"/>
          <p:cNvSpPr/>
          <p:nvPr/>
        </p:nvSpPr>
        <p:spPr>
          <a:xfrm>
            <a:off x="7512389" y="1774221"/>
            <a:ext cx="1275669" cy="1275669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6" name="west_rank4_long_term_sick_disabled_pct"/>
          <p:cNvSpPr/>
          <p:nvPr/>
        </p:nvSpPr>
        <p:spPr>
          <a:xfrm>
            <a:off x="6245444" y="1594267"/>
            <a:ext cx="1081128" cy="1081128"/>
          </a:xfrm>
          <a:prstGeom prst="rect">
            <a:avLst/>
          </a:prstGeom>
          <a:solidFill>
            <a:srgbClr val="D87D2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7" name="west_rank5_owner_occupied_pct"/>
          <p:cNvSpPr/>
          <p:nvPr/>
        </p:nvSpPr>
        <p:spPr>
          <a:xfrm>
            <a:off x="4713808" y="1681548"/>
            <a:ext cx="1077510" cy="1077510"/>
          </a:xfrm>
          <a:prstGeom prst="rect">
            <a:avLst/>
          </a:prstGeom>
          <a:solidFill>
            <a:srgbClr val="D87D2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0.25</a:t>
            </a:r>
          </a:p>
        </p:txBody>
      </p:sp>
      <p:sp>
        <p:nvSpPr>
          <p:cNvPr id="8" name="west_rank6_crime_lag_1"/>
          <p:cNvSpPr/>
          <p:nvPr/>
        </p:nvSpPr>
        <p:spPr>
          <a:xfrm>
            <a:off x="3549177" y="2358089"/>
            <a:ext cx="963629" cy="963629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9" name="west_rank7_crime_lag_2"/>
          <p:cNvSpPr/>
          <p:nvPr/>
        </p:nvSpPr>
        <p:spPr>
          <a:xfrm>
            <a:off x="3540195" y="3494162"/>
            <a:ext cx="962830" cy="962830"/>
          </a:xfrm>
          <a:prstGeom prst="rect">
            <a:avLst/>
          </a:prstGeom>
          <a:solidFill>
            <a:srgbClr val="D7939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0.15</a:t>
            </a:r>
          </a:p>
        </p:txBody>
      </p:sp>
      <p:sp>
        <p:nvSpPr>
          <p:cNvPr id="10" name="west_rank8_private_rented_pct"/>
          <p:cNvSpPr/>
          <p:nvPr/>
        </p:nvSpPr>
        <p:spPr>
          <a:xfrm>
            <a:off x="4928128" y="4119383"/>
            <a:ext cx="944073" cy="944073"/>
          </a:xfrm>
          <a:prstGeom prst="rect">
            <a:avLst/>
          </a:prstGeom>
          <a:solidFill>
            <a:srgbClr val="D5976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Private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0.14</a:t>
            </a:r>
          </a:p>
        </p:txBody>
      </p:sp>
      <p:sp>
        <p:nvSpPr>
          <p:cNvPr id="11" name="west_rank9_social_rented_pct"/>
          <p:cNvSpPr/>
          <p:nvPr/>
        </p:nvSpPr>
        <p:spPr>
          <a:xfrm>
            <a:off x="6341924" y="4122464"/>
            <a:ext cx="926118" cy="926118"/>
          </a:xfrm>
          <a:prstGeom prst="rect">
            <a:avLst/>
          </a:prstGeom>
          <a:solidFill>
            <a:srgbClr val="D59A6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9.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2" name="west_rank10_older_adult_65_plus_pct"/>
          <p:cNvSpPr/>
          <p:nvPr/>
        </p:nvSpPr>
        <p:spPr>
          <a:xfrm>
            <a:off x="7512389" y="3822166"/>
            <a:ext cx="864883" cy="864883"/>
          </a:xfrm>
          <a:prstGeom prst="rect">
            <a:avLst/>
          </a:prstGeom>
          <a:solidFill>
            <a:srgbClr val="09549E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10. Older adult %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0.08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category colour legend (one hue per category; darker = stronger |coef|)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Crime / temporal</a:t>
            </a:r>
          </a:p>
        </p:txBody>
      </p:sp>
      <p:sp>
        <p:nvSpPr>
          <p:cNvPr id="4" name="legend_Crime / temporal_0"/>
          <p:cNvSpPr/>
          <p:nvPr/>
        </p:nvSpPr>
        <p:spPr>
          <a:xfrm>
            <a:off x="4572000" y="777240"/>
            <a:ext cx="502920" cy="502920"/>
          </a:xfrm>
          <a:prstGeom prst="rect">
            <a:avLst/>
          </a:prstGeom>
          <a:solidFill>
            <a:srgbClr val="D8979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_Crime / temporal_1"/>
          <p:cNvSpPr/>
          <p:nvPr/>
        </p:nvSpPr>
        <p:spPr>
          <a:xfrm>
            <a:off x="5212080" y="777240"/>
            <a:ext cx="502920" cy="502920"/>
          </a:xfrm>
          <a:prstGeom prst="rect">
            <a:avLst/>
          </a:prstGeom>
          <a:solidFill>
            <a:srgbClr val="D5687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gend_Crime / temporal_2"/>
          <p:cNvSpPr/>
          <p:nvPr/>
        </p:nvSpPr>
        <p:spPr>
          <a:xfrm>
            <a:off x="5852160" y="777240"/>
            <a:ext cx="502920" cy="502920"/>
          </a:xfrm>
          <a:prstGeom prst="rect">
            <a:avLst/>
          </a:prstGeom>
          <a:solidFill>
            <a:srgbClr val="D732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_Crime / temporal_3"/>
          <p:cNvSpPr/>
          <p:nvPr/>
        </p:nvSpPr>
        <p:spPr>
          <a:xfrm>
            <a:off x="6492240" y="777240"/>
            <a:ext cx="502920" cy="502920"/>
          </a:xfrm>
          <a:prstGeom prst="rect">
            <a:avLst/>
          </a:prstGeom>
          <a:solidFill>
            <a:srgbClr val="BF172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_Crime / temporal_4"/>
          <p:cNvSpPr/>
          <p:nvPr/>
        </p:nvSpPr>
        <p:spPr>
          <a:xfrm>
            <a:off x="7132320" y="777240"/>
            <a:ext cx="502920" cy="502920"/>
          </a:xfrm>
          <a:prstGeom prst="rect">
            <a:avLst/>
          </a:prstGeom>
          <a:solidFill>
            <a:srgbClr val="9B08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Economic / labour &amp; tenure</a:t>
            </a:r>
          </a:p>
        </p:txBody>
      </p:sp>
      <p:sp>
        <p:nvSpPr>
          <p:cNvPr id="10" name="legend_Economic / labour &amp; tenure_0"/>
          <p:cNvSpPr/>
          <p:nvPr/>
        </p:nvSpPr>
        <p:spPr>
          <a:xfrm>
            <a:off x="4572000" y="1463040"/>
            <a:ext cx="502920" cy="502920"/>
          </a:xfrm>
          <a:prstGeom prst="rect">
            <a:avLst/>
          </a:prstGeom>
          <a:solidFill>
            <a:srgbClr val="D8B59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gend_Economic / labour &amp; tenure_1"/>
          <p:cNvSpPr/>
          <p:nvPr/>
        </p:nvSpPr>
        <p:spPr>
          <a:xfrm>
            <a:off x="5212080" y="1463040"/>
            <a:ext cx="502920" cy="502920"/>
          </a:xfrm>
          <a:prstGeom prst="rect">
            <a:avLst/>
          </a:prstGeom>
          <a:solidFill>
            <a:srgbClr val="D59A6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gend_Economic / labour &amp; tenure_2"/>
          <p:cNvSpPr/>
          <p:nvPr/>
        </p:nvSpPr>
        <p:spPr>
          <a:xfrm>
            <a:off x="5852160" y="1463040"/>
            <a:ext cx="502920" cy="502920"/>
          </a:xfrm>
          <a:prstGeom prst="rect">
            <a:avLst/>
          </a:prstGeom>
          <a:solidFill>
            <a:srgbClr val="D77F3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gend_Economic / labour &amp; tenure_3"/>
          <p:cNvSpPr/>
          <p:nvPr/>
        </p:nvSpPr>
        <p:spPr>
          <a:xfrm>
            <a:off x="6492240" y="1463040"/>
            <a:ext cx="502920" cy="502920"/>
          </a:xfrm>
          <a:prstGeom prst="rect">
            <a:avLst/>
          </a:prstGeom>
          <a:solidFill>
            <a:srgbClr val="BF651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gend_Economic / labour &amp; tenure_4"/>
          <p:cNvSpPr/>
          <p:nvPr/>
        </p:nvSpPr>
        <p:spPr>
          <a:xfrm>
            <a:off x="7132320" y="1463040"/>
            <a:ext cx="502920" cy="502920"/>
          </a:xfrm>
          <a:prstGeom prst="rect">
            <a:avLst/>
          </a:prstGeom>
          <a:solidFill>
            <a:srgbClr val="9B4D0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Social / demographic</a:t>
            </a:r>
          </a:p>
        </p:txBody>
      </p:sp>
      <p:sp>
        <p:nvSpPr>
          <p:cNvPr id="16" name="legend_Social / demographic_0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solidFill>
            <a:srgbClr val="97B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gend_Social / demographic_1"/>
          <p:cNvSpPr/>
          <p:nvPr/>
        </p:nvSpPr>
        <p:spPr>
          <a:xfrm>
            <a:off x="5212080" y="2148840"/>
            <a:ext cx="502920" cy="502920"/>
          </a:xfrm>
          <a:prstGeom prst="rect">
            <a:avLst/>
          </a:prstGeom>
          <a:solidFill>
            <a:srgbClr val="689E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gend_Social / demographic_2"/>
          <p:cNvSpPr/>
          <p:nvPr/>
        </p:nvSpPr>
        <p:spPr>
          <a:xfrm>
            <a:off x="5852160" y="2148840"/>
            <a:ext cx="502920" cy="502920"/>
          </a:xfrm>
          <a:prstGeom prst="rect">
            <a:avLst/>
          </a:prstGeom>
          <a:solidFill>
            <a:srgbClr val="3285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gend_Social / demographic_3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solidFill>
            <a:srgbClr val="176B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gend_Social / demographic_4"/>
          <p:cNvSpPr/>
          <p:nvPr/>
        </p:nvSpPr>
        <p:spPr>
          <a:xfrm>
            <a:off x="7132320" y="2148840"/>
            <a:ext cx="502920" cy="502920"/>
          </a:xfrm>
          <a:prstGeom prst="rect">
            <a:avLst/>
          </a:prstGeom>
          <a:solidFill>
            <a:srgbClr val="0852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Built environment / activity</a:t>
            </a:r>
          </a:p>
        </p:txBody>
      </p:sp>
      <p:sp>
        <p:nvSpPr>
          <p:cNvPr id="22" name="legend_Built environment / activity_0"/>
          <p:cNvSpPr/>
          <p:nvPr/>
        </p:nvSpPr>
        <p:spPr>
          <a:xfrm>
            <a:off x="4572000" y="2834640"/>
            <a:ext cx="502920" cy="502920"/>
          </a:xfrm>
          <a:prstGeom prst="rect">
            <a:avLst/>
          </a:prstGeom>
          <a:solidFill>
            <a:srgbClr val="97D8C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egend_Built environment / activity_1"/>
          <p:cNvSpPr/>
          <p:nvPr/>
        </p:nvSpPr>
        <p:spPr>
          <a:xfrm>
            <a:off x="5212080" y="2834640"/>
            <a:ext cx="502920" cy="502920"/>
          </a:xfrm>
          <a:prstGeom prst="rect">
            <a:avLst/>
          </a:prstGeom>
          <a:solidFill>
            <a:srgbClr val="68D5B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gend_Built environment / activity_2"/>
          <p:cNvSpPr/>
          <p:nvPr/>
        </p:nvSpPr>
        <p:spPr>
          <a:xfrm>
            <a:off x="5852160" y="2834640"/>
            <a:ext cx="502920" cy="502920"/>
          </a:xfrm>
          <a:prstGeom prst="rect">
            <a:avLst/>
          </a:prstGeom>
          <a:solidFill>
            <a:srgbClr val="32D7A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gend_Built environment / activity_3"/>
          <p:cNvSpPr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solidFill>
            <a:srgbClr val="17BF8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Built environment / activity_4"/>
          <p:cNvSpPr/>
          <p:nvPr/>
        </p:nvSpPr>
        <p:spPr>
          <a:xfrm>
            <a:off x="7132320" y="2834640"/>
            <a:ext cx="502920" cy="502920"/>
          </a:xfrm>
          <a:prstGeom prst="rect">
            <a:avLst/>
          </a:prstGeom>
          <a:solidFill>
            <a:srgbClr val="089B6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Transport / accessibility</a:t>
            </a:r>
          </a:p>
        </p:txBody>
      </p:sp>
      <p:sp>
        <p:nvSpPr>
          <p:cNvPr id="28" name="legend_Transport / accessibility_0"/>
          <p:cNvSpPr/>
          <p:nvPr/>
        </p:nvSpPr>
        <p:spPr>
          <a:xfrm>
            <a:off x="4572000" y="3520440"/>
            <a:ext cx="502920" cy="502920"/>
          </a:xfrm>
          <a:prstGeom prst="rect">
            <a:avLst/>
          </a:prstGeom>
          <a:solidFill>
            <a:srgbClr val="BD97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ransport / accessibility_1"/>
          <p:cNvSpPr/>
          <p:nvPr/>
        </p:nvSpPr>
        <p:spPr>
          <a:xfrm>
            <a:off x="5212080" y="3520440"/>
            <a:ext cx="502920" cy="502920"/>
          </a:xfrm>
          <a:prstGeom prst="rect">
            <a:avLst/>
          </a:prstGeom>
          <a:solidFill>
            <a:srgbClr val="A768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gend_Transport / accessibility_2"/>
          <p:cNvSpPr/>
          <p:nvPr/>
        </p:nvSpPr>
        <p:spPr>
          <a:xfrm>
            <a:off x="5852160" y="3520440"/>
            <a:ext cx="502920" cy="502920"/>
          </a:xfrm>
          <a:prstGeom prst="rect">
            <a:avLst/>
          </a:prstGeom>
          <a:solidFill>
            <a:srgbClr val="9232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ransport / accessibility_3"/>
          <p:cNvSpPr/>
          <p:nvPr/>
        </p:nvSpPr>
        <p:spPr>
          <a:xfrm>
            <a:off x="6492240" y="3520440"/>
            <a:ext cx="502920" cy="502920"/>
          </a:xfrm>
          <a:prstGeom prst="rect">
            <a:avLst/>
          </a:prstGeom>
          <a:solidFill>
            <a:srgbClr val="7917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gend_Transport / accessibility_4"/>
          <p:cNvSpPr/>
          <p:nvPr/>
        </p:nvSpPr>
        <p:spPr>
          <a:xfrm>
            <a:off x="7132320" y="3520440"/>
            <a:ext cx="502920" cy="502920"/>
          </a:xfrm>
          <a:prstGeom prst="rect">
            <a:avLst/>
          </a:prstGeom>
          <a:solidFill>
            <a:srgbClr val="5E08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34" name="legend_Environmental_0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solidFill>
            <a:srgbClr val="97D8A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gend_Environmental_1"/>
          <p:cNvSpPr/>
          <p:nvPr/>
        </p:nvSpPr>
        <p:spPr>
          <a:xfrm>
            <a:off x="5212080" y="4206240"/>
            <a:ext cx="502920" cy="502920"/>
          </a:xfrm>
          <a:prstGeom prst="rect">
            <a:avLst/>
          </a:prstGeom>
          <a:solidFill>
            <a:srgbClr val="68D57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gend_Environmental_2"/>
          <p:cNvSpPr/>
          <p:nvPr/>
        </p:nvSpPr>
        <p:spPr>
          <a:xfrm>
            <a:off x="5852160" y="4206240"/>
            <a:ext cx="502920" cy="502920"/>
          </a:xfrm>
          <a:prstGeom prst="rect">
            <a:avLst/>
          </a:prstGeom>
          <a:solidFill>
            <a:srgbClr val="32D74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gend_Environmental_3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solidFill>
            <a:srgbClr val="17BF3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gend_Environmental_4"/>
          <p:cNvSpPr/>
          <p:nvPr/>
        </p:nvSpPr>
        <p:spPr>
          <a:xfrm>
            <a:off x="7132320" y="4206240"/>
            <a:ext cx="502920" cy="502920"/>
          </a:xfrm>
          <a:prstGeom prst="rect">
            <a:avLst/>
          </a:prstGeom>
          <a:solidFill>
            <a:srgbClr val="089B2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Structural/control</a:t>
            </a:r>
          </a:p>
        </p:txBody>
      </p:sp>
      <p:sp>
        <p:nvSpPr>
          <p:cNvPr id="40" name="legend_Structural/control_0"/>
          <p:cNvSpPr/>
          <p:nvPr/>
        </p:nvSpPr>
        <p:spPr>
          <a:xfrm>
            <a:off x="4572000" y="4892040"/>
            <a:ext cx="502920" cy="502920"/>
          </a:xfrm>
          <a:prstGeom prst="rect">
            <a:avLst/>
          </a:prstGeom>
          <a:solidFill>
            <a:srgbClr val="BBB4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gend_Structural/control_1"/>
          <p:cNvSpPr/>
          <p:nvPr/>
        </p:nvSpPr>
        <p:spPr>
          <a:xfrm>
            <a:off x="5212080" y="4892040"/>
            <a:ext cx="502920" cy="502920"/>
          </a:xfrm>
          <a:prstGeom prst="rect">
            <a:avLst/>
          </a:prstGeom>
          <a:solidFill>
            <a:srgbClr val="A49B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egend_Structural/control_2"/>
          <p:cNvSpPr/>
          <p:nvPr/>
        </p:nvSpPr>
        <p:spPr>
          <a:xfrm>
            <a:off x="5852160" y="4892040"/>
            <a:ext cx="502920" cy="502920"/>
          </a:xfrm>
          <a:prstGeom prst="rect">
            <a:avLst/>
          </a:prstGeom>
          <a:solidFill>
            <a:srgbClr val="8D818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gend_Structural/control_3"/>
          <p:cNvSpPr/>
          <p:nvPr/>
        </p:nvSpPr>
        <p:spPr>
          <a:xfrm>
            <a:off x="6492240" y="4892040"/>
            <a:ext cx="502920" cy="502920"/>
          </a:xfrm>
          <a:prstGeom prst="rect">
            <a:avLst/>
          </a:prstGeom>
          <a:solidFill>
            <a:srgbClr val="74696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gend_Structural/control_4"/>
          <p:cNvSpPr/>
          <p:nvPr/>
        </p:nvSpPr>
        <p:spPr>
          <a:xfrm>
            <a:off x="7132320" y="4892040"/>
            <a:ext cx="502920" cy="502920"/>
          </a:xfrm>
          <a:prstGeom prst="rect">
            <a:avLst/>
          </a:prstGeom>
          <a:solidFill>
            <a:srgbClr val="5B525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8C0"/>
                </a:solidFill>
                <a:latin typeface="Calibri"/>
              </a:rPr>
              <a:t>Shade scale within each row: light (weaker |coef|) → dark (stronger |coef|).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